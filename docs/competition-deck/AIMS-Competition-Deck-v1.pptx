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AIMS — AImazing Intelligent Management System. AI-powered payment and finance control. This is not a concept deck: AIMS is a working, end-to-end product that has gone through engineering acceptance and a real recorded workflow. Everything in this deck reflects the actual implemented system. Tagline: From Request, to Control, to Financial Intelligence.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payment request looks simple, but the financial reality behind it isn't. Every request carries budget pressure, historical spending, existing commitments, financial risk, compliance considerations, approval authority, payment readiness, and the need for an audit trail. Today most of that stays invisible until something goes wrong — a duplicate payment, an over-committed budget, an approval that skipped a step. AIMS exists to make that hidden complexity visible and controlled at every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Traditionally, a payment request scatters across emails, chats, and spreadsheets, gets checked manually, approved in a fragmented way, and ends with limited visibility into what actually happened. AIMS turns this into one controlled journey: the same request flows through AI understanding, financial truth, AI analysis, a human decision, finance control, a payment record, and finally intelligence. Notice the pattern — AI steps and system/human steps alternate deliberately. AI never stands alone at a decision 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AIMS keeps the full 12-stage payment request lifecycle intact — nothing skipped, nothing shortcut. We group it into five phases for clarity: Request (stages 1–3) captures and validates the ask. Understand &amp; Analyze (4–5) builds financial context and runs risk analysis. Decide (6–7) applies policy and gets human approval. Control &amp; Record (8–10) is where Final Finance Control, payment processing, and the payment record happen. Visibility &amp; Intelligence (11–12) is the Finance Dashboard and AI Finance Intelligence. Authentication and user administration are platform capabilities — deliberately outside this lifecycle.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core idea of AIMS. AI interprets — it reads documents, flags financial risk signals, spots spending patterns, checks compliance indicators, and explains its reasoning in plain language. But AI never calculates the authoritative financial position. That's the system's job, deterministically: active budget, actual ledger, active commitments, available position, and the ledger impact of a payment. The equation is fixed and code-level, verified directly in AIMS's finance-context calculation: Available equals Active Budget minus Actual Ledger minus Active Commitments. AI is never the source of truth for a balance.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Financial Risk Analysis runs as multiple focused AI agents — Financial Risk, Spending Pattern, and Compliance — each looking at the request from a different angle. Their outputs are combined by an Aggregator into one evidence-backed assessment. Critically, that assessment is not the decision. It feeds a Human Final Assessment, where a person makes the actual call. Multiple perspectives, one evidence-backed summary, and human authority stays final. Worth noting honestly: in our own rehearsal environment, some of these AI sub-agents hit provider timeouts under a smaller reasoning model — the design point is that the human review step never depended on them succeeding.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governance backbone. A request moves from Requester through Policy to an Approver — but approval is not the end. Final Finance Control is a separate, deterministic gate performed by Finance after approval, checking approval completeness, evidence, amount and payee integrity, budget reservation, and duplicate-payment protection. Only after that does an external payment happen, which AIMS then records. Two statements we want judges to remember: Approved does not equal Ready for Payment, and AI never approves payments — full stop. Segregation of duties is enforced by role: Requester, Approver, Finance, Finance Master, and Technical Admin are distinct, and a Technical Admin's system access is explicitly not financial authority.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genuine request from our own environment, not a mockup: PAY-2026-000041, BrightWave Media Sdn. Bhd., Operations department, Digital Marketing Campaign, MYR 18,500 total across three claims — Campaign Media Placement, Creative Production, and Campaign Analytics Service. We pulled this directly from the live system: it was submitted, AI-validated, financially analyzed, approved by a human, controlled by Finance, had its payment recorded, and shows PAID today. This is the same lifecycle from slide 4, walked end to end on a real case.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real, live figures on our Finance Dashboard immediately after PAY-2026-000041 was paid — not illustrative numbers. Active Budget MYR 121,000, Actual Spending MYR 76,000, Active Commitments MYR 109,000, which nets to an Available position of negative MYR 64,000. Paid This Period is MYR 56,000 across 4 processed requests. Every one of these is system-calculated, not AI-generated. The point of this slide is the negative Available figure: AIMS shows it in red, on the live dashboard, rather than hiding budget pressure. That is what real financial visibility looks like.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asked Ask AIMS, in our live environment, 'What is the total financial impact of payments made this period?' It answered: 'Total financial impact (sum of provided paid amounts) for the selected period is MYR 56000.00.' That is the exact figure the deterministic Finance Dashboard already showed as Paid This Period. This is the point of evidence-bounded AI: Ask AIMS only reasons over authorized evidence it's given — it doesn't run arbitrary queries, and in other real runs in our environment it has explicitly refused to answer when the evidence didn't support a claim, rather than guessing. Financial truth first, AI explanation second.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AIMS's strength isn't maximum automation — it's intelligent control. Five things it delivers: Control, financial truth established before any payment; Efficiency, one workflow instead of fragmented manual checking; Intelligence, AI turning evidence into decision support rather than decisions themselves; Governance, humans and Finance keeping authority end to end; and Visibility, every payment updating the real financial picture. These map naturally to our company principles — Integrity in financial truth and governance, Efficiency in one unified workflow, Continuous Learning in AI-driven financial intelligence, Teamwork across Requester, Approver, and Finance, and Customer First in faster, clearer payment handling. From Request, to Control, to Financial Intelligence. That's AIMS.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technical judges: the frontend is Next.js/React, the API is NestJS with strict DTO validation, and the database is PostgreSQL with append-only history and lifecycle triggers. The background worker is PostgreSQL-backed, not Redis/BullMQ — that was an early plan the team deliberately revised during implementation, a documented and reasoned trade-off. AI runs through an OpenAI-compatible provider with Zod-schema-validated structured outputs. Document storage today is a local adapter for development and demo; production-grade object storage is a stated prerequisite, not simulated. Notifications flow through web domain commands with an optional Telegram adapter that never owns approval logic.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 in AIMS is fully optional. There's a master switch plus independent per-capability flags for Document Validation, Financial Risk, Spending Pattern, Compliance, Finance Watch, and Ask AIMS. Three operating modes exist: AI-Assisted, Manual, and AI-Unavailable Fallback — the deterministic Finance Dashboard always remains available regardless of AI state. Every AI result is schema-validated, human assessment is always preserved alongside it, and each result is source-tagged AI, MANUAL, or RULE_BASED. We're transparent that in our own rehearsal environment, several AI sub-agents hit provider-side timeouts — the product is built to fail safely, not to hide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quick rundown of the enterprise controls that make AIMS auditable: a database-backed Role/Permission Matrix across every major module; a configurable Approval Matrix with delegation support; Final Finance Control as a separate deterministic gate after Approval; an append-only, immutable audit trail with lifecycle triggers; payment idempotency that blocks silent duplicate execution; and database-enforced trust boundaries, meaning authorization is never taken on faith from the frontend alone.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0231B"/>
        </a:solidFill>
      </p:bgPr>
    </p:bg>
    <p:spTree>
      <p:nvGrpSpPr>
        <p:cNvPr id="1" name=""/>
        <p:cNvGrpSpPr/>
        <p:nvPr/>
      </p:nvGrpSpPr>
      <p:grpSpPr>
        <a:xfrm>
          <a:off x="0" y="0"/>
          <a:ext cx="0" cy="0"/>
          <a:chOff x="0" y="0"/>
          <a:chExt cx="0" cy="0"/>
        </a:xfrm>
      </p:grpSpPr>
      <p:sp>
        <p:nvSpPr>
          <p:cNvPr id="2" name="Shape 0"/>
          <p:cNvSpPr/>
          <p:nvPr/>
        </p:nvSpPr>
        <p:spPr>
          <a:xfrm>
            <a:off x="502920" y="640080"/>
            <a:ext cx="566928" cy="566928"/>
          </a:xfrm>
          <a:prstGeom prst="roundRect">
            <a:avLst>
              <a:gd name="adj" fmla="val 22581"/>
            </a:avLst>
          </a:prstGeom>
          <a:solidFill>
            <a:srgbClr val="6D51A8"/>
          </a:solidFill>
          <a:ln/>
        </p:spPr>
      </p:sp>
      <p:sp>
        <p:nvSpPr>
          <p:cNvPr id="3" name="Text 1"/>
          <p:cNvSpPr txBox="1"/>
          <p:nvPr/>
        </p:nvSpPr>
        <p:spPr>
          <a:xfrm>
            <a:off x="502920" y="640080"/>
            <a:ext cx="566928" cy="56692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A</a:t>
            </a:r>
            <a:endParaRPr lang="en-US" sz="2400" dirty="0"/>
          </a:p>
        </p:txBody>
      </p:sp>
      <p:sp>
        <p:nvSpPr>
          <p:cNvPr id="4" name="Text 2"/>
          <p:cNvSpPr txBox="1"/>
          <p:nvPr/>
        </p:nvSpPr>
        <p:spPr>
          <a:xfrm>
            <a:off x="1280160" y="566928"/>
            <a:ext cx="5486400" cy="54864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AIMS</a:t>
            </a:r>
            <a:endParaRPr lang="en-US" sz="2600" dirty="0"/>
          </a:p>
        </p:txBody>
      </p:sp>
      <p:sp>
        <p:nvSpPr>
          <p:cNvPr id="5" name="Text 3"/>
          <p:cNvSpPr txBox="1"/>
          <p:nvPr/>
        </p:nvSpPr>
        <p:spPr>
          <a:xfrm>
            <a:off x="1280160" y="987552"/>
            <a:ext cx="5486400" cy="274320"/>
          </a:xfrm>
          <a:prstGeom prst="rect">
            <a:avLst/>
          </a:prstGeom>
          <a:noFill/>
          <a:ln/>
        </p:spPr>
        <p:txBody>
          <a:bodyPr wrap="square" lIns="0" tIns="0" rIns="0" bIns="0" rtlCol="0" anchor="ctr"/>
          <a:lstStyle/>
          <a:p>
            <a:pPr indent="0" marL="0">
              <a:buNone/>
            </a:pPr>
            <a:r>
              <a:rPr lang="en-US" sz="1050" spc="250" kern="0" dirty="0">
                <a:solidFill>
                  <a:srgbClr val="9FB3A6"/>
                </a:solidFill>
                <a:latin typeface="Calibri" pitchFamily="34" charset="0"/>
                <a:ea typeface="Calibri" pitchFamily="34" charset="-122"/>
                <a:cs typeface="Calibri" pitchFamily="34" charset="-120"/>
              </a:rPr>
              <a:t>FINANCE CONTROL</a:t>
            </a:r>
            <a:endParaRPr lang="en-US" sz="1050" dirty="0"/>
          </a:p>
        </p:txBody>
      </p:sp>
      <p:sp>
        <p:nvSpPr>
          <p:cNvPr id="6" name="Text 4"/>
          <p:cNvSpPr txBox="1"/>
          <p:nvPr/>
        </p:nvSpPr>
        <p:spPr>
          <a:xfrm>
            <a:off x="502920" y="2331720"/>
            <a:ext cx="9875520" cy="1554480"/>
          </a:xfrm>
          <a:prstGeom prst="rect">
            <a:avLst/>
          </a:prstGeom>
          <a:noFill/>
          <a:ln/>
        </p:spPr>
        <p:txBody>
          <a:bodyPr wrap="square" lIns="0" tIns="0" rIns="0" bIns="0" rtlCol="0" anchor="ctr"/>
          <a:lstStyle/>
          <a:p>
            <a:pPr indent="0" marL="0">
              <a:lnSpc>
                <a:spcPct val="104000"/>
              </a:lnSpc>
              <a:buNone/>
            </a:pPr>
            <a:r>
              <a:rPr lang="en-US" sz="4600" b="1" dirty="0">
                <a:solidFill>
                  <a:srgbClr val="FFFFFF"/>
                </a:solidFill>
                <a:latin typeface="Cambria" pitchFamily="34" charset="0"/>
                <a:ea typeface="Cambria" pitchFamily="34" charset="-122"/>
                <a:cs typeface="Cambria" pitchFamily="34" charset="-120"/>
              </a:rPr>
              <a:t>AImazing Intelligent</a:t>
            </a:r>
            <a:endParaRPr lang="en-US" sz="4600" dirty="0"/>
          </a:p>
          <a:p>
            <a:pPr indent="0" marL="0">
              <a:lnSpc>
                <a:spcPct val="104000"/>
              </a:lnSpc>
              <a:buNone/>
            </a:pPr>
            <a:r>
              <a:rPr lang="en-US" sz="4600" b="1" dirty="0">
                <a:solidFill>
                  <a:srgbClr val="FFFFFF"/>
                </a:solidFill>
                <a:latin typeface="Cambria" pitchFamily="34" charset="0"/>
                <a:ea typeface="Cambria" pitchFamily="34" charset="-122"/>
                <a:cs typeface="Cambria" pitchFamily="34" charset="-120"/>
              </a:rPr>
              <a:t>Management System</a:t>
            </a:r>
            <a:endParaRPr lang="en-US" sz="4600" dirty="0"/>
          </a:p>
        </p:txBody>
      </p:sp>
      <p:sp>
        <p:nvSpPr>
          <p:cNvPr id="7" name="Text 5"/>
          <p:cNvSpPr txBox="1"/>
          <p:nvPr/>
        </p:nvSpPr>
        <p:spPr>
          <a:xfrm>
            <a:off x="502920" y="3886200"/>
            <a:ext cx="9875520" cy="502920"/>
          </a:xfrm>
          <a:prstGeom prst="rect">
            <a:avLst/>
          </a:prstGeom>
          <a:noFill/>
          <a:ln/>
        </p:spPr>
        <p:txBody>
          <a:bodyPr wrap="square" lIns="0" tIns="0" rIns="0" bIns="0" rtlCol="0" anchor="ctr"/>
          <a:lstStyle/>
          <a:p>
            <a:pPr indent="0" marL="0">
              <a:buNone/>
            </a:pPr>
            <a:r>
              <a:rPr lang="en-US" sz="2000" dirty="0">
                <a:solidFill>
                  <a:srgbClr val="CFE0D5"/>
                </a:solidFill>
                <a:latin typeface="Calibri" pitchFamily="34" charset="0"/>
                <a:ea typeface="Calibri" pitchFamily="34" charset="-122"/>
                <a:cs typeface="Calibri" pitchFamily="34" charset="-120"/>
              </a:rPr>
              <a:t>AI-Powered Payment &amp; Finance Control</a:t>
            </a:r>
            <a:endParaRPr lang="en-US" sz="2000" dirty="0"/>
          </a:p>
        </p:txBody>
      </p:sp>
      <p:sp>
        <p:nvSpPr>
          <p:cNvPr id="8" name="Text 6"/>
          <p:cNvSpPr txBox="1"/>
          <p:nvPr/>
        </p:nvSpPr>
        <p:spPr>
          <a:xfrm>
            <a:off x="502920" y="4846320"/>
            <a:ext cx="9875520" cy="457200"/>
          </a:xfrm>
          <a:prstGeom prst="rect">
            <a:avLst/>
          </a:prstGeom>
          <a:noFill/>
          <a:ln/>
        </p:spPr>
        <p:txBody>
          <a:bodyPr wrap="square" lIns="0" tIns="0" rIns="0" bIns="0" rtlCol="0" anchor="ctr"/>
          <a:lstStyle/>
          <a:p>
            <a:pPr indent="0" marL="0">
              <a:buNone/>
            </a:pPr>
            <a:r>
              <a:rPr lang="en-US" sz="1600" i="1" dirty="0">
                <a:solidFill>
                  <a:srgbClr val="E7E9E4"/>
                </a:solidFill>
                <a:latin typeface="Cambria" pitchFamily="34" charset="0"/>
                <a:ea typeface="Cambria" pitchFamily="34" charset="-122"/>
                <a:cs typeface="Cambria" pitchFamily="34" charset="-120"/>
              </a:rPr>
              <a:t>From Request. To Control. To Financial Intelligence.</a:t>
            </a:r>
            <a:endParaRPr lang="en-US" sz="1600" dirty="0"/>
          </a:p>
        </p:txBody>
      </p:sp>
      <p:sp>
        <p:nvSpPr>
          <p:cNvPr id="9" name="Text 7"/>
          <p:cNvSpPr txBox="1"/>
          <p:nvPr/>
        </p:nvSpPr>
        <p:spPr>
          <a:xfrm>
            <a:off x="502920" y="6263640"/>
            <a:ext cx="7315200" cy="320040"/>
          </a:xfrm>
          <a:prstGeom prst="rect">
            <a:avLst/>
          </a:prstGeom>
          <a:noFill/>
          <a:ln/>
        </p:spPr>
        <p:txBody>
          <a:bodyPr wrap="square" lIns="0" tIns="0" rIns="0" bIns="0" rtlCol="0" anchor="ctr"/>
          <a:lstStyle/>
          <a:p>
            <a:pPr indent="0" marL="0">
              <a:buNone/>
            </a:pPr>
            <a:r>
              <a:rPr lang="en-US" sz="1100" dirty="0">
                <a:solidFill>
                  <a:srgbClr val="77897E"/>
                </a:solidFill>
                <a:latin typeface="Calibri" pitchFamily="34" charset="0"/>
                <a:ea typeface="Calibri" pitchFamily="34" charset="-122"/>
                <a:cs typeface="Calibri" pitchFamily="34" charset="-120"/>
              </a:rPr>
              <a:t>Company AI Competition · Final Presentation</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6F3"/>
        </a:solidFill>
      </p:bgPr>
    </p:bg>
    <p:spTree>
      <p:nvGrpSpPr>
        <p:cNvPr id="1" name=""/>
        <p:cNvGrpSpPr/>
        <p:nvPr/>
      </p:nvGrpSpPr>
      <p:grpSpPr>
        <a:xfrm>
          <a:off x="0" y="0"/>
          <a:ext cx="0" cy="0"/>
          <a:chOff x="0" y="0"/>
          <a:chExt cx="0" cy="0"/>
        </a:xfrm>
      </p:grpSpPr>
      <p:sp>
        <p:nvSpPr>
          <p:cNvPr id="2" name="Text 0"/>
          <p:cNvSpPr txBox="1"/>
          <p:nvPr/>
        </p:nvSpPr>
        <p:spPr>
          <a:xfrm>
            <a:off x="502920" y="384048"/>
            <a:ext cx="11185855" cy="274320"/>
          </a:xfrm>
          <a:prstGeom prst="rect">
            <a:avLst/>
          </a:prstGeom>
          <a:noFill/>
          <a:ln/>
        </p:spPr>
        <p:txBody>
          <a:bodyPr wrap="square" lIns="0" tIns="0" rIns="0" bIns="0" rtlCol="0" anchor="ctr"/>
          <a:lstStyle/>
          <a:p>
            <a:pPr indent="0" marL="0">
              <a:buNone/>
            </a:pPr>
            <a:r>
              <a:rPr lang="en-US" sz="1100" b="1" spc="200" kern="0" dirty="0">
                <a:solidFill>
                  <a:srgbClr val="5F6F67"/>
                </a:solidFill>
                <a:latin typeface="Calibri" pitchFamily="34" charset="0"/>
                <a:ea typeface="Calibri" pitchFamily="34" charset="-122"/>
                <a:cs typeface="Calibri" pitchFamily="34" charset="-120"/>
              </a:rPr>
              <a:t>01 · THE PROBLEM</a:t>
            </a:r>
            <a:endParaRPr lang="en-US" sz="1100" dirty="0"/>
          </a:p>
        </p:txBody>
      </p:sp>
      <p:sp>
        <p:nvSpPr>
          <p:cNvPr id="3" name="Text 1"/>
          <p:cNvSpPr txBox="1"/>
          <p:nvPr/>
        </p:nvSpPr>
        <p:spPr>
          <a:xfrm>
            <a:off x="502920" y="658368"/>
            <a:ext cx="11185855" cy="1188720"/>
          </a:xfrm>
          <a:prstGeom prst="rect">
            <a:avLst/>
          </a:prstGeom>
          <a:noFill/>
          <a:ln/>
        </p:spPr>
        <p:txBody>
          <a:bodyPr wrap="square" lIns="0" tIns="0" rIns="0" bIns="0" rtlCol="0" anchor="ctr"/>
          <a:lstStyle/>
          <a:p>
            <a:pPr algn="l" indent="0" marL="0">
              <a:lnSpc>
                <a:spcPct val="102000"/>
              </a:lnSpc>
              <a:buNone/>
            </a:pPr>
            <a:r>
              <a:rPr lang="en-US" sz="3000" b="1" dirty="0">
                <a:solidFill>
                  <a:srgbClr val="16221D"/>
                </a:solidFill>
                <a:latin typeface="Cambria" pitchFamily="34" charset="0"/>
                <a:ea typeface="Cambria" pitchFamily="34" charset="-122"/>
                <a:cs typeface="Cambria" pitchFamily="34" charset="-120"/>
              </a:rPr>
              <a:t>A payment request looks simple.</a:t>
            </a:r>
            <a:endParaRPr lang="en-US" sz="3000" dirty="0"/>
          </a:p>
          <a:p>
            <a:pPr algn="l" indent="0" marL="0">
              <a:lnSpc>
                <a:spcPct val="102000"/>
              </a:lnSpc>
              <a:buNone/>
            </a:pPr>
            <a:r>
              <a:rPr lang="en-US" sz="3000" b="1" dirty="0">
                <a:solidFill>
                  <a:srgbClr val="16221D"/>
                </a:solidFill>
                <a:latin typeface="Cambria" pitchFamily="34" charset="0"/>
                <a:ea typeface="Cambria" pitchFamily="34" charset="-122"/>
                <a:cs typeface="Cambria" pitchFamily="34" charset="-120"/>
              </a:rPr>
              <a:t>The financial reality isn’t.</a:t>
            </a:r>
            <a:endParaRPr lang="en-US" sz="3000" dirty="0"/>
          </a:p>
        </p:txBody>
      </p:sp>
      <p:sp>
        <p:nvSpPr>
          <p:cNvPr id="4" name="Shape 2"/>
          <p:cNvSpPr/>
          <p:nvPr/>
        </p:nvSpPr>
        <p:spPr>
          <a:xfrm>
            <a:off x="874624" y="2331720"/>
            <a:ext cx="2487168" cy="868680"/>
          </a:xfrm>
          <a:prstGeom prst="roundRect">
            <a:avLst>
              <a:gd name="adj" fmla="val 9474"/>
            </a:avLst>
          </a:prstGeom>
          <a:solidFill>
            <a:srgbClr val="FFFFFF"/>
          </a:solidFill>
          <a:ln w="9525">
            <a:solidFill>
              <a:srgbClr val="DDE3DE"/>
            </a:solidFill>
            <a:prstDash val="solid"/>
          </a:ln>
        </p:spPr>
      </p:sp>
      <p:sp>
        <p:nvSpPr>
          <p:cNvPr id="5" name="Shape 3"/>
          <p:cNvSpPr/>
          <p:nvPr/>
        </p:nvSpPr>
        <p:spPr>
          <a:xfrm>
            <a:off x="1075792" y="2702052"/>
            <a:ext cx="128016" cy="128016"/>
          </a:xfrm>
          <a:prstGeom prst="ellipse">
            <a:avLst/>
          </a:prstGeom>
          <a:solidFill>
            <a:srgbClr val="173F2E"/>
          </a:solidFill>
          <a:ln/>
        </p:spPr>
      </p:sp>
      <p:sp>
        <p:nvSpPr>
          <p:cNvPr id="6" name="Text 4"/>
          <p:cNvSpPr txBox="1"/>
          <p:nvPr/>
        </p:nvSpPr>
        <p:spPr>
          <a:xfrm>
            <a:off x="1313536" y="2331720"/>
            <a:ext cx="1892808" cy="868680"/>
          </a:xfrm>
          <a:prstGeom prst="rect">
            <a:avLst/>
          </a:prstGeom>
          <a:noFill/>
          <a:ln/>
        </p:spPr>
        <p:txBody>
          <a:bodyPr wrap="square" lIns="0" tIns="0" rIns="0" bIns="0" rtlCol="0" anchor="ctr"/>
          <a:lstStyle/>
          <a:p>
            <a:pPr indent="0" marL="0">
              <a:buNone/>
            </a:pPr>
            <a:r>
              <a:rPr lang="en-US" sz="1300" b="1" dirty="0">
                <a:solidFill>
                  <a:srgbClr val="16221D"/>
                </a:solidFill>
                <a:latin typeface="Calibri" pitchFamily="34" charset="0"/>
                <a:ea typeface="Calibri" pitchFamily="34" charset="-122"/>
                <a:cs typeface="Calibri" pitchFamily="34" charset="-120"/>
              </a:rPr>
              <a:t>Budget</a:t>
            </a:r>
            <a:endParaRPr lang="en-US" sz="1300" dirty="0"/>
          </a:p>
        </p:txBody>
      </p:sp>
      <p:sp>
        <p:nvSpPr>
          <p:cNvPr id="7" name="Shape 5"/>
          <p:cNvSpPr/>
          <p:nvPr/>
        </p:nvSpPr>
        <p:spPr>
          <a:xfrm>
            <a:off x="3526384" y="2331720"/>
            <a:ext cx="2487168" cy="868680"/>
          </a:xfrm>
          <a:prstGeom prst="roundRect">
            <a:avLst>
              <a:gd name="adj" fmla="val 9474"/>
            </a:avLst>
          </a:prstGeom>
          <a:solidFill>
            <a:srgbClr val="FFFFFF"/>
          </a:solidFill>
          <a:ln w="9525">
            <a:solidFill>
              <a:srgbClr val="DDE3DE"/>
            </a:solidFill>
            <a:prstDash val="solid"/>
          </a:ln>
        </p:spPr>
      </p:sp>
      <p:sp>
        <p:nvSpPr>
          <p:cNvPr id="8" name="Shape 6"/>
          <p:cNvSpPr/>
          <p:nvPr/>
        </p:nvSpPr>
        <p:spPr>
          <a:xfrm>
            <a:off x="3727552" y="2702052"/>
            <a:ext cx="128016" cy="128016"/>
          </a:xfrm>
          <a:prstGeom prst="ellipse">
            <a:avLst/>
          </a:prstGeom>
          <a:solidFill>
            <a:srgbClr val="173F2E"/>
          </a:solidFill>
          <a:ln/>
        </p:spPr>
      </p:sp>
      <p:sp>
        <p:nvSpPr>
          <p:cNvPr id="9" name="Text 7"/>
          <p:cNvSpPr txBox="1"/>
          <p:nvPr/>
        </p:nvSpPr>
        <p:spPr>
          <a:xfrm>
            <a:off x="3965296" y="2331720"/>
            <a:ext cx="1892808" cy="868680"/>
          </a:xfrm>
          <a:prstGeom prst="rect">
            <a:avLst/>
          </a:prstGeom>
          <a:noFill/>
          <a:ln/>
        </p:spPr>
        <p:txBody>
          <a:bodyPr wrap="square" lIns="0" tIns="0" rIns="0" bIns="0" rtlCol="0" anchor="ctr"/>
          <a:lstStyle/>
          <a:p>
            <a:pPr indent="0" marL="0">
              <a:buNone/>
            </a:pPr>
            <a:r>
              <a:rPr lang="en-US" sz="1300" b="1" dirty="0">
                <a:solidFill>
                  <a:srgbClr val="16221D"/>
                </a:solidFill>
                <a:latin typeface="Calibri" pitchFamily="34" charset="0"/>
                <a:ea typeface="Calibri" pitchFamily="34" charset="-122"/>
                <a:cs typeface="Calibri" pitchFamily="34" charset="-120"/>
              </a:rPr>
              <a:t>Actual spending</a:t>
            </a:r>
            <a:endParaRPr lang="en-US" sz="1300" dirty="0"/>
          </a:p>
        </p:txBody>
      </p:sp>
      <p:sp>
        <p:nvSpPr>
          <p:cNvPr id="10" name="Shape 8"/>
          <p:cNvSpPr/>
          <p:nvPr/>
        </p:nvSpPr>
        <p:spPr>
          <a:xfrm>
            <a:off x="6178144" y="2331720"/>
            <a:ext cx="2487168" cy="868680"/>
          </a:xfrm>
          <a:prstGeom prst="roundRect">
            <a:avLst>
              <a:gd name="adj" fmla="val 9474"/>
            </a:avLst>
          </a:prstGeom>
          <a:solidFill>
            <a:srgbClr val="FFFFFF"/>
          </a:solidFill>
          <a:ln w="9525">
            <a:solidFill>
              <a:srgbClr val="DDE3DE"/>
            </a:solidFill>
            <a:prstDash val="solid"/>
          </a:ln>
        </p:spPr>
      </p:sp>
      <p:sp>
        <p:nvSpPr>
          <p:cNvPr id="11" name="Shape 9"/>
          <p:cNvSpPr/>
          <p:nvPr/>
        </p:nvSpPr>
        <p:spPr>
          <a:xfrm>
            <a:off x="6379312" y="2702052"/>
            <a:ext cx="128016" cy="128016"/>
          </a:xfrm>
          <a:prstGeom prst="ellipse">
            <a:avLst/>
          </a:prstGeom>
          <a:solidFill>
            <a:srgbClr val="173F2E"/>
          </a:solidFill>
          <a:ln/>
        </p:spPr>
      </p:sp>
      <p:sp>
        <p:nvSpPr>
          <p:cNvPr id="12" name="Text 10"/>
          <p:cNvSpPr txBox="1"/>
          <p:nvPr/>
        </p:nvSpPr>
        <p:spPr>
          <a:xfrm>
            <a:off x="6617056" y="2331720"/>
            <a:ext cx="1892808" cy="868680"/>
          </a:xfrm>
          <a:prstGeom prst="rect">
            <a:avLst/>
          </a:prstGeom>
          <a:noFill/>
          <a:ln/>
        </p:spPr>
        <p:txBody>
          <a:bodyPr wrap="square" lIns="0" tIns="0" rIns="0" bIns="0" rtlCol="0" anchor="ctr"/>
          <a:lstStyle/>
          <a:p>
            <a:pPr indent="0" marL="0">
              <a:buNone/>
            </a:pPr>
            <a:r>
              <a:rPr lang="en-US" sz="1300" b="1" dirty="0">
                <a:solidFill>
                  <a:srgbClr val="16221D"/>
                </a:solidFill>
                <a:latin typeface="Calibri" pitchFamily="34" charset="0"/>
                <a:ea typeface="Calibri" pitchFamily="34" charset="-122"/>
                <a:cs typeface="Calibri" pitchFamily="34" charset="-120"/>
              </a:rPr>
              <a:t>Commitments</a:t>
            </a:r>
            <a:endParaRPr lang="en-US" sz="1300" dirty="0"/>
          </a:p>
        </p:txBody>
      </p:sp>
      <p:sp>
        <p:nvSpPr>
          <p:cNvPr id="13" name="Shape 11"/>
          <p:cNvSpPr/>
          <p:nvPr/>
        </p:nvSpPr>
        <p:spPr>
          <a:xfrm>
            <a:off x="8829904" y="2331720"/>
            <a:ext cx="2487168" cy="868680"/>
          </a:xfrm>
          <a:prstGeom prst="roundRect">
            <a:avLst>
              <a:gd name="adj" fmla="val 9474"/>
            </a:avLst>
          </a:prstGeom>
          <a:solidFill>
            <a:srgbClr val="FFFFFF"/>
          </a:solidFill>
          <a:ln w="9525">
            <a:solidFill>
              <a:srgbClr val="DDE3DE"/>
            </a:solidFill>
            <a:prstDash val="solid"/>
          </a:ln>
        </p:spPr>
      </p:sp>
      <p:sp>
        <p:nvSpPr>
          <p:cNvPr id="14" name="Shape 12"/>
          <p:cNvSpPr/>
          <p:nvPr/>
        </p:nvSpPr>
        <p:spPr>
          <a:xfrm>
            <a:off x="9031072" y="2702052"/>
            <a:ext cx="128016" cy="128016"/>
          </a:xfrm>
          <a:prstGeom prst="ellipse">
            <a:avLst/>
          </a:prstGeom>
          <a:solidFill>
            <a:srgbClr val="AD4038"/>
          </a:solidFill>
          <a:ln/>
        </p:spPr>
      </p:sp>
      <p:sp>
        <p:nvSpPr>
          <p:cNvPr id="15" name="Text 13"/>
          <p:cNvSpPr txBox="1"/>
          <p:nvPr/>
        </p:nvSpPr>
        <p:spPr>
          <a:xfrm>
            <a:off x="9268816" y="2331720"/>
            <a:ext cx="1892808" cy="868680"/>
          </a:xfrm>
          <a:prstGeom prst="rect">
            <a:avLst/>
          </a:prstGeom>
          <a:noFill/>
          <a:ln/>
        </p:spPr>
        <p:txBody>
          <a:bodyPr wrap="square" lIns="0" tIns="0" rIns="0" bIns="0" rtlCol="0" anchor="ctr"/>
          <a:lstStyle/>
          <a:p>
            <a:pPr indent="0" marL="0">
              <a:buNone/>
            </a:pPr>
            <a:r>
              <a:rPr lang="en-US" sz="1300" b="1" dirty="0">
                <a:solidFill>
                  <a:srgbClr val="16221D"/>
                </a:solidFill>
                <a:latin typeface="Calibri" pitchFamily="34" charset="0"/>
                <a:ea typeface="Calibri" pitchFamily="34" charset="-122"/>
                <a:cs typeface="Calibri" pitchFamily="34" charset="-120"/>
              </a:rPr>
              <a:t>Financial risk</a:t>
            </a:r>
            <a:endParaRPr lang="en-US" sz="1300" dirty="0"/>
          </a:p>
        </p:txBody>
      </p:sp>
      <p:sp>
        <p:nvSpPr>
          <p:cNvPr id="16" name="Shape 14"/>
          <p:cNvSpPr/>
          <p:nvPr/>
        </p:nvSpPr>
        <p:spPr>
          <a:xfrm>
            <a:off x="874624" y="3401568"/>
            <a:ext cx="2487168" cy="868680"/>
          </a:xfrm>
          <a:prstGeom prst="roundRect">
            <a:avLst>
              <a:gd name="adj" fmla="val 9474"/>
            </a:avLst>
          </a:prstGeom>
          <a:solidFill>
            <a:srgbClr val="FFFFFF"/>
          </a:solidFill>
          <a:ln w="9525">
            <a:solidFill>
              <a:srgbClr val="DDE3DE"/>
            </a:solidFill>
            <a:prstDash val="solid"/>
          </a:ln>
        </p:spPr>
      </p:sp>
      <p:sp>
        <p:nvSpPr>
          <p:cNvPr id="17" name="Shape 15"/>
          <p:cNvSpPr/>
          <p:nvPr/>
        </p:nvSpPr>
        <p:spPr>
          <a:xfrm>
            <a:off x="1075792" y="3771900"/>
            <a:ext cx="128016" cy="128016"/>
          </a:xfrm>
          <a:prstGeom prst="ellipse">
            <a:avLst/>
          </a:prstGeom>
          <a:solidFill>
            <a:srgbClr val="9A6415"/>
          </a:solidFill>
          <a:ln/>
        </p:spPr>
      </p:sp>
      <p:sp>
        <p:nvSpPr>
          <p:cNvPr id="18" name="Text 16"/>
          <p:cNvSpPr txBox="1"/>
          <p:nvPr/>
        </p:nvSpPr>
        <p:spPr>
          <a:xfrm>
            <a:off x="1313536" y="3401568"/>
            <a:ext cx="1892808" cy="868680"/>
          </a:xfrm>
          <a:prstGeom prst="rect">
            <a:avLst/>
          </a:prstGeom>
          <a:noFill/>
          <a:ln/>
        </p:spPr>
        <p:txBody>
          <a:bodyPr wrap="square" lIns="0" tIns="0" rIns="0" bIns="0" rtlCol="0" anchor="ctr"/>
          <a:lstStyle/>
          <a:p>
            <a:pPr indent="0" marL="0">
              <a:buNone/>
            </a:pPr>
            <a:r>
              <a:rPr lang="en-US" sz="1300" b="1" dirty="0">
                <a:solidFill>
                  <a:srgbClr val="16221D"/>
                </a:solidFill>
                <a:latin typeface="Calibri" pitchFamily="34" charset="0"/>
                <a:ea typeface="Calibri" pitchFamily="34" charset="-122"/>
                <a:cs typeface="Calibri" pitchFamily="34" charset="-120"/>
              </a:rPr>
              <a:t>Compliance</a:t>
            </a:r>
            <a:endParaRPr lang="en-US" sz="1300" dirty="0"/>
          </a:p>
        </p:txBody>
      </p:sp>
      <p:sp>
        <p:nvSpPr>
          <p:cNvPr id="19" name="Shape 17"/>
          <p:cNvSpPr/>
          <p:nvPr/>
        </p:nvSpPr>
        <p:spPr>
          <a:xfrm>
            <a:off x="3526384" y="3401568"/>
            <a:ext cx="2487168" cy="868680"/>
          </a:xfrm>
          <a:prstGeom prst="roundRect">
            <a:avLst>
              <a:gd name="adj" fmla="val 9474"/>
            </a:avLst>
          </a:prstGeom>
          <a:solidFill>
            <a:srgbClr val="FFFFFF"/>
          </a:solidFill>
          <a:ln w="9525">
            <a:solidFill>
              <a:srgbClr val="DDE3DE"/>
            </a:solidFill>
            <a:prstDash val="solid"/>
          </a:ln>
        </p:spPr>
      </p:sp>
      <p:sp>
        <p:nvSpPr>
          <p:cNvPr id="20" name="Shape 18"/>
          <p:cNvSpPr/>
          <p:nvPr/>
        </p:nvSpPr>
        <p:spPr>
          <a:xfrm>
            <a:off x="3727552" y="3771900"/>
            <a:ext cx="128016" cy="128016"/>
          </a:xfrm>
          <a:prstGeom prst="ellipse">
            <a:avLst/>
          </a:prstGeom>
          <a:solidFill>
            <a:srgbClr val="2F6F9F"/>
          </a:solidFill>
          <a:ln/>
        </p:spPr>
      </p:sp>
      <p:sp>
        <p:nvSpPr>
          <p:cNvPr id="21" name="Text 19"/>
          <p:cNvSpPr txBox="1"/>
          <p:nvPr/>
        </p:nvSpPr>
        <p:spPr>
          <a:xfrm>
            <a:off x="3965296" y="3401568"/>
            <a:ext cx="1892808" cy="868680"/>
          </a:xfrm>
          <a:prstGeom prst="rect">
            <a:avLst/>
          </a:prstGeom>
          <a:noFill/>
          <a:ln/>
        </p:spPr>
        <p:txBody>
          <a:bodyPr wrap="square" lIns="0" tIns="0" rIns="0" bIns="0" rtlCol="0" anchor="ctr"/>
          <a:lstStyle/>
          <a:p>
            <a:pPr indent="0" marL="0">
              <a:buNone/>
            </a:pPr>
            <a:r>
              <a:rPr lang="en-US" sz="1300" b="1" dirty="0">
                <a:solidFill>
                  <a:srgbClr val="16221D"/>
                </a:solidFill>
                <a:latin typeface="Calibri" pitchFamily="34" charset="0"/>
                <a:ea typeface="Calibri" pitchFamily="34" charset="-122"/>
                <a:cs typeface="Calibri" pitchFamily="34" charset="-120"/>
              </a:rPr>
              <a:t>Approval authority</a:t>
            </a:r>
            <a:endParaRPr lang="en-US" sz="1300" dirty="0"/>
          </a:p>
        </p:txBody>
      </p:sp>
      <p:sp>
        <p:nvSpPr>
          <p:cNvPr id="22" name="Shape 20"/>
          <p:cNvSpPr/>
          <p:nvPr/>
        </p:nvSpPr>
        <p:spPr>
          <a:xfrm>
            <a:off x="6178144" y="3401568"/>
            <a:ext cx="2487168" cy="868680"/>
          </a:xfrm>
          <a:prstGeom prst="roundRect">
            <a:avLst>
              <a:gd name="adj" fmla="val 9474"/>
            </a:avLst>
          </a:prstGeom>
          <a:solidFill>
            <a:srgbClr val="FFFFFF"/>
          </a:solidFill>
          <a:ln w="9525">
            <a:solidFill>
              <a:srgbClr val="DDE3DE"/>
            </a:solidFill>
            <a:prstDash val="solid"/>
          </a:ln>
        </p:spPr>
      </p:sp>
      <p:sp>
        <p:nvSpPr>
          <p:cNvPr id="23" name="Shape 21"/>
          <p:cNvSpPr/>
          <p:nvPr/>
        </p:nvSpPr>
        <p:spPr>
          <a:xfrm>
            <a:off x="6379312" y="3771900"/>
            <a:ext cx="128016" cy="128016"/>
          </a:xfrm>
          <a:prstGeom prst="ellipse">
            <a:avLst/>
          </a:prstGeom>
          <a:solidFill>
            <a:srgbClr val="24784C"/>
          </a:solidFill>
          <a:ln/>
        </p:spPr>
      </p:sp>
      <p:sp>
        <p:nvSpPr>
          <p:cNvPr id="24" name="Text 22"/>
          <p:cNvSpPr txBox="1"/>
          <p:nvPr/>
        </p:nvSpPr>
        <p:spPr>
          <a:xfrm>
            <a:off x="6617056" y="3401568"/>
            <a:ext cx="1892808" cy="868680"/>
          </a:xfrm>
          <a:prstGeom prst="rect">
            <a:avLst/>
          </a:prstGeom>
          <a:noFill/>
          <a:ln/>
        </p:spPr>
        <p:txBody>
          <a:bodyPr wrap="square" lIns="0" tIns="0" rIns="0" bIns="0" rtlCol="0" anchor="ctr"/>
          <a:lstStyle/>
          <a:p>
            <a:pPr indent="0" marL="0">
              <a:buNone/>
            </a:pPr>
            <a:r>
              <a:rPr lang="en-US" sz="1300" b="1" dirty="0">
                <a:solidFill>
                  <a:srgbClr val="16221D"/>
                </a:solidFill>
                <a:latin typeface="Calibri" pitchFamily="34" charset="0"/>
                <a:ea typeface="Calibri" pitchFamily="34" charset="-122"/>
                <a:cs typeface="Calibri" pitchFamily="34" charset="-120"/>
              </a:rPr>
              <a:t>Payment readiness</a:t>
            </a:r>
            <a:endParaRPr lang="en-US" sz="1300" dirty="0"/>
          </a:p>
        </p:txBody>
      </p:sp>
      <p:sp>
        <p:nvSpPr>
          <p:cNvPr id="25" name="Shape 23"/>
          <p:cNvSpPr/>
          <p:nvPr/>
        </p:nvSpPr>
        <p:spPr>
          <a:xfrm>
            <a:off x="8829904" y="3401568"/>
            <a:ext cx="2487168" cy="868680"/>
          </a:xfrm>
          <a:prstGeom prst="roundRect">
            <a:avLst>
              <a:gd name="adj" fmla="val 9474"/>
            </a:avLst>
          </a:prstGeom>
          <a:solidFill>
            <a:srgbClr val="FFFFFF"/>
          </a:solidFill>
          <a:ln w="9525">
            <a:solidFill>
              <a:srgbClr val="DDE3DE"/>
            </a:solidFill>
            <a:prstDash val="solid"/>
          </a:ln>
        </p:spPr>
      </p:sp>
      <p:sp>
        <p:nvSpPr>
          <p:cNvPr id="26" name="Shape 24"/>
          <p:cNvSpPr/>
          <p:nvPr/>
        </p:nvSpPr>
        <p:spPr>
          <a:xfrm>
            <a:off x="9031072" y="3771900"/>
            <a:ext cx="128016" cy="128016"/>
          </a:xfrm>
          <a:prstGeom prst="ellipse">
            <a:avLst/>
          </a:prstGeom>
          <a:solidFill>
            <a:srgbClr val="5F6F67"/>
          </a:solidFill>
          <a:ln/>
        </p:spPr>
      </p:sp>
      <p:sp>
        <p:nvSpPr>
          <p:cNvPr id="27" name="Text 25"/>
          <p:cNvSpPr txBox="1"/>
          <p:nvPr/>
        </p:nvSpPr>
        <p:spPr>
          <a:xfrm>
            <a:off x="9268816" y="3401568"/>
            <a:ext cx="1892808" cy="868680"/>
          </a:xfrm>
          <a:prstGeom prst="rect">
            <a:avLst/>
          </a:prstGeom>
          <a:noFill/>
          <a:ln/>
        </p:spPr>
        <p:txBody>
          <a:bodyPr wrap="square" lIns="0" tIns="0" rIns="0" bIns="0" rtlCol="0" anchor="ctr"/>
          <a:lstStyle/>
          <a:p>
            <a:pPr indent="0" marL="0">
              <a:buNone/>
            </a:pPr>
            <a:r>
              <a:rPr lang="en-US" sz="1300" b="1" dirty="0">
                <a:solidFill>
                  <a:srgbClr val="16221D"/>
                </a:solidFill>
                <a:latin typeface="Calibri" pitchFamily="34" charset="0"/>
                <a:ea typeface="Calibri" pitchFamily="34" charset="-122"/>
                <a:cs typeface="Calibri" pitchFamily="34" charset="-120"/>
              </a:rPr>
              <a:t>Audit trail</a:t>
            </a:r>
            <a:endParaRPr lang="en-US" sz="1300" dirty="0"/>
          </a:p>
        </p:txBody>
      </p:sp>
      <p:sp>
        <p:nvSpPr>
          <p:cNvPr id="28" name="Text 26"/>
          <p:cNvSpPr txBox="1"/>
          <p:nvPr/>
        </p:nvSpPr>
        <p:spPr>
          <a:xfrm>
            <a:off x="502920" y="4608576"/>
            <a:ext cx="11185855" cy="502920"/>
          </a:xfrm>
          <a:prstGeom prst="rect">
            <a:avLst/>
          </a:prstGeom>
          <a:noFill/>
          <a:ln/>
        </p:spPr>
        <p:txBody>
          <a:bodyPr wrap="square" lIns="0" tIns="0" rIns="0" bIns="0" rtlCol="0" anchor="ctr"/>
          <a:lstStyle/>
          <a:p>
            <a:pPr indent="0" marL="0">
              <a:buNone/>
            </a:pPr>
            <a:r>
              <a:rPr lang="en-US" sz="1300" dirty="0">
                <a:solidFill>
                  <a:srgbClr val="5F6F67"/>
                </a:solidFill>
                <a:latin typeface="Calibri" pitchFamily="34" charset="0"/>
                <a:ea typeface="Calibri" pitchFamily="34" charset="-122"/>
                <a:cs typeface="Calibri" pitchFamily="34" charset="-120"/>
              </a:rPr>
              <a:t>Behind one request: budget pressure, historical spending, existing commitments, risk, compliance, approval authority, payment readiness, and the need for an audit trail.</a:t>
            </a:r>
            <a:endParaRPr lang="en-US" sz="1300" dirty="0"/>
          </a:p>
        </p:txBody>
      </p:sp>
      <p:sp>
        <p:nvSpPr>
          <p:cNvPr id="29" name="Text 27"/>
          <p:cNvSpPr txBox="1"/>
          <p:nvPr/>
        </p:nvSpPr>
        <p:spPr>
          <a:xfrm>
            <a:off x="502920" y="6537960"/>
            <a:ext cx="7315200" cy="256032"/>
          </a:xfrm>
          <a:prstGeom prst="rect">
            <a:avLst/>
          </a:prstGeom>
          <a:noFill/>
          <a:ln/>
        </p:spPr>
        <p:txBody>
          <a:bodyPr wrap="square" lIns="0" tIns="0" rIns="0" bIns="0" rtlCol="0" anchor="ctr"/>
          <a:lstStyle/>
          <a:p>
            <a:pPr indent="0" marL="0">
              <a:buNone/>
            </a:pPr>
            <a:r>
              <a:rPr lang="en-US" sz="900" dirty="0">
                <a:solidFill>
                  <a:srgbClr val="5F6F67"/>
                </a:solidFill>
                <a:latin typeface="Calibri" pitchFamily="34" charset="0"/>
                <a:ea typeface="Calibri" pitchFamily="34" charset="-122"/>
                <a:cs typeface="Calibri" pitchFamily="34" charset="-120"/>
              </a:rPr>
              <a:t>AIMS · AI-Powered Payment &amp; Finance Control</a:t>
            </a:r>
            <a:endParaRPr lang="en-US" sz="900" dirty="0"/>
          </a:p>
        </p:txBody>
      </p:sp>
      <p:sp>
        <p:nvSpPr>
          <p:cNvPr id="30" name="Text 28"/>
          <p:cNvSpPr txBox="1"/>
          <p:nvPr/>
        </p:nvSpPr>
        <p:spPr>
          <a:xfrm>
            <a:off x="11140135" y="6537960"/>
            <a:ext cx="548640" cy="256032"/>
          </a:xfrm>
          <a:prstGeom prst="rect">
            <a:avLst/>
          </a:prstGeom>
          <a:noFill/>
          <a:ln/>
        </p:spPr>
        <p:txBody>
          <a:bodyPr wrap="square" lIns="0" tIns="0" rIns="0" bIns="0" rtlCol="0" anchor="ctr"/>
          <a:lstStyle/>
          <a:p>
            <a:pPr algn="r" indent="0" marL="0">
              <a:buNone/>
            </a:pPr>
            <a:r>
              <a:rPr lang="en-US" sz="900" dirty="0">
                <a:solidFill>
                  <a:srgbClr val="5F6F67"/>
                </a:solidFill>
                <a:latin typeface="Calibri" pitchFamily="34" charset="0"/>
                <a:ea typeface="Calibri" pitchFamily="34" charset="-122"/>
                <a:cs typeface="Calibri" pitchFamily="34" charset="-120"/>
              </a:rPr>
              <a:t>02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6F3"/>
        </a:solidFill>
      </p:bgPr>
    </p:bg>
    <p:spTree>
      <p:nvGrpSpPr>
        <p:cNvPr id="1" name=""/>
        <p:cNvGrpSpPr/>
        <p:nvPr/>
      </p:nvGrpSpPr>
      <p:grpSpPr>
        <a:xfrm>
          <a:off x="0" y="0"/>
          <a:ext cx="0" cy="0"/>
          <a:chOff x="0" y="0"/>
          <a:chExt cx="0" cy="0"/>
        </a:xfrm>
      </p:grpSpPr>
      <p:sp>
        <p:nvSpPr>
          <p:cNvPr id="2" name="Text 0"/>
          <p:cNvSpPr txBox="1"/>
          <p:nvPr/>
        </p:nvSpPr>
        <p:spPr>
          <a:xfrm>
            <a:off x="502920" y="384048"/>
            <a:ext cx="11185855" cy="274320"/>
          </a:xfrm>
          <a:prstGeom prst="rect">
            <a:avLst/>
          </a:prstGeom>
          <a:noFill/>
          <a:ln/>
        </p:spPr>
        <p:txBody>
          <a:bodyPr wrap="square" lIns="0" tIns="0" rIns="0" bIns="0" rtlCol="0" anchor="ctr"/>
          <a:lstStyle/>
          <a:p>
            <a:pPr indent="0" marL="0">
              <a:buNone/>
            </a:pPr>
            <a:r>
              <a:rPr lang="en-US" sz="1100" b="1" spc="200" kern="0" dirty="0">
                <a:solidFill>
                  <a:srgbClr val="5F6F67"/>
                </a:solidFill>
                <a:latin typeface="Calibri" pitchFamily="34" charset="0"/>
                <a:ea typeface="Calibri" pitchFamily="34" charset="-122"/>
                <a:cs typeface="Calibri" pitchFamily="34" charset="-120"/>
              </a:rPr>
              <a:t>02 · THE AIMS IDEA</a:t>
            </a:r>
            <a:endParaRPr lang="en-US" sz="1100" dirty="0"/>
          </a:p>
        </p:txBody>
      </p:sp>
      <p:sp>
        <p:nvSpPr>
          <p:cNvPr id="3" name="Text 1"/>
          <p:cNvSpPr txBox="1"/>
          <p:nvPr/>
        </p:nvSpPr>
        <p:spPr>
          <a:xfrm>
            <a:off x="502920" y="658368"/>
            <a:ext cx="11185855" cy="822960"/>
          </a:xfrm>
          <a:prstGeom prst="rect">
            <a:avLst/>
          </a:prstGeom>
          <a:noFill/>
          <a:ln/>
        </p:spPr>
        <p:txBody>
          <a:bodyPr wrap="square" lIns="0" tIns="0" rIns="0" bIns="0" rtlCol="0" anchor="ctr"/>
          <a:lstStyle/>
          <a:p>
            <a:pPr algn="l" indent="0" marL="0">
              <a:lnSpc>
                <a:spcPct val="102000"/>
              </a:lnSpc>
              <a:buNone/>
            </a:pPr>
            <a:r>
              <a:rPr lang="en-US" sz="2800" b="1" dirty="0">
                <a:solidFill>
                  <a:srgbClr val="16221D"/>
                </a:solidFill>
                <a:latin typeface="Cambria" pitchFamily="34" charset="0"/>
                <a:ea typeface="Cambria" pitchFamily="34" charset="-122"/>
                <a:cs typeface="Cambria" pitchFamily="34" charset="-120"/>
              </a:rPr>
              <a:t>One controlled financial decision journey.</a:t>
            </a:r>
            <a:endParaRPr lang="en-US" sz="2800" dirty="0"/>
          </a:p>
        </p:txBody>
      </p:sp>
      <p:sp>
        <p:nvSpPr>
          <p:cNvPr id="4" name="Shape 2"/>
          <p:cNvSpPr/>
          <p:nvPr/>
        </p:nvSpPr>
        <p:spPr>
          <a:xfrm>
            <a:off x="502920" y="1874520"/>
            <a:ext cx="5364328" cy="4434840"/>
          </a:xfrm>
          <a:prstGeom prst="roundRect">
            <a:avLst>
              <a:gd name="adj" fmla="val 1856"/>
            </a:avLst>
          </a:prstGeom>
          <a:solidFill>
            <a:srgbClr val="FFFFFF"/>
          </a:solidFill>
          <a:ln w="9525">
            <a:solidFill>
              <a:srgbClr val="DDE3DE"/>
            </a:solidFill>
            <a:prstDash val="solid"/>
          </a:ln>
        </p:spPr>
      </p:sp>
      <p:sp>
        <p:nvSpPr>
          <p:cNvPr id="5" name="Text 3"/>
          <p:cNvSpPr txBox="1"/>
          <p:nvPr/>
        </p:nvSpPr>
        <p:spPr>
          <a:xfrm>
            <a:off x="777240" y="2112264"/>
            <a:ext cx="4815688" cy="274320"/>
          </a:xfrm>
          <a:prstGeom prst="rect">
            <a:avLst/>
          </a:prstGeom>
          <a:noFill/>
          <a:ln/>
        </p:spPr>
        <p:txBody>
          <a:bodyPr wrap="square" lIns="0" tIns="0" rIns="0" bIns="0" rtlCol="0" anchor="ctr"/>
          <a:lstStyle/>
          <a:p>
            <a:pPr indent="0" marL="0">
              <a:buNone/>
            </a:pPr>
            <a:r>
              <a:rPr lang="en-US" sz="1200" b="1" spc="150" kern="0" dirty="0">
                <a:solidFill>
                  <a:srgbClr val="5F6F67"/>
                </a:solidFill>
                <a:latin typeface="Calibri" pitchFamily="34" charset="0"/>
                <a:ea typeface="Calibri" pitchFamily="34" charset="-122"/>
                <a:cs typeface="Calibri" pitchFamily="34" charset="-120"/>
              </a:rPr>
              <a:t>TRADITIONAL</a:t>
            </a:r>
            <a:endParaRPr lang="en-US" sz="1200" dirty="0"/>
          </a:p>
        </p:txBody>
      </p:sp>
      <p:sp>
        <p:nvSpPr>
          <p:cNvPr id="6" name="Shape 4"/>
          <p:cNvSpPr/>
          <p:nvPr/>
        </p:nvSpPr>
        <p:spPr>
          <a:xfrm>
            <a:off x="777240" y="2606040"/>
            <a:ext cx="4815688" cy="502920"/>
          </a:xfrm>
          <a:prstGeom prst="roundRect">
            <a:avLst>
              <a:gd name="adj" fmla="val 16364"/>
            </a:avLst>
          </a:prstGeom>
          <a:solidFill>
            <a:srgbClr val="F1F1EF"/>
          </a:solidFill>
          <a:ln w="9525">
            <a:solidFill>
              <a:srgbClr val="E4E4E1"/>
            </a:solidFill>
            <a:prstDash val="solid"/>
          </a:ln>
        </p:spPr>
      </p:sp>
      <p:sp>
        <p:nvSpPr>
          <p:cNvPr id="7" name="Text 5"/>
          <p:cNvSpPr txBox="1"/>
          <p:nvPr/>
        </p:nvSpPr>
        <p:spPr>
          <a:xfrm>
            <a:off x="886968" y="2606040"/>
            <a:ext cx="4596232" cy="502920"/>
          </a:xfrm>
          <a:prstGeom prst="rect">
            <a:avLst/>
          </a:prstGeom>
          <a:noFill/>
          <a:ln/>
        </p:spPr>
        <p:txBody>
          <a:bodyPr wrap="square" lIns="0" tIns="0" rIns="0" bIns="0" rtlCol="0" anchor="ctr"/>
          <a:lstStyle/>
          <a:p>
            <a:pPr algn="ctr" indent="0" marL="0">
              <a:buNone/>
            </a:pPr>
            <a:r>
              <a:rPr lang="en-US" sz="1100" dirty="0">
                <a:solidFill>
                  <a:srgbClr val="5F6F67"/>
                </a:solidFill>
                <a:latin typeface="Calibri" pitchFamily="34" charset="0"/>
                <a:ea typeface="Calibri" pitchFamily="34" charset="-122"/>
                <a:cs typeface="Calibri" pitchFamily="34" charset="-120"/>
              </a:rPr>
              <a:t>Request</a:t>
            </a:r>
            <a:endParaRPr lang="en-US" sz="1100" dirty="0"/>
          </a:p>
        </p:txBody>
      </p:sp>
      <p:sp>
        <p:nvSpPr>
          <p:cNvPr id="8" name="Shape 6"/>
          <p:cNvSpPr/>
          <p:nvPr/>
        </p:nvSpPr>
        <p:spPr>
          <a:xfrm>
            <a:off x="3102788" y="3108960"/>
            <a:ext cx="164592" cy="164592"/>
          </a:xfrm>
          <a:prstGeom prst="downArrow">
            <a:avLst/>
          </a:prstGeom>
          <a:solidFill>
            <a:srgbClr val="C7CAC5"/>
          </a:solidFill>
          <a:ln/>
        </p:spPr>
      </p:sp>
      <p:sp>
        <p:nvSpPr>
          <p:cNvPr id="9" name="Shape 7"/>
          <p:cNvSpPr/>
          <p:nvPr/>
        </p:nvSpPr>
        <p:spPr>
          <a:xfrm>
            <a:off x="777240" y="3310128"/>
            <a:ext cx="4815688" cy="502920"/>
          </a:xfrm>
          <a:prstGeom prst="roundRect">
            <a:avLst>
              <a:gd name="adj" fmla="val 16364"/>
            </a:avLst>
          </a:prstGeom>
          <a:solidFill>
            <a:srgbClr val="F1F1EF"/>
          </a:solidFill>
          <a:ln w="9525">
            <a:solidFill>
              <a:srgbClr val="E4E4E1"/>
            </a:solidFill>
            <a:prstDash val="solid"/>
          </a:ln>
        </p:spPr>
      </p:sp>
      <p:sp>
        <p:nvSpPr>
          <p:cNvPr id="10" name="Text 8"/>
          <p:cNvSpPr txBox="1"/>
          <p:nvPr/>
        </p:nvSpPr>
        <p:spPr>
          <a:xfrm>
            <a:off x="886968" y="3310128"/>
            <a:ext cx="4596232" cy="502920"/>
          </a:xfrm>
          <a:prstGeom prst="rect">
            <a:avLst/>
          </a:prstGeom>
          <a:noFill/>
          <a:ln/>
        </p:spPr>
        <p:txBody>
          <a:bodyPr wrap="square" lIns="0" tIns="0" rIns="0" bIns="0" rtlCol="0" anchor="ctr"/>
          <a:lstStyle/>
          <a:p>
            <a:pPr algn="ctr" indent="0" marL="0">
              <a:buNone/>
            </a:pPr>
            <a:r>
              <a:rPr lang="en-US" sz="1100" dirty="0">
                <a:solidFill>
                  <a:srgbClr val="5F6F67"/>
                </a:solidFill>
                <a:latin typeface="Calibri" pitchFamily="34" charset="0"/>
                <a:ea typeface="Calibri" pitchFamily="34" charset="-122"/>
                <a:cs typeface="Calibri" pitchFamily="34" charset="-120"/>
              </a:rPr>
              <a:t>Emails / chats / spreadsheets</a:t>
            </a:r>
            <a:endParaRPr lang="en-US" sz="1100" dirty="0"/>
          </a:p>
        </p:txBody>
      </p:sp>
      <p:sp>
        <p:nvSpPr>
          <p:cNvPr id="11" name="Shape 9"/>
          <p:cNvSpPr/>
          <p:nvPr/>
        </p:nvSpPr>
        <p:spPr>
          <a:xfrm>
            <a:off x="3102788" y="3813048"/>
            <a:ext cx="164592" cy="164592"/>
          </a:xfrm>
          <a:prstGeom prst="downArrow">
            <a:avLst/>
          </a:prstGeom>
          <a:solidFill>
            <a:srgbClr val="C7CAC5"/>
          </a:solidFill>
          <a:ln/>
        </p:spPr>
      </p:sp>
      <p:sp>
        <p:nvSpPr>
          <p:cNvPr id="12" name="Shape 10"/>
          <p:cNvSpPr/>
          <p:nvPr/>
        </p:nvSpPr>
        <p:spPr>
          <a:xfrm>
            <a:off x="777240" y="4014216"/>
            <a:ext cx="4815688" cy="502920"/>
          </a:xfrm>
          <a:prstGeom prst="roundRect">
            <a:avLst>
              <a:gd name="adj" fmla="val 16364"/>
            </a:avLst>
          </a:prstGeom>
          <a:solidFill>
            <a:srgbClr val="F1F1EF"/>
          </a:solidFill>
          <a:ln w="9525">
            <a:solidFill>
              <a:srgbClr val="E4E4E1"/>
            </a:solidFill>
            <a:prstDash val="solid"/>
          </a:ln>
        </p:spPr>
      </p:sp>
      <p:sp>
        <p:nvSpPr>
          <p:cNvPr id="13" name="Text 11"/>
          <p:cNvSpPr txBox="1"/>
          <p:nvPr/>
        </p:nvSpPr>
        <p:spPr>
          <a:xfrm>
            <a:off x="886968" y="4014216"/>
            <a:ext cx="4596232" cy="502920"/>
          </a:xfrm>
          <a:prstGeom prst="rect">
            <a:avLst/>
          </a:prstGeom>
          <a:noFill/>
          <a:ln/>
        </p:spPr>
        <p:txBody>
          <a:bodyPr wrap="square" lIns="0" tIns="0" rIns="0" bIns="0" rtlCol="0" anchor="ctr"/>
          <a:lstStyle/>
          <a:p>
            <a:pPr algn="ctr" indent="0" marL="0">
              <a:buNone/>
            </a:pPr>
            <a:r>
              <a:rPr lang="en-US" sz="1100" dirty="0">
                <a:solidFill>
                  <a:srgbClr val="5F6F67"/>
                </a:solidFill>
                <a:latin typeface="Calibri" pitchFamily="34" charset="0"/>
                <a:ea typeface="Calibri" pitchFamily="34" charset="-122"/>
                <a:cs typeface="Calibri" pitchFamily="34" charset="-120"/>
              </a:rPr>
              <a:t>Manual checking</a:t>
            </a:r>
            <a:endParaRPr lang="en-US" sz="1100" dirty="0"/>
          </a:p>
        </p:txBody>
      </p:sp>
      <p:sp>
        <p:nvSpPr>
          <p:cNvPr id="14" name="Shape 12"/>
          <p:cNvSpPr/>
          <p:nvPr/>
        </p:nvSpPr>
        <p:spPr>
          <a:xfrm>
            <a:off x="3102788" y="4517136"/>
            <a:ext cx="164592" cy="164592"/>
          </a:xfrm>
          <a:prstGeom prst="downArrow">
            <a:avLst/>
          </a:prstGeom>
          <a:solidFill>
            <a:srgbClr val="C7CAC5"/>
          </a:solidFill>
          <a:ln/>
        </p:spPr>
      </p:sp>
      <p:sp>
        <p:nvSpPr>
          <p:cNvPr id="15" name="Shape 13"/>
          <p:cNvSpPr/>
          <p:nvPr/>
        </p:nvSpPr>
        <p:spPr>
          <a:xfrm>
            <a:off x="777240" y="4718304"/>
            <a:ext cx="4815688" cy="502920"/>
          </a:xfrm>
          <a:prstGeom prst="roundRect">
            <a:avLst>
              <a:gd name="adj" fmla="val 16364"/>
            </a:avLst>
          </a:prstGeom>
          <a:solidFill>
            <a:srgbClr val="F1F1EF"/>
          </a:solidFill>
          <a:ln w="9525">
            <a:solidFill>
              <a:srgbClr val="E4E4E1"/>
            </a:solidFill>
            <a:prstDash val="solid"/>
          </a:ln>
        </p:spPr>
      </p:sp>
      <p:sp>
        <p:nvSpPr>
          <p:cNvPr id="16" name="Text 14"/>
          <p:cNvSpPr txBox="1"/>
          <p:nvPr/>
        </p:nvSpPr>
        <p:spPr>
          <a:xfrm>
            <a:off x="886968" y="4718304"/>
            <a:ext cx="4596232" cy="502920"/>
          </a:xfrm>
          <a:prstGeom prst="rect">
            <a:avLst/>
          </a:prstGeom>
          <a:noFill/>
          <a:ln/>
        </p:spPr>
        <p:txBody>
          <a:bodyPr wrap="square" lIns="0" tIns="0" rIns="0" bIns="0" rtlCol="0" anchor="ctr"/>
          <a:lstStyle/>
          <a:p>
            <a:pPr algn="ctr" indent="0" marL="0">
              <a:buNone/>
            </a:pPr>
            <a:r>
              <a:rPr lang="en-US" sz="1100" dirty="0">
                <a:solidFill>
                  <a:srgbClr val="5F6F67"/>
                </a:solidFill>
                <a:latin typeface="Calibri" pitchFamily="34" charset="0"/>
                <a:ea typeface="Calibri" pitchFamily="34" charset="-122"/>
                <a:cs typeface="Calibri" pitchFamily="34" charset="-120"/>
              </a:rPr>
              <a:t>Fragmented approval</a:t>
            </a:r>
            <a:endParaRPr lang="en-US" sz="1100" dirty="0"/>
          </a:p>
        </p:txBody>
      </p:sp>
      <p:sp>
        <p:nvSpPr>
          <p:cNvPr id="17" name="Shape 15"/>
          <p:cNvSpPr/>
          <p:nvPr/>
        </p:nvSpPr>
        <p:spPr>
          <a:xfrm>
            <a:off x="3102788" y="5221224"/>
            <a:ext cx="164592" cy="164592"/>
          </a:xfrm>
          <a:prstGeom prst="downArrow">
            <a:avLst/>
          </a:prstGeom>
          <a:solidFill>
            <a:srgbClr val="C7CAC5"/>
          </a:solidFill>
          <a:ln/>
        </p:spPr>
      </p:sp>
      <p:sp>
        <p:nvSpPr>
          <p:cNvPr id="18" name="Shape 16"/>
          <p:cNvSpPr/>
          <p:nvPr/>
        </p:nvSpPr>
        <p:spPr>
          <a:xfrm>
            <a:off x="777240" y="5422392"/>
            <a:ext cx="4815688" cy="502920"/>
          </a:xfrm>
          <a:prstGeom prst="roundRect">
            <a:avLst>
              <a:gd name="adj" fmla="val 16364"/>
            </a:avLst>
          </a:prstGeom>
          <a:solidFill>
            <a:srgbClr val="F1F1EF"/>
          </a:solidFill>
          <a:ln w="9525">
            <a:solidFill>
              <a:srgbClr val="E4E4E1"/>
            </a:solidFill>
            <a:prstDash val="solid"/>
          </a:ln>
        </p:spPr>
      </p:sp>
      <p:sp>
        <p:nvSpPr>
          <p:cNvPr id="19" name="Text 17"/>
          <p:cNvSpPr txBox="1"/>
          <p:nvPr/>
        </p:nvSpPr>
        <p:spPr>
          <a:xfrm>
            <a:off x="886968" y="5422392"/>
            <a:ext cx="4596232" cy="502920"/>
          </a:xfrm>
          <a:prstGeom prst="rect">
            <a:avLst/>
          </a:prstGeom>
          <a:noFill/>
          <a:ln/>
        </p:spPr>
        <p:txBody>
          <a:bodyPr wrap="square" lIns="0" tIns="0" rIns="0" bIns="0" rtlCol="0" anchor="ctr"/>
          <a:lstStyle/>
          <a:p>
            <a:pPr algn="ctr" indent="0" marL="0">
              <a:buNone/>
            </a:pPr>
            <a:r>
              <a:rPr lang="en-US" sz="1100" dirty="0">
                <a:solidFill>
                  <a:srgbClr val="5F6F67"/>
                </a:solidFill>
                <a:latin typeface="Calibri" pitchFamily="34" charset="0"/>
                <a:ea typeface="Calibri" pitchFamily="34" charset="-122"/>
                <a:cs typeface="Calibri" pitchFamily="34" charset="-120"/>
              </a:rPr>
              <a:t>Limited visibility</a:t>
            </a:r>
            <a:endParaRPr lang="en-US" sz="1100" dirty="0"/>
          </a:p>
        </p:txBody>
      </p:sp>
      <p:sp>
        <p:nvSpPr>
          <p:cNvPr id="20" name="Shape 18"/>
          <p:cNvSpPr/>
          <p:nvPr/>
        </p:nvSpPr>
        <p:spPr>
          <a:xfrm>
            <a:off x="6324448" y="1874520"/>
            <a:ext cx="5364328" cy="4434840"/>
          </a:xfrm>
          <a:prstGeom prst="roundRect">
            <a:avLst>
              <a:gd name="adj" fmla="val 1856"/>
            </a:avLst>
          </a:prstGeom>
          <a:solidFill>
            <a:srgbClr val="173F2E"/>
          </a:solidFill>
          <a:ln w="9525">
            <a:solidFill>
              <a:srgbClr val="173F2E"/>
            </a:solidFill>
            <a:prstDash val="solid"/>
          </a:ln>
        </p:spPr>
      </p:sp>
      <p:sp>
        <p:nvSpPr>
          <p:cNvPr id="21" name="Text 19"/>
          <p:cNvSpPr txBox="1"/>
          <p:nvPr/>
        </p:nvSpPr>
        <p:spPr>
          <a:xfrm>
            <a:off x="6598768" y="2112264"/>
            <a:ext cx="4815688" cy="274320"/>
          </a:xfrm>
          <a:prstGeom prst="rect">
            <a:avLst/>
          </a:prstGeom>
          <a:noFill/>
          <a:ln/>
        </p:spPr>
        <p:txBody>
          <a:bodyPr wrap="square" lIns="0" tIns="0" rIns="0" bIns="0" rtlCol="0" anchor="ctr"/>
          <a:lstStyle/>
          <a:p>
            <a:pPr indent="0" marL="0">
              <a:buNone/>
            </a:pPr>
            <a:r>
              <a:rPr lang="en-US" sz="1200" b="1" spc="150" kern="0" dirty="0">
                <a:solidFill>
                  <a:srgbClr val="BFE0CC"/>
                </a:solidFill>
                <a:latin typeface="Calibri" pitchFamily="34" charset="0"/>
                <a:ea typeface="Calibri" pitchFamily="34" charset="-122"/>
                <a:cs typeface="Calibri" pitchFamily="34" charset="-120"/>
              </a:rPr>
              <a:t>AIMS</a:t>
            </a:r>
            <a:endParaRPr lang="en-US" sz="1200" dirty="0"/>
          </a:p>
        </p:txBody>
      </p:sp>
      <p:sp>
        <p:nvSpPr>
          <p:cNvPr id="22" name="Shape 20"/>
          <p:cNvSpPr/>
          <p:nvPr/>
        </p:nvSpPr>
        <p:spPr>
          <a:xfrm>
            <a:off x="6598768" y="2532888"/>
            <a:ext cx="4815688" cy="365760"/>
          </a:xfrm>
          <a:prstGeom prst="roundRect">
            <a:avLst>
              <a:gd name="adj" fmla="val 22500"/>
            </a:avLst>
          </a:prstGeom>
          <a:solidFill>
            <a:srgbClr val="FFFFFF"/>
          </a:solidFill>
          <a:ln w="9525">
            <a:solidFill>
              <a:srgbClr val="FFFFFF"/>
            </a:solidFill>
            <a:prstDash val="solid"/>
          </a:ln>
        </p:spPr>
      </p:sp>
      <p:sp>
        <p:nvSpPr>
          <p:cNvPr id="23" name="Text 21"/>
          <p:cNvSpPr txBox="1"/>
          <p:nvPr/>
        </p:nvSpPr>
        <p:spPr>
          <a:xfrm>
            <a:off x="6708496" y="2532888"/>
            <a:ext cx="4596232" cy="365760"/>
          </a:xfrm>
          <a:prstGeom prst="rect">
            <a:avLst/>
          </a:prstGeom>
          <a:noFill/>
          <a:ln/>
        </p:spPr>
        <p:txBody>
          <a:bodyPr wrap="square" lIns="0" tIns="0" rIns="0" bIns="0" rtlCol="0" anchor="ctr"/>
          <a:lstStyle/>
          <a:p>
            <a:pPr algn="ctr" indent="0" marL="0">
              <a:buNone/>
            </a:pPr>
            <a:r>
              <a:rPr lang="en-US" sz="1100" b="1" dirty="0">
                <a:solidFill>
                  <a:srgbClr val="173F2E"/>
                </a:solidFill>
                <a:latin typeface="Calibri" pitchFamily="34" charset="0"/>
                <a:ea typeface="Calibri" pitchFamily="34" charset="-122"/>
                <a:cs typeface="Calibri" pitchFamily="34" charset="-120"/>
              </a:rPr>
              <a:t>Request</a:t>
            </a:r>
            <a:endParaRPr lang="en-US" sz="1100" dirty="0"/>
          </a:p>
        </p:txBody>
      </p:sp>
      <p:sp>
        <p:nvSpPr>
          <p:cNvPr id="24" name="Shape 22"/>
          <p:cNvSpPr/>
          <p:nvPr/>
        </p:nvSpPr>
        <p:spPr>
          <a:xfrm>
            <a:off x="6598768" y="2953512"/>
            <a:ext cx="4815688" cy="365760"/>
          </a:xfrm>
          <a:prstGeom prst="roundRect">
            <a:avLst>
              <a:gd name="adj" fmla="val 22500"/>
            </a:avLst>
          </a:prstGeom>
          <a:solidFill>
            <a:srgbClr val="6D51A8"/>
          </a:solidFill>
          <a:ln w="9525">
            <a:solidFill>
              <a:srgbClr val="6D51A8"/>
            </a:solidFill>
            <a:prstDash val="solid"/>
          </a:ln>
        </p:spPr>
      </p:sp>
      <p:sp>
        <p:nvSpPr>
          <p:cNvPr id="25" name="Text 23"/>
          <p:cNvSpPr txBox="1"/>
          <p:nvPr/>
        </p:nvSpPr>
        <p:spPr>
          <a:xfrm>
            <a:off x="6708496" y="2953512"/>
            <a:ext cx="4596232"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AI understanding</a:t>
            </a:r>
            <a:endParaRPr lang="en-US" sz="1100" dirty="0"/>
          </a:p>
        </p:txBody>
      </p:sp>
      <p:sp>
        <p:nvSpPr>
          <p:cNvPr id="26" name="Shape 24"/>
          <p:cNvSpPr/>
          <p:nvPr/>
        </p:nvSpPr>
        <p:spPr>
          <a:xfrm>
            <a:off x="6598768" y="3374136"/>
            <a:ext cx="4815688" cy="365760"/>
          </a:xfrm>
          <a:prstGeom prst="roundRect">
            <a:avLst>
              <a:gd name="adj" fmla="val 22500"/>
            </a:avLst>
          </a:prstGeom>
          <a:solidFill>
            <a:srgbClr val="FFFFFF"/>
          </a:solidFill>
          <a:ln w="9525">
            <a:solidFill>
              <a:srgbClr val="FFFFFF"/>
            </a:solidFill>
            <a:prstDash val="solid"/>
          </a:ln>
        </p:spPr>
      </p:sp>
      <p:sp>
        <p:nvSpPr>
          <p:cNvPr id="27" name="Text 25"/>
          <p:cNvSpPr txBox="1"/>
          <p:nvPr/>
        </p:nvSpPr>
        <p:spPr>
          <a:xfrm>
            <a:off x="6708496" y="3374136"/>
            <a:ext cx="4596232" cy="365760"/>
          </a:xfrm>
          <a:prstGeom prst="rect">
            <a:avLst/>
          </a:prstGeom>
          <a:noFill/>
          <a:ln/>
        </p:spPr>
        <p:txBody>
          <a:bodyPr wrap="square" lIns="0" tIns="0" rIns="0" bIns="0" rtlCol="0" anchor="ctr"/>
          <a:lstStyle/>
          <a:p>
            <a:pPr algn="ctr" indent="0" marL="0">
              <a:buNone/>
            </a:pPr>
            <a:r>
              <a:rPr lang="en-US" sz="1100" b="1" dirty="0">
                <a:solidFill>
                  <a:srgbClr val="173F2E"/>
                </a:solidFill>
                <a:latin typeface="Calibri" pitchFamily="34" charset="0"/>
                <a:ea typeface="Calibri" pitchFamily="34" charset="-122"/>
                <a:cs typeface="Calibri" pitchFamily="34" charset="-120"/>
              </a:rPr>
              <a:t>Financial truth</a:t>
            </a:r>
            <a:endParaRPr lang="en-US" sz="1100" dirty="0"/>
          </a:p>
        </p:txBody>
      </p:sp>
      <p:sp>
        <p:nvSpPr>
          <p:cNvPr id="28" name="Shape 26"/>
          <p:cNvSpPr/>
          <p:nvPr/>
        </p:nvSpPr>
        <p:spPr>
          <a:xfrm>
            <a:off x="6598768" y="3794760"/>
            <a:ext cx="4815688" cy="365760"/>
          </a:xfrm>
          <a:prstGeom prst="roundRect">
            <a:avLst>
              <a:gd name="adj" fmla="val 22500"/>
            </a:avLst>
          </a:prstGeom>
          <a:solidFill>
            <a:srgbClr val="6D51A8"/>
          </a:solidFill>
          <a:ln w="9525">
            <a:solidFill>
              <a:srgbClr val="6D51A8"/>
            </a:solidFill>
            <a:prstDash val="solid"/>
          </a:ln>
        </p:spPr>
      </p:sp>
      <p:sp>
        <p:nvSpPr>
          <p:cNvPr id="29" name="Text 27"/>
          <p:cNvSpPr txBox="1"/>
          <p:nvPr/>
        </p:nvSpPr>
        <p:spPr>
          <a:xfrm>
            <a:off x="6708496" y="3794760"/>
            <a:ext cx="4596232"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AI analysis</a:t>
            </a:r>
            <a:endParaRPr lang="en-US" sz="1100" dirty="0"/>
          </a:p>
        </p:txBody>
      </p:sp>
      <p:sp>
        <p:nvSpPr>
          <p:cNvPr id="30" name="Shape 28"/>
          <p:cNvSpPr/>
          <p:nvPr/>
        </p:nvSpPr>
        <p:spPr>
          <a:xfrm>
            <a:off x="6598768" y="4215384"/>
            <a:ext cx="4815688" cy="365760"/>
          </a:xfrm>
          <a:prstGeom prst="roundRect">
            <a:avLst>
              <a:gd name="adj" fmla="val 22500"/>
            </a:avLst>
          </a:prstGeom>
          <a:solidFill>
            <a:srgbClr val="FFFFFF"/>
          </a:solidFill>
          <a:ln w="9525">
            <a:solidFill>
              <a:srgbClr val="FFFFFF"/>
            </a:solidFill>
            <a:prstDash val="solid"/>
          </a:ln>
        </p:spPr>
      </p:sp>
      <p:sp>
        <p:nvSpPr>
          <p:cNvPr id="31" name="Text 29"/>
          <p:cNvSpPr txBox="1"/>
          <p:nvPr/>
        </p:nvSpPr>
        <p:spPr>
          <a:xfrm>
            <a:off x="6708496" y="4215384"/>
            <a:ext cx="4596232" cy="365760"/>
          </a:xfrm>
          <a:prstGeom prst="rect">
            <a:avLst/>
          </a:prstGeom>
          <a:noFill/>
          <a:ln/>
        </p:spPr>
        <p:txBody>
          <a:bodyPr wrap="square" lIns="0" tIns="0" rIns="0" bIns="0" rtlCol="0" anchor="ctr"/>
          <a:lstStyle/>
          <a:p>
            <a:pPr algn="ctr" indent="0" marL="0">
              <a:buNone/>
            </a:pPr>
            <a:r>
              <a:rPr lang="en-US" sz="1100" b="1" dirty="0">
                <a:solidFill>
                  <a:srgbClr val="173F2E"/>
                </a:solidFill>
                <a:latin typeface="Calibri" pitchFamily="34" charset="0"/>
                <a:ea typeface="Calibri" pitchFamily="34" charset="-122"/>
                <a:cs typeface="Calibri" pitchFamily="34" charset="-120"/>
              </a:rPr>
              <a:t>Human decision</a:t>
            </a:r>
            <a:endParaRPr lang="en-US" sz="1100" dirty="0"/>
          </a:p>
        </p:txBody>
      </p:sp>
      <p:sp>
        <p:nvSpPr>
          <p:cNvPr id="32" name="Shape 30"/>
          <p:cNvSpPr/>
          <p:nvPr/>
        </p:nvSpPr>
        <p:spPr>
          <a:xfrm>
            <a:off x="6598768" y="4636008"/>
            <a:ext cx="4815688" cy="365760"/>
          </a:xfrm>
          <a:prstGeom prst="roundRect">
            <a:avLst>
              <a:gd name="adj" fmla="val 22500"/>
            </a:avLst>
          </a:prstGeom>
          <a:solidFill>
            <a:srgbClr val="FFFFFF"/>
          </a:solidFill>
          <a:ln w="9525">
            <a:solidFill>
              <a:srgbClr val="FFFFFF"/>
            </a:solidFill>
            <a:prstDash val="solid"/>
          </a:ln>
        </p:spPr>
      </p:sp>
      <p:sp>
        <p:nvSpPr>
          <p:cNvPr id="33" name="Text 31"/>
          <p:cNvSpPr txBox="1"/>
          <p:nvPr/>
        </p:nvSpPr>
        <p:spPr>
          <a:xfrm>
            <a:off x="6708496" y="4636008"/>
            <a:ext cx="4596232" cy="365760"/>
          </a:xfrm>
          <a:prstGeom prst="rect">
            <a:avLst/>
          </a:prstGeom>
          <a:noFill/>
          <a:ln/>
        </p:spPr>
        <p:txBody>
          <a:bodyPr wrap="square" lIns="0" tIns="0" rIns="0" bIns="0" rtlCol="0" anchor="ctr"/>
          <a:lstStyle/>
          <a:p>
            <a:pPr algn="ctr" indent="0" marL="0">
              <a:buNone/>
            </a:pPr>
            <a:r>
              <a:rPr lang="en-US" sz="1100" b="1" dirty="0">
                <a:solidFill>
                  <a:srgbClr val="173F2E"/>
                </a:solidFill>
                <a:latin typeface="Calibri" pitchFamily="34" charset="0"/>
                <a:ea typeface="Calibri" pitchFamily="34" charset="-122"/>
                <a:cs typeface="Calibri" pitchFamily="34" charset="-120"/>
              </a:rPr>
              <a:t>Finance control</a:t>
            </a:r>
            <a:endParaRPr lang="en-US" sz="1100" dirty="0"/>
          </a:p>
        </p:txBody>
      </p:sp>
      <p:sp>
        <p:nvSpPr>
          <p:cNvPr id="34" name="Shape 32"/>
          <p:cNvSpPr/>
          <p:nvPr/>
        </p:nvSpPr>
        <p:spPr>
          <a:xfrm>
            <a:off x="6598768" y="5056632"/>
            <a:ext cx="4815688" cy="365760"/>
          </a:xfrm>
          <a:prstGeom prst="roundRect">
            <a:avLst>
              <a:gd name="adj" fmla="val 22500"/>
            </a:avLst>
          </a:prstGeom>
          <a:solidFill>
            <a:srgbClr val="FFFFFF"/>
          </a:solidFill>
          <a:ln w="9525">
            <a:solidFill>
              <a:srgbClr val="FFFFFF"/>
            </a:solidFill>
            <a:prstDash val="solid"/>
          </a:ln>
        </p:spPr>
      </p:sp>
      <p:sp>
        <p:nvSpPr>
          <p:cNvPr id="35" name="Text 33"/>
          <p:cNvSpPr txBox="1"/>
          <p:nvPr/>
        </p:nvSpPr>
        <p:spPr>
          <a:xfrm>
            <a:off x="6708496" y="5056632"/>
            <a:ext cx="4596232" cy="365760"/>
          </a:xfrm>
          <a:prstGeom prst="rect">
            <a:avLst/>
          </a:prstGeom>
          <a:noFill/>
          <a:ln/>
        </p:spPr>
        <p:txBody>
          <a:bodyPr wrap="square" lIns="0" tIns="0" rIns="0" bIns="0" rtlCol="0" anchor="ctr"/>
          <a:lstStyle/>
          <a:p>
            <a:pPr algn="ctr" indent="0" marL="0">
              <a:buNone/>
            </a:pPr>
            <a:r>
              <a:rPr lang="en-US" sz="1100" b="1" dirty="0">
                <a:solidFill>
                  <a:srgbClr val="173F2E"/>
                </a:solidFill>
                <a:latin typeface="Calibri" pitchFamily="34" charset="0"/>
                <a:ea typeface="Calibri" pitchFamily="34" charset="-122"/>
                <a:cs typeface="Calibri" pitchFamily="34" charset="-120"/>
              </a:rPr>
              <a:t>Payment record</a:t>
            </a:r>
            <a:endParaRPr lang="en-US" sz="1100" dirty="0"/>
          </a:p>
        </p:txBody>
      </p:sp>
      <p:sp>
        <p:nvSpPr>
          <p:cNvPr id="36" name="Shape 34"/>
          <p:cNvSpPr/>
          <p:nvPr/>
        </p:nvSpPr>
        <p:spPr>
          <a:xfrm>
            <a:off x="6598768" y="5477256"/>
            <a:ext cx="4815688" cy="365760"/>
          </a:xfrm>
          <a:prstGeom prst="roundRect">
            <a:avLst>
              <a:gd name="adj" fmla="val 22500"/>
            </a:avLst>
          </a:prstGeom>
          <a:solidFill>
            <a:srgbClr val="6D51A8"/>
          </a:solidFill>
          <a:ln w="9525">
            <a:solidFill>
              <a:srgbClr val="6D51A8"/>
            </a:solidFill>
            <a:prstDash val="solid"/>
          </a:ln>
        </p:spPr>
      </p:sp>
      <p:sp>
        <p:nvSpPr>
          <p:cNvPr id="37" name="Text 35"/>
          <p:cNvSpPr txBox="1"/>
          <p:nvPr/>
        </p:nvSpPr>
        <p:spPr>
          <a:xfrm>
            <a:off x="6708496" y="5477256"/>
            <a:ext cx="4596232"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Intelligence</a:t>
            </a:r>
            <a:endParaRPr lang="en-US" sz="1100" dirty="0"/>
          </a:p>
        </p:txBody>
      </p:sp>
      <p:sp>
        <p:nvSpPr>
          <p:cNvPr id="38" name="Text 36"/>
          <p:cNvSpPr txBox="1"/>
          <p:nvPr/>
        </p:nvSpPr>
        <p:spPr>
          <a:xfrm>
            <a:off x="502920" y="6537960"/>
            <a:ext cx="7315200" cy="256032"/>
          </a:xfrm>
          <a:prstGeom prst="rect">
            <a:avLst/>
          </a:prstGeom>
          <a:noFill/>
          <a:ln/>
        </p:spPr>
        <p:txBody>
          <a:bodyPr wrap="square" lIns="0" tIns="0" rIns="0" bIns="0" rtlCol="0" anchor="ctr"/>
          <a:lstStyle/>
          <a:p>
            <a:pPr indent="0" marL="0">
              <a:buNone/>
            </a:pPr>
            <a:r>
              <a:rPr lang="en-US" sz="900" dirty="0">
                <a:solidFill>
                  <a:srgbClr val="5F6F67"/>
                </a:solidFill>
                <a:latin typeface="Calibri" pitchFamily="34" charset="0"/>
                <a:ea typeface="Calibri" pitchFamily="34" charset="-122"/>
                <a:cs typeface="Calibri" pitchFamily="34" charset="-120"/>
              </a:rPr>
              <a:t>AIMS · AI-Powered Payment &amp; Finance Control</a:t>
            </a:r>
            <a:endParaRPr lang="en-US" sz="900" dirty="0"/>
          </a:p>
        </p:txBody>
      </p:sp>
      <p:sp>
        <p:nvSpPr>
          <p:cNvPr id="39" name="Text 37"/>
          <p:cNvSpPr txBox="1"/>
          <p:nvPr/>
        </p:nvSpPr>
        <p:spPr>
          <a:xfrm>
            <a:off x="11140135" y="6537960"/>
            <a:ext cx="548640" cy="256032"/>
          </a:xfrm>
          <a:prstGeom prst="rect">
            <a:avLst/>
          </a:prstGeom>
          <a:noFill/>
          <a:ln/>
        </p:spPr>
        <p:txBody>
          <a:bodyPr wrap="square" lIns="0" tIns="0" rIns="0" bIns="0" rtlCol="0" anchor="ctr"/>
          <a:lstStyle/>
          <a:p>
            <a:pPr algn="r" indent="0" marL="0">
              <a:buNone/>
            </a:pPr>
            <a:r>
              <a:rPr lang="en-US" sz="900" dirty="0">
                <a:solidFill>
                  <a:srgbClr val="5F6F67"/>
                </a:solidFill>
                <a:latin typeface="Calibri" pitchFamily="34" charset="0"/>
                <a:ea typeface="Calibri" pitchFamily="34" charset="-122"/>
                <a:cs typeface="Calibri" pitchFamily="34" charset="-120"/>
              </a:rPr>
              <a:t>03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6F3"/>
        </a:solidFill>
      </p:bgPr>
    </p:bg>
    <p:spTree>
      <p:nvGrpSpPr>
        <p:cNvPr id="1" name=""/>
        <p:cNvGrpSpPr/>
        <p:nvPr/>
      </p:nvGrpSpPr>
      <p:grpSpPr>
        <a:xfrm>
          <a:off x="0" y="0"/>
          <a:ext cx="0" cy="0"/>
          <a:chOff x="0" y="0"/>
          <a:chExt cx="0" cy="0"/>
        </a:xfrm>
      </p:grpSpPr>
      <p:sp>
        <p:nvSpPr>
          <p:cNvPr id="2" name="Text 0"/>
          <p:cNvSpPr txBox="1"/>
          <p:nvPr/>
        </p:nvSpPr>
        <p:spPr>
          <a:xfrm>
            <a:off x="502920" y="384048"/>
            <a:ext cx="11185855" cy="274320"/>
          </a:xfrm>
          <a:prstGeom prst="rect">
            <a:avLst/>
          </a:prstGeom>
          <a:noFill/>
          <a:ln/>
        </p:spPr>
        <p:txBody>
          <a:bodyPr wrap="square" lIns="0" tIns="0" rIns="0" bIns="0" rtlCol="0" anchor="ctr"/>
          <a:lstStyle/>
          <a:p>
            <a:pPr indent="0" marL="0">
              <a:buNone/>
            </a:pPr>
            <a:r>
              <a:rPr lang="en-US" sz="1100" b="1" spc="200" kern="0" dirty="0">
                <a:solidFill>
                  <a:srgbClr val="5F6F67"/>
                </a:solidFill>
                <a:latin typeface="Calibri" pitchFamily="34" charset="0"/>
                <a:ea typeface="Calibri" pitchFamily="34" charset="-122"/>
                <a:cs typeface="Calibri" pitchFamily="34" charset="-120"/>
              </a:rPr>
              <a:t>03 · HOW AIMS WORKS</a:t>
            </a:r>
            <a:endParaRPr lang="en-US" sz="1100" dirty="0"/>
          </a:p>
        </p:txBody>
      </p:sp>
      <p:sp>
        <p:nvSpPr>
          <p:cNvPr id="3" name="Text 1"/>
          <p:cNvSpPr txBox="1"/>
          <p:nvPr/>
        </p:nvSpPr>
        <p:spPr>
          <a:xfrm>
            <a:off x="502920" y="658368"/>
            <a:ext cx="11185855" cy="822960"/>
          </a:xfrm>
          <a:prstGeom prst="rect">
            <a:avLst/>
          </a:prstGeom>
          <a:noFill/>
          <a:ln/>
        </p:spPr>
        <p:txBody>
          <a:bodyPr wrap="square" lIns="0" tIns="0" rIns="0" bIns="0" rtlCol="0" anchor="ctr"/>
          <a:lstStyle/>
          <a:p>
            <a:pPr algn="l" indent="0" marL="0">
              <a:lnSpc>
                <a:spcPct val="102000"/>
              </a:lnSpc>
              <a:buNone/>
            </a:pPr>
            <a:r>
              <a:rPr lang="en-US" sz="2800" b="1" dirty="0">
                <a:solidFill>
                  <a:srgbClr val="16221D"/>
                </a:solidFill>
                <a:latin typeface="Cambria" pitchFamily="34" charset="0"/>
                <a:ea typeface="Cambria" pitchFamily="34" charset="-122"/>
                <a:cs typeface="Cambria" pitchFamily="34" charset="-120"/>
              </a:rPr>
              <a:t>The full payment lifecycle stays intact.</a:t>
            </a:r>
            <a:endParaRPr lang="en-US" sz="2800" dirty="0"/>
          </a:p>
        </p:txBody>
      </p:sp>
      <p:sp>
        <p:nvSpPr>
          <p:cNvPr id="4" name="Text 2"/>
          <p:cNvSpPr txBox="1"/>
          <p:nvPr/>
        </p:nvSpPr>
        <p:spPr>
          <a:xfrm>
            <a:off x="502920" y="1371600"/>
            <a:ext cx="11185855" cy="457200"/>
          </a:xfrm>
          <a:prstGeom prst="rect">
            <a:avLst/>
          </a:prstGeom>
          <a:noFill/>
          <a:ln/>
        </p:spPr>
        <p:txBody>
          <a:bodyPr wrap="square" lIns="0" tIns="0" rIns="0" bIns="0" rtlCol="0" anchor="ctr"/>
          <a:lstStyle/>
          <a:p>
            <a:pPr indent="0" marL="0">
              <a:buNone/>
            </a:pPr>
            <a:r>
              <a:rPr lang="en-US" sz="1500" dirty="0">
                <a:solidFill>
                  <a:srgbClr val="5F6F67"/>
                </a:solidFill>
                <a:latin typeface="Calibri" pitchFamily="34" charset="0"/>
                <a:ea typeface="Calibri" pitchFamily="34" charset="-122"/>
                <a:cs typeface="Calibri" pitchFamily="34" charset="-120"/>
              </a:rPr>
              <a:t>12 governed stages, grouped into 5 phases — nothing skipped, nothing shortcut.</a:t>
            </a:r>
            <a:endParaRPr lang="en-US" sz="1500" dirty="0"/>
          </a:p>
        </p:txBody>
      </p:sp>
      <p:sp>
        <p:nvSpPr>
          <p:cNvPr id="5" name="Shape 3"/>
          <p:cNvSpPr/>
          <p:nvPr/>
        </p:nvSpPr>
        <p:spPr>
          <a:xfrm>
            <a:off x="502920" y="2148840"/>
            <a:ext cx="2076237" cy="3246120"/>
          </a:xfrm>
          <a:prstGeom prst="roundRect">
            <a:avLst>
              <a:gd name="adj" fmla="val 3964"/>
            </a:avLst>
          </a:prstGeom>
          <a:solidFill>
            <a:srgbClr val="FFFFFF"/>
          </a:solidFill>
          <a:ln w="9525">
            <a:solidFill>
              <a:srgbClr val="DDE3DE"/>
            </a:solidFill>
            <a:prstDash val="solid"/>
          </a:ln>
        </p:spPr>
      </p:sp>
      <p:sp>
        <p:nvSpPr>
          <p:cNvPr id="6" name="Shape 4"/>
          <p:cNvSpPr/>
          <p:nvPr/>
        </p:nvSpPr>
        <p:spPr>
          <a:xfrm>
            <a:off x="667512" y="2331720"/>
            <a:ext cx="384048" cy="384048"/>
          </a:xfrm>
          <a:prstGeom prst="roundRect">
            <a:avLst>
              <a:gd name="adj" fmla="val 19048"/>
            </a:avLst>
          </a:prstGeom>
          <a:solidFill>
            <a:srgbClr val="E8F1F8"/>
          </a:solidFill>
          <a:ln/>
        </p:spPr>
      </p:sp>
      <p:sp>
        <p:nvSpPr>
          <p:cNvPr id="7" name="Text 5"/>
          <p:cNvSpPr txBox="1"/>
          <p:nvPr/>
        </p:nvSpPr>
        <p:spPr>
          <a:xfrm>
            <a:off x="667512" y="2331720"/>
            <a:ext cx="384048" cy="384048"/>
          </a:xfrm>
          <a:prstGeom prst="rect">
            <a:avLst/>
          </a:prstGeom>
          <a:noFill/>
          <a:ln/>
        </p:spPr>
        <p:txBody>
          <a:bodyPr wrap="square" lIns="0" tIns="0" rIns="0" bIns="0" rtlCol="0" anchor="ctr"/>
          <a:lstStyle/>
          <a:p>
            <a:pPr algn="ctr" indent="0" marL="0">
              <a:buNone/>
            </a:pPr>
            <a:r>
              <a:rPr lang="en-US" sz="1600" b="1" dirty="0">
                <a:solidFill>
                  <a:srgbClr val="2F6F9F"/>
                </a:solidFill>
                <a:latin typeface="Cambria" pitchFamily="34" charset="0"/>
                <a:ea typeface="Cambria" pitchFamily="34" charset="-122"/>
                <a:cs typeface="Cambria" pitchFamily="34" charset="-120"/>
              </a:rPr>
              <a:t>1</a:t>
            </a:r>
            <a:endParaRPr lang="en-US" sz="1600" dirty="0"/>
          </a:p>
        </p:txBody>
      </p:sp>
      <p:sp>
        <p:nvSpPr>
          <p:cNvPr id="8" name="Text 6"/>
          <p:cNvSpPr txBox="1"/>
          <p:nvPr/>
        </p:nvSpPr>
        <p:spPr>
          <a:xfrm>
            <a:off x="667512" y="2862072"/>
            <a:ext cx="1747053" cy="685800"/>
          </a:xfrm>
          <a:prstGeom prst="rect">
            <a:avLst/>
          </a:prstGeom>
          <a:noFill/>
          <a:ln/>
        </p:spPr>
        <p:txBody>
          <a:bodyPr wrap="square" lIns="0" tIns="0" rIns="0" bIns="0" rtlCol="0" anchor="ctr"/>
          <a:lstStyle/>
          <a:p>
            <a:pPr indent="0" marL="0">
              <a:lnSpc>
                <a:spcPct val="105000"/>
              </a:lnSpc>
              <a:buNone/>
            </a:pPr>
            <a:r>
              <a:rPr lang="en-US" sz="1300" b="1" dirty="0">
                <a:solidFill>
                  <a:srgbClr val="16221D"/>
                </a:solidFill>
                <a:latin typeface="Calibri" pitchFamily="34" charset="0"/>
                <a:ea typeface="Calibri" pitchFamily="34" charset="-122"/>
                <a:cs typeface="Calibri" pitchFamily="34" charset="-120"/>
              </a:rPr>
              <a:t>REQUEST</a:t>
            </a:r>
            <a:endParaRPr lang="en-US" sz="1300" dirty="0"/>
          </a:p>
        </p:txBody>
      </p:sp>
      <p:sp>
        <p:nvSpPr>
          <p:cNvPr id="9" name="Text 7"/>
          <p:cNvSpPr txBox="1"/>
          <p:nvPr/>
        </p:nvSpPr>
        <p:spPr>
          <a:xfrm>
            <a:off x="667512" y="3520440"/>
            <a:ext cx="1747053" cy="256032"/>
          </a:xfrm>
          <a:prstGeom prst="rect">
            <a:avLst/>
          </a:prstGeom>
          <a:noFill/>
          <a:ln/>
        </p:spPr>
        <p:txBody>
          <a:bodyPr wrap="square" lIns="0" tIns="0" rIns="0" bIns="0" rtlCol="0" anchor="ctr"/>
          <a:lstStyle/>
          <a:p>
            <a:pPr indent="0" marL="0">
              <a:buNone/>
            </a:pPr>
            <a:r>
              <a:rPr lang="en-US" sz="1000" b="1" dirty="0">
                <a:solidFill>
                  <a:srgbClr val="2F6F9F"/>
                </a:solidFill>
                <a:latin typeface="Calibri" pitchFamily="34" charset="0"/>
                <a:ea typeface="Calibri" pitchFamily="34" charset="-122"/>
                <a:cs typeface="Calibri" pitchFamily="34" charset="-120"/>
              </a:rPr>
              <a:t>Stages 1–3</a:t>
            </a:r>
            <a:endParaRPr lang="en-US" sz="1000" dirty="0"/>
          </a:p>
        </p:txBody>
      </p:sp>
      <p:sp>
        <p:nvSpPr>
          <p:cNvPr id="10" name="Shape 8"/>
          <p:cNvSpPr/>
          <p:nvPr/>
        </p:nvSpPr>
        <p:spPr>
          <a:xfrm>
            <a:off x="667512" y="3849624"/>
            <a:ext cx="1747053" cy="0"/>
          </a:xfrm>
          <a:prstGeom prst="line">
            <a:avLst/>
          </a:prstGeom>
          <a:noFill/>
          <a:ln w="12700">
            <a:solidFill>
              <a:srgbClr val="E7E9E4"/>
            </a:solidFill>
            <a:prstDash val="solid"/>
          </a:ln>
        </p:spPr>
      </p:sp>
      <p:sp>
        <p:nvSpPr>
          <p:cNvPr id="11" name="Text 9"/>
          <p:cNvSpPr txBox="1"/>
          <p:nvPr/>
        </p:nvSpPr>
        <p:spPr>
          <a:xfrm>
            <a:off x="667512" y="3959352"/>
            <a:ext cx="1747053" cy="1280160"/>
          </a:xfrm>
          <a:prstGeom prst="rect">
            <a:avLst/>
          </a:prstGeom>
          <a:noFill/>
          <a:ln/>
        </p:spPr>
        <p:txBody>
          <a:bodyPr wrap="square" lIns="0" tIns="0" rIns="0" bIns="0" rtlCol="0" anchor="ctr"/>
          <a:lstStyle/>
          <a:p>
            <a:pPr indent="0" marL="0">
              <a:lnSpc>
                <a:spcPct val="125000"/>
              </a:lnSpc>
              <a:buNone/>
            </a:pPr>
            <a:r>
              <a:rPr lang="en-US" sz="1050" dirty="0">
                <a:solidFill>
                  <a:srgbClr val="5F6F67"/>
                </a:solidFill>
                <a:latin typeface="Calibri" pitchFamily="34" charset="0"/>
                <a:ea typeface="Calibri" pitchFamily="34" charset="-122"/>
                <a:cs typeface="Calibri" pitchFamily="34" charset="-120"/>
              </a:rPr>
              <a:t>Request Initiation · Request Capture · Validation</a:t>
            </a:r>
            <a:endParaRPr lang="en-US" sz="1050" dirty="0"/>
          </a:p>
        </p:txBody>
      </p:sp>
      <p:sp>
        <p:nvSpPr>
          <p:cNvPr id="12" name="Shape 10"/>
          <p:cNvSpPr/>
          <p:nvPr/>
        </p:nvSpPr>
        <p:spPr>
          <a:xfrm>
            <a:off x="2597445" y="3730752"/>
            <a:ext cx="164592" cy="82296"/>
          </a:xfrm>
          <a:prstGeom prst="rightArrow">
            <a:avLst/>
          </a:prstGeom>
          <a:solidFill>
            <a:srgbClr val="C7CAC5"/>
          </a:solidFill>
          <a:ln/>
        </p:spPr>
      </p:sp>
      <p:sp>
        <p:nvSpPr>
          <p:cNvPr id="13" name="Shape 11"/>
          <p:cNvSpPr/>
          <p:nvPr/>
        </p:nvSpPr>
        <p:spPr>
          <a:xfrm>
            <a:off x="2780325" y="2148840"/>
            <a:ext cx="2076237" cy="3246120"/>
          </a:xfrm>
          <a:prstGeom prst="roundRect">
            <a:avLst>
              <a:gd name="adj" fmla="val 3964"/>
            </a:avLst>
          </a:prstGeom>
          <a:solidFill>
            <a:srgbClr val="FFFFFF"/>
          </a:solidFill>
          <a:ln w="9525">
            <a:solidFill>
              <a:srgbClr val="DDE3DE"/>
            </a:solidFill>
            <a:prstDash val="solid"/>
          </a:ln>
        </p:spPr>
      </p:sp>
      <p:sp>
        <p:nvSpPr>
          <p:cNvPr id="14" name="Shape 12"/>
          <p:cNvSpPr/>
          <p:nvPr/>
        </p:nvSpPr>
        <p:spPr>
          <a:xfrm>
            <a:off x="2944917" y="2331720"/>
            <a:ext cx="384048" cy="384048"/>
          </a:xfrm>
          <a:prstGeom prst="roundRect">
            <a:avLst>
              <a:gd name="adj" fmla="val 19048"/>
            </a:avLst>
          </a:prstGeom>
          <a:solidFill>
            <a:srgbClr val="F2EEF9"/>
          </a:solidFill>
          <a:ln/>
        </p:spPr>
      </p:sp>
      <p:sp>
        <p:nvSpPr>
          <p:cNvPr id="15" name="Text 13"/>
          <p:cNvSpPr txBox="1"/>
          <p:nvPr/>
        </p:nvSpPr>
        <p:spPr>
          <a:xfrm>
            <a:off x="2944917" y="2331720"/>
            <a:ext cx="384048" cy="384048"/>
          </a:xfrm>
          <a:prstGeom prst="rect">
            <a:avLst/>
          </a:prstGeom>
          <a:noFill/>
          <a:ln/>
        </p:spPr>
        <p:txBody>
          <a:bodyPr wrap="square" lIns="0" tIns="0" rIns="0" bIns="0" rtlCol="0" anchor="ctr"/>
          <a:lstStyle/>
          <a:p>
            <a:pPr algn="ctr" indent="0" marL="0">
              <a:buNone/>
            </a:pPr>
            <a:r>
              <a:rPr lang="en-US" sz="1600" b="1" dirty="0">
                <a:solidFill>
                  <a:srgbClr val="6D51A8"/>
                </a:solidFill>
                <a:latin typeface="Cambria" pitchFamily="34" charset="0"/>
                <a:ea typeface="Cambria" pitchFamily="34" charset="-122"/>
                <a:cs typeface="Cambria" pitchFamily="34" charset="-120"/>
              </a:rPr>
              <a:t>2</a:t>
            </a:r>
            <a:endParaRPr lang="en-US" sz="1600" dirty="0"/>
          </a:p>
        </p:txBody>
      </p:sp>
      <p:sp>
        <p:nvSpPr>
          <p:cNvPr id="16" name="Text 14"/>
          <p:cNvSpPr txBox="1"/>
          <p:nvPr/>
        </p:nvSpPr>
        <p:spPr>
          <a:xfrm>
            <a:off x="2944917" y="2862072"/>
            <a:ext cx="1747053" cy="685800"/>
          </a:xfrm>
          <a:prstGeom prst="rect">
            <a:avLst/>
          </a:prstGeom>
          <a:noFill/>
          <a:ln/>
        </p:spPr>
        <p:txBody>
          <a:bodyPr wrap="square" lIns="0" tIns="0" rIns="0" bIns="0" rtlCol="0" anchor="ctr"/>
          <a:lstStyle/>
          <a:p>
            <a:pPr indent="0" marL="0">
              <a:lnSpc>
                <a:spcPct val="105000"/>
              </a:lnSpc>
              <a:buNone/>
            </a:pPr>
            <a:r>
              <a:rPr lang="en-US" sz="1300" b="1" dirty="0">
                <a:solidFill>
                  <a:srgbClr val="16221D"/>
                </a:solidFill>
                <a:latin typeface="Calibri" pitchFamily="34" charset="0"/>
                <a:ea typeface="Calibri" pitchFamily="34" charset="-122"/>
                <a:cs typeface="Calibri" pitchFamily="34" charset="-120"/>
              </a:rPr>
              <a:t>UNDERSTAND &amp; ANALYZE</a:t>
            </a:r>
            <a:endParaRPr lang="en-US" sz="1300" dirty="0"/>
          </a:p>
        </p:txBody>
      </p:sp>
      <p:sp>
        <p:nvSpPr>
          <p:cNvPr id="17" name="Text 15"/>
          <p:cNvSpPr txBox="1"/>
          <p:nvPr/>
        </p:nvSpPr>
        <p:spPr>
          <a:xfrm>
            <a:off x="2944917" y="3520440"/>
            <a:ext cx="1747053" cy="256032"/>
          </a:xfrm>
          <a:prstGeom prst="rect">
            <a:avLst/>
          </a:prstGeom>
          <a:noFill/>
          <a:ln/>
        </p:spPr>
        <p:txBody>
          <a:bodyPr wrap="square" lIns="0" tIns="0" rIns="0" bIns="0" rtlCol="0" anchor="ctr"/>
          <a:lstStyle/>
          <a:p>
            <a:pPr indent="0" marL="0">
              <a:buNone/>
            </a:pPr>
            <a:r>
              <a:rPr lang="en-US" sz="1000" b="1" dirty="0">
                <a:solidFill>
                  <a:srgbClr val="6D51A8"/>
                </a:solidFill>
                <a:latin typeface="Calibri" pitchFamily="34" charset="0"/>
                <a:ea typeface="Calibri" pitchFamily="34" charset="-122"/>
                <a:cs typeface="Calibri" pitchFamily="34" charset="-120"/>
              </a:rPr>
              <a:t>Stages 4–5</a:t>
            </a:r>
            <a:endParaRPr lang="en-US" sz="1000" dirty="0"/>
          </a:p>
        </p:txBody>
      </p:sp>
      <p:sp>
        <p:nvSpPr>
          <p:cNvPr id="18" name="Shape 16"/>
          <p:cNvSpPr/>
          <p:nvPr/>
        </p:nvSpPr>
        <p:spPr>
          <a:xfrm>
            <a:off x="2944917" y="3849624"/>
            <a:ext cx="1747053" cy="0"/>
          </a:xfrm>
          <a:prstGeom prst="line">
            <a:avLst/>
          </a:prstGeom>
          <a:noFill/>
          <a:ln w="12700">
            <a:solidFill>
              <a:srgbClr val="E7E9E4"/>
            </a:solidFill>
            <a:prstDash val="solid"/>
          </a:ln>
        </p:spPr>
      </p:sp>
      <p:sp>
        <p:nvSpPr>
          <p:cNvPr id="19" name="Text 17"/>
          <p:cNvSpPr txBox="1"/>
          <p:nvPr/>
        </p:nvSpPr>
        <p:spPr>
          <a:xfrm>
            <a:off x="2944917" y="3959352"/>
            <a:ext cx="1747053" cy="1280160"/>
          </a:xfrm>
          <a:prstGeom prst="rect">
            <a:avLst/>
          </a:prstGeom>
          <a:noFill/>
          <a:ln/>
        </p:spPr>
        <p:txBody>
          <a:bodyPr wrap="square" lIns="0" tIns="0" rIns="0" bIns="0" rtlCol="0" anchor="ctr"/>
          <a:lstStyle/>
          <a:p>
            <a:pPr indent="0" marL="0">
              <a:lnSpc>
                <a:spcPct val="125000"/>
              </a:lnSpc>
              <a:buNone/>
            </a:pPr>
            <a:r>
              <a:rPr lang="en-US" sz="1050" dirty="0">
                <a:solidFill>
                  <a:srgbClr val="5F6F67"/>
                </a:solidFill>
                <a:latin typeface="Calibri" pitchFamily="34" charset="0"/>
                <a:ea typeface="Calibri" pitchFamily="34" charset="-122"/>
                <a:cs typeface="Calibri" pitchFamily="34" charset="-120"/>
              </a:rPr>
              <a:t>Finance Context · Financial Risk Analysis</a:t>
            </a:r>
            <a:endParaRPr lang="en-US" sz="1050" dirty="0"/>
          </a:p>
        </p:txBody>
      </p:sp>
      <p:sp>
        <p:nvSpPr>
          <p:cNvPr id="20" name="Shape 18"/>
          <p:cNvSpPr/>
          <p:nvPr/>
        </p:nvSpPr>
        <p:spPr>
          <a:xfrm>
            <a:off x="4874849" y="3730752"/>
            <a:ext cx="164592" cy="82296"/>
          </a:xfrm>
          <a:prstGeom prst="rightArrow">
            <a:avLst/>
          </a:prstGeom>
          <a:solidFill>
            <a:srgbClr val="C7CAC5"/>
          </a:solidFill>
          <a:ln/>
        </p:spPr>
      </p:sp>
      <p:sp>
        <p:nvSpPr>
          <p:cNvPr id="21" name="Shape 19"/>
          <p:cNvSpPr/>
          <p:nvPr/>
        </p:nvSpPr>
        <p:spPr>
          <a:xfrm>
            <a:off x="5057729" y="2148840"/>
            <a:ext cx="2076237" cy="3246120"/>
          </a:xfrm>
          <a:prstGeom prst="roundRect">
            <a:avLst>
              <a:gd name="adj" fmla="val 3964"/>
            </a:avLst>
          </a:prstGeom>
          <a:solidFill>
            <a:srgbClr val="FFFFFF"/>
          </a:solidFill>
          <a:ln w="9525">
            <a:solidFill>
              <a:srgbClr val="DDE3DE"/>
            </a:solidFill>
            <a:prstDash val="solid"/>
          </a:ln>
        </p:spPr>
      </p:sp>
      <p:sp>
        <p:nvSpPr>
          <p:cNvPr id="22" name="Shape 20"/>
          <p:cNvSpPr/>
          <p:nvPr/>
        </p:nvSpPr>
        <p:spPr>
          <a:xfrm>
            <a:off x="5222321" y="2331720"/>
            <a:ext cx="384048" cy="384048"/>
          </a:xfrm>
          <a:prstGeom prst="roundRect">
            <a:avLst>
              <a:gd name="adj" fmla="val 19048"/>
            </a:avLst>
          </a:prstGeom>
          <a:solidFill>
            <a:srgbClr val="FFF3D8"/>
          </a:solidFill>
          <a:ln/>
        </p:spPr>
      </p:sp>
      <p:sp>
        <p:nvSpPr>
          <p:cNvPr id="23" name="Text 21"/>
          <p:cNvSpPr txBox="1"/>
          <p:nvPr/>
        </p:nvSpPr>
        <p:spPr>
          <a:xfrm>
            <a:off x="5222321" y="2331720"/>
            <a:ext cx="384048" cy="384048"/>
          </a:xfrm>
          <a:prstGeom prst="rect">
            <a:avLst/>
          </a:prstGeom>
          <a:noFill/>
          <a:ln/>
        </p:spPr>
        <p:txBody>
          <a:bodyPr wrap="square" lIns="0" tIns="0" rIns="0" bIns="0" rtlCol="0" anchor="ctr"/>
          <a:lstStyle/>
          <a:p>
            <a:pPr algn="ctr" indent="0" marL="0">
              <a:buNone/>
            </a:pPr>
            <a:r>
              <a:rPr lang="en-US" sz="1600" b="1" dirty="0">
                <a:solidFill>
                  <a:srgbClr val="9A6415"/>
                </a:solidFill>
                <a:latin typeface="Cambria" pitchFamily="34" charset="0"/>
                <a:ea typeface="Cambria" pitchFamily="34" charset="-122"/>
                <a:cs typeface="Cambria" pitchFamily="34" charset="-120"/>
              </a:rPr>
              <a:t>3</a:t>
            </a:r>
            <a:endParaRPr lang="en-US" sz="1600" dirty="0"/>
          </a:p>
        </p:txBody>
      </p:sp>
      <p:sp>
        <p:nvSpPr>
          <p:cNvPr id="24" name="Text 22"/>
          <p:cNvSpPr txBox="1"/>
          <p:nvPr/>
        </p:nvSpPr>
        <p:spPr>
          <a:xfrm>
            <a:off x="5222321" y="2862072"/>
            <a:ext cx="1747053" cy="685800"/>
          </a:xfrm>
          <a:prstGeom prst="rect">
            <a:avLst/>
          </a:prstGeom>
          <a:noFill/>
          <a:ln/>
        </p:spPr>
        <p:txBody>
          <a:bodyPr wrap="square" lIns="0" tIns="0" rIns="0" bIns="0" rtlCol="0" anchor="ctr"/>
          <a:lstStyle/>
          <a:p>
            <a:pPr indent="0" marL="0">
              <a:lnSpc>
                <a:spcPct val="105000"/>
              </a:lnSpc>
              <a:buNone/>
            </a:pPr>
            <a:r>
              <a:rPr lang="en-US" sz="1300" b="1" dirty="0">
                <a:solidFill>
                  <a:srgbClr val="16221D"/>
                </a:solidFill>
                <a:latin typeface="Calibri" pitchFamily="34" charset="0"/>
                <a:ea typeface="Calibri" pitchFamily="34" charset="-122"/>
                <a:cs typeface="Calibri" pitchFamily="34" charset="-120"/>
              </a:rPr>
              <a:t>DECIDE</a:t>
            </a:r>
            <a:endParaRPr lang="en-US" sz="1300" dirty="0"/>
          </a:p>
        </p:txBody>
      </p:sp>
      <p:sp>
        <p:nvSpPr>
          <p:cNvPr id="25" name="Text 23"/>
          <p:cNvSpPr txBox="1"/>
          <p:nvPr/>
        </p:nvSpPr>
        <p:spPr>
          <a:xfrm>
            <a:off x="5222321" y="3520440"/>
            <a:ext cx="1747053" cy="256032"/>
          </a:xfrm>
          <a:prstGeom prst="rect">
            <a:avLst/>
          </a:prstGeom>
          <a:noFill/>
          <a:ln/>
        </p:spPr>
        <p:txBody>
          <a:bodyPr wrap="square" lIns="0" tIns="0" rIns="0" bIns="0" rtlCol="0" anchor="ctr"/>
          <a:lstStyle/>
          <a:p>
            <a:pPr indent="0" marL="0">
              <a:buNone/>
            </a:pPr>
            <a:r>
              <a:rPr lang="en-US" sz="1000" b="1" dirty="0">
                <a:solidFill>
                  <a:srgbClr val="9A6415"/>
                </a:solidFill>
                <a:latin typeface="Calibri" pitchFamily="34" charset="0"/>
                <a:ea typeface="Calibri" pitchFamily="34" charset="-122"/>
                <a:cs typeface="Calibri" pitchFamily="34" charset="-120"/>
              </a:rPr>
              <a:t>Stages 6–7</a:t>
            </a:r>
            <a:endParaRPr lang="en-US" sz="1000" dirty="0"/>
          </a:p>
        </p:txBody>
      </p:sp>
      <p:sp>
        <p:nvSpPr>
          <p:cNvPr id="26" name="Shape 24"/>
          <p:cNvSpPr/>
          <p:nvPr/>
        </p:nvSpPr>
        <p:spPr>
          <a:xfrm>
            <a:off x="5222321" y="3849624"/>
            <a:ext cx="1747053" cy="0"/>
          </a:xfrm>
          <a:prstGeom prst="line">
            <a:avLst/>
          </a:prstGeom>
          <a:noFill/>
          <a:ln w="12700">
            <a:solidFill>
              <a:srgbClr val="E7E9E4"/>
            </a:solidFill>
            <a:prstDash val="solid"/>
          </a:ln>
        </p:spPr>
      </p:sp>
      <p:sp>
        <p:nvSpPr>
          <p:cNvPr id="27" name="Text 25"/>
          <p:cNvSpPr txBox="1"/>
          <p:nvPr/>
        </p:nvSpPr>
        <p:spPr>
          <a:xfrm>
            <a:off x="5222321" y="3959352"/>
            <a:ext cx="1747053" cy="1280160"/>
          </a:xfrm>
          <a:prstGeom prst="rect">
            <a:avLst/>
          </a:prstGeom>
          <a:noFill/>
          <a:ln/>
        </p:spPr>
        <p:txBody>
          <a:bodyPr wrap="square" lIns="0" tIns="0" rIns="0" bIns="0" rtlCol="0" anchor="ctr"/>
          <a:lstStyle/>
          <a:p>
            <a:pPr indent="0" marL="0">
              <a:lnSpc>
                <a:spcPct val="125000"/>
              </a:lnSpc>
              <a:buNone/>
            </a:pPr>
            <a:r>
              <a:rPr lang="en-US" sz="1050" dirty="0">
                <a:solidFill>
                  <a:srgbClr val="5F6F67"/>
                </a:solidFill>
                <a:latin typeface="Calibri" pitchFamily="34" charset="0"/>
                <a:ea typeface="Calibri" pitchFamily="34" charset="-122"/>
                <a:cs typeface="Calibri" pitchFamily="34" charset="-120"/>
              </a:rPr>
              <a:t>Policy &amp; Decision · Approval</a:t>
            </a:r>
            <a:endParaRPr lang="en-US" sz="1050" dirty="0"/>
          </a:p>
        </p:txBody>
      </p:sp>
      <p:sp>
        <p:nvSpPr>
          <p:cNvPr id="28" name="Shape 26"/>
          <p:cNvSpPr/>
          <p:nvPr/>
        </p:nvSpPr>
        <p:spPr>
          <a:xfrm>
            <a:off x="7152254" y="3730752"/>
            <a:ext cx="164592" cy="82296"/>
          </a:xfrm>
          <a:prstGeom prst="rightArrow">
            <a:avLst/>
          </a:prstGeom>
          <a:solidFill>
            <a:srgbClr val="C7CAC5"/>
          </a:solidFill>
          <a:ln/>
        </p:spPr>
      </p:sp>
      <p:sp>
        <p:nvSpPr>
          <p:cNvPr id="29" name="Shape 27"/>
          <p:cNvSpPr/>
          <p:nvPr/>
        </p:nvSpPr>
        <p:spPr>
          <a:xfrm>
            <a:off x="7335134" y="2148840"/>
            <a:ext cx="2076237" cy="3246120"/>
          </a:xfrm>
          <a:prstGeom prst="roundRect">
            <a:avLst>
              <a:gd name="adj" fmla="val 3964"/>
            </a:avLst>
          </a:prstGeom>
          <a:solidFill>
            <a:srgbClr val="FFFFFF"/>
          </a:solidFill>
          <a:ln w="9525">
            <a:solidFill>
              <a:srgbClr val="DDE3DE"/>
            </a:solidFill>
            <a:prstDash val="solid"/>
          </a:ln>
        </p:spPr>
      </p:sp>
      <p:sp>
        <p:nvSpPr>
          <p:cNvPr id="30" name="Shape 28"/>
          <p:cNvSpPr/>
          <p:nvPr/>
        </p:nvSpPr>
        <p:spPr>
          <a:xfrm>
            <a:off x="7499726" y="2331720"/>
            <a:ext cx="384048" cy="384048"/>
          </a:xfrm>
          <a:prstGeom prst="roundRect">
            <a:avLst>
              <a:gd name="adj" fmla="val 19048"/>
            </a:avLst>
          </a:prstGeom>
          <a:solidFill>
            <a:srgbClr val="E7F3EB"/>
          </a:solidFill>
          <a:ln/>
        </p:spPr>
      </p:sp>
      <p:sp>
        <p:nvSpPr>
          <p:cNvPr id="31" name="Text 29"/>
          <p:cNvSpPr txBox="1"/>
          <p:nvPr/>
        </p:nvSpPr>
        <p:spPr>
          <a:xfrm>
            <a:off x="7499726" y="2331720"/>
            <a:ext cx="384048" cy="384048"/>
          </a:xfrm>
          <a:prstGeom prst="rect">
            <a:avLst/>
          </a:prstGeom>
          <a:noFill/>
          <a:ln/>
        </p:spPr>
        <p:txBody>
          <a:bodyPr wrap="square" lIns="0" tIns="0" rIns="0" bIns="0" rtlCol="0" anchor="ctr"/>
          <a:lstStyle/>
          <a:p>
            <a:pPr algn="ctr" indent="0" marL="0">
              <a:buNone/>
            </a:pPr>
            <a:r>
              <a:rPr lang="en-US" sz="1600" b="1" dirty="0">
                <a:solidFill>
                  <a:srgbClr val="173F2E"/>
                </a:solidFill>
                <a:latin typeface="Cambria" pitchFamily="34" charset="0"/>
                <a:ea typeface="Cambria" pitchFamily="34" charset="-122"/>
                <a:cs typeface="Cambria" pitchFamily="34" charset="-120"/>
              </a:rPr>
              <a:t>4</a:t>
            </a:r>
            <a:endParaRPr lang="en-US" sz="1600" dirty="0"/>
          </a:p>
        </p:txBody>
      </p:sp>
      <p:sp>
        <p:nvSpPr>
          <p:cNvPr id="32" name="Text 30"/>
          <p:cNvSpPr txBox="1"/>
          <p:nvPr/>
        </p:nvSpPr>
        <p:spPr>
          <a:xfrm>
            <a:off x="7499726" y="2862072"/>
            <a:ext cx="1747053" cy="685800"/>
          </a:xfrm>
          <a:prstGeom prst="rect">
            <a:avLst/>
          </a:prstGeom>
          <a:noFill/>
          <a:ln/>
        </p:spPr>
        <p:txBody>
          <a:bodyPr wrap="square" lIns="0" tIns="0" rIns="0" bIns="0" rtlCol="0" anchor="ctr"/>
          <a:lstStyle/>
          <a:p>
            <a:pPr indent="0" marL="0">
              <a:lnSpc>
                <a:spcPct val="105000"/>
              </a:lnSpc>
              <a:buNone/>
            </a:pPr>
            <a:r>
              <a:rPr lang="en-US" sz="1300" b="1" dirty="0">
                <a:solidFill>
                  <a:srgbClr val="16221D"/>
                </a:solidFill>
                <a:latin typeface="Calibri" pitchFamily="34" charset="0"/>
                <a:ea typeface="Calibri" pitchFamily="34" charset="-122"/>
                <a:cs typeface="Calibri" pitchFamily="34" charset="-120"/>
              </a:rPr>
              <a:t>CONTROL &amp; RECORD</a:t>
            </a:r>
            <a:endParaRPr lang="en-US" sz="1300" dirty="0"/>
          </a:p>
        </p:txBody>
      </p:sp>
      <p:sp>
        <p:nvSpPr>
          <p:cNvPr id="33" name="Text 31"/>
          <p:cNvSpPr txBox="1"/>
          <p:nvPr/>
        </p:nvSpPr>
        <p:spPr>
          <a:xfrm>
            <a:off x="7499726" y="3520440"/>
            <a:ext cx="1747053" cy="256032"/>
          </a:xfrm>
          <a:prstGeom prst="rect">
            <a:avLst/>
          </a:prstGeom>
          <a:noFill/>
          <a:ln/>
        </p:spPr>
        <p:txBody>
          <a:bodyPr wrap="square" lIns="0" tIns="0" rIns="0" bIns="0" rtlCol="0" anchor="ctr"/>
          <a:lstStyle/>
          <a:p>
            <a:pPr indent="0" marL="0">
              <a:buNone/>
            </a:pPr>
            <a:r>
              <a:rPr lang="en-US" sz="1000" b="1" dirty="0">
                <a:solidFill>
                  <a:srgbClr val="173F2E"/>
                </a:solidFill>
                <a:latin typeface="Calibri" pitchFamily="34" charset="0"/>
                <a:ea typeface="Calibri" pitchFamily="34" charset="-122"/>
                <a:cs typeface="Calibri" pitchFamily="34" charset="-120"/>
              </a:rPr>
              <a:t>Stages 8–10</a:t>
            </a:r>
            <a:endParaRPr lang="en-US" sz="1000" dirty="0"/>
          </a:p>
        </p:txBody>
      </p:sp>
      <p:sp>
        <p:nvSpPr>
          <p:cNvPr id="34" name="Shape 32"/>
          <p:cNvSpPr/>
          <p:nvPr/>
        </p:nvSpPr>
        <p:spPr>
          <a:xfrm>
            <a:off x="7499726" y="3849624"/>
            <a:ext cx="1747053" cy="0"/>
          </a:xfrm>
          <a:prstGeom prst="line">
            <a:avLst/>
          </a:prstGeom>
          <a:noFill/>
          <a:ln w="12700">
            <a:solidFill>
              <a:srgbClr val="E7E9E4"/>
            </a:solidFill>
            <a:prstDash val="solid"/>
          </a:ln>
        </p:spPr>
      </p:sp>
      <p:sp>
        <p:nvSpPr>
          <p:cNvPr id="35" name="Text 33"/>
          <p:cNvSpPr txBox="1"/>
          <p:nvPr/>
        </p:nvSpPr>
        <p:spPr>
          <a:xfrm>
            <a:off x="7499726" y="3959352"/>
            <a:ext cx="1747053" cy="1280160"/>
          </a:xfrm>
          <a:prstGeom prst="rect">
            <a:avLst/>
          </a:prstGeom>
          <a:noFill/>
          <a:ln/>
        </p:spPr>
        <p:txBody>
          <a:bodyPr wrap="square" lIns="0" tIns="0" rIns="0" bIns="0" rtlCol="0" anchor="ctr"/>
          <a:lstStyle/>
          <a:p>
            <a:pPr indent="0" marL="0">
              <a:lnSpc>
                <a:spcPct val="125000"/>
              </a:lnSpc>
              <a:buNone/>
            </a:pPr>
            <a:r>
              <a:rPr lang="en-US" sz="1050" dirty="0">
                <a:solidFill>
                  <a:srgbClr val="5F6F67"/>
                </a:solidFill>
                <a:latin typeface="Calibri" pitchFamily="34" charset="0"/>
                <a:ea typeface="Calibri" pitchFamily="34" charset="-122"/>
                <a:cs typeface="Calibri" pitchFamily="34" charset="-120"/>
              </a:rPr>
              <a:t>Final Finance Control · Payment Processing · Payment Record</a:t>
            </a:r>
            <a:endParaRPr lang="en-US" sz="1050" dirty="0"/>
          </a:p>
        </p:txBody>
      </p:sp>
      <p:sp>
        <p:nvSpPr>
          <p:cNvPr id="36" name="Shape 34"/>
          <p:cNvSpPr/>
          <p:nvPr/>
        </p:nvSpPr>
        <p:spPr>
          <a:xfrm>
            <a:off x="9429659" y="3730752"/>
            <a:ext cx="164592" cy="82296"/>
          </a:xfrm>
          <a:prstGeom prst="rightArrow">
            <a:avLst/>
          </a:prstGeom>
          <a:solidFill>
            <a:srgbClr val="C7CAC5"/>
          </a:solidFill>
          <a:ln/>
        </p:spPr>
      </p:sp>
      <p:sp>
        <p:nvSpPr>
          <p:cNvPr id="37" name="Shape 35"/>
          <p:cNvSpPr/>
          <p:nvPr/>
        </p:nvSpPr>
        <p:spPr>
          <a:xfrm>
            <a:off x="9612539" y="2148840"/>
            <a:ext cx="2076237" cy="3246120"/>
          </a:xfrm>
          <a:prstGeom prst="roundRect">
            <a:avLst>
              <a:gd name="adj" fmla="val 3964"/>
            </a:avLst>
          </a:prstGeom>
          <a:solidFill>
            <a:srgbClr val="FFFFFF"/>
          </a:solidFill>
          <a:ln w="9525">
            <a:solidFill>
              <a:srgbClr val="DDE3DE"/>
            </a:solidFill>
            <a:prstDash val="solid"/>
          </a:ln>
        </p:spPr>
      </p:sp>
      <p:sp>
        <p:nvSpPr>
          <p:cNvPr id="38" name="Shape 36"/>
          <p:cNvSpPr/>
          <p:nvPr/>
        </p:nvSpPr>
        <p:spPr>
          <a:xfrm>
            <a:off x="9777131" y="2331720"/>
            <a:ext cx="384048" cy="384048"/>
          </a:xfrm>
          <a:prstGeom prst="roundRect">
            <a:avLst>
              <a:gd name="adj" fmla="val 19048"/>
            </a:avLst>
          </a:prstGeom>
          <a:solidFill>
            <a:srgbClr val="E7F3EB"/>
          </a:solidFill>
          <a:ln/>
        </p:spPr>
      </p:sp>
      <p:sp>
        <p:nvSpPr>
          <p:cNvPr id="39" name="Text 37"/>
          <p:cNvSpPr txBox="1"/>
          <p:nvPr/>
        </p:nvSpPr>
        <p:spPr>
          <a:xfrm>
            <a:off x="9777131" y="2331720"/>
            <a:ext cx="384048" cy="384048"/>
          </a:xfrm>
          <a:prstGeom prst="rect">
            <a:avLst/>
          </a:prstGeom>
          <a:noFill/>
          <a:ln/>
        </p:spPr>
        <p:txBody>
          <a:bodyPr wrap="square" lIns="0" tIns="0" rIns="0" bIns="0" rtlCol="0" anchor="ctr"/>
          <a:lstStyle/>
          <a:p>
            <a:pPr algn="ctr" indent="0" marL="0">
              <a:buNone/>
            </a:pPr>
            <a:r>
              <a:rPr lang="en-US" sz="1600" b="1" dirty="0">
                <a:solidFill>
                  <a:srgbClr val="24784C"/>
                </a:solidFill>
                <a:latin typeface="Cambria" pitchFamily="34" charset="0"/>
                <a:ea typeface="Cambria" pitchFamily="34" charset="-122"/>
                <a:cs typeface="Cambria" pitchFamily="34" charset="-120"/>
              </a:rPr>
              <a:t>5</a:t>
            </a:r>
            <a:endParaRPr lang="en-US" sz="1600" dirty="0"/>
          </a:p>
        </p:txBody>
      </p:sp>
      <p:sp>
        <p:nvSpPr>
          <p:cNvPr id="40" name="Text 38"/>
          <p:cNvSpPr txBox="1"/>
          <p:nvPr/>
        </p:nvSpPr>
        <p:spPr>
          <a:xfrm>
            <a:off x="9777131" y="2862072"/>
            <a:ext cx="1747053" cy="685800"/>
          </a:xfrm>
          <a:prstGeom prst="rect">
            <a:avLst/>
          </a:prstGeom>
          <a:noFill/>
          <a:ln/>
        </p:spPr>
        <p:txBody>
          <a:bodyPr wrap="square" lIns="0" tIns="0" rIns="0" bIns="0" rtlCol="0" anchor="ctr"/>
          <a:lstStyle/>
          <a:p>
            <a:pPr indent="0" marL="0">
              <a:lnSpc>
                <a:spcPct val="105000"/>
              </a:lnSpc>
              <a:buNone/>
            </a:pPr>
            <a:r>
              <a:rPr lang="en-US" sz="1300" b="1" dirty="0">
                <a:solidFill>
                  <a:srgbClr val="16221D"/>
                </a:solidFill>
                <a:latin typeface="Calibri" pitchFamily="34" charset="0"/>
                <a:ea typeface="Calibri" pitchFamily="34" charset="-122"/>
                <a:cs typeface="Calibri" pitchFamily="34" charset="-120"/>
              </a:rPr>
              <a:t>VISIBILITY &amp; INTELLIGENCE</a:t>
            </a:r>
            <a:endParaRPr lang="en-US" sz="1300" dirty="0"/>
          </a:p>
        </p:txBody>
      </p:sp>
      <p:sp>
        <p:nvSpPr>
          <p:cNvPr id="41" name="Text 39"/>
          <p:cNvSpPr txBox="1"/>
          <p:nvPr/>
        </p:nvSpPr>
        <p:spPr>
          <a:xfrm>
            <a:off x="9777131" y="3520440"/>
            <a:ext cx="1747053" cy="256032"/>
          </a:xfrm>
          <a:prstGeom prst="rect">
            <a:avLst/>
          </a:prstGeom>
          <a:noFill/>
          <a:ln/>
        </p:spPr>
        <p:txBody>
          <a:bodyPr wrap="square" lIns="0" tIns="0" rIns="0" bIns="0" rtlCol="0" anchor="ctr"/>
          <a:lstStyle/>
          <a:p>
            <a:pPr indent="0" marL="0">
              <a:buNone/>
            </a:pPr>
            <a:r>
              <a:rPr lang="en-US" sz="1000" b="1" dirty="0">
                <a:solidFill>
                  <a:srgbClr val="24784C"/>
                </a:solidFill>
                <a:latin typeface="Calibri" pitchFamily="34" charset="0"/>
                <a:ea typeface="Calibri" pitchFamily="34" charset="-122"/>
                <a:cs typeface="Calibri" pitchFamily="34" charset="-120"/>
              </a:rPr>
              <a:t>Stages 11–12</a:t>
            </a:r>
            <a:endParaRPr lang="en-US" sz="1000" dirty="0"/>
          </a:p>
        </p:txBody>
      </p:sp>
      <p:sp>
        <p:nvSpPr>
          <p:cNvPr id="42" name="Shape 40"/>
          <p:cNvSpPr/>
          <p:nvPr/>
        </p:nvSpPr>
        <p:spPr>
          <a:xfrm>
            <a:off x="9777131" y="3849624"/>
            <a:ext cx="1747053" cy="0"/>
          </a:xfrm>
          <a:prstGeom prst="line">
            <a:avLst/>
          </a:prstGeom>
          <a:noFill/>
          <a:ln w="12700">
            <a:solidFill>
              <a:srgbClr val="E7E9E4"/>
            </a:solidFill>
            <a:prstDash val="solid"/>
          </a:ln>
        </p:spPr>
      </p:sp>
      <p:sp>
        <p:nvSpPr>
          <p:cNvPr id="43" name="Text 41"/>
          <p:cNvSpPr txBox="1"/>
          <p:nvPr/>
        </p:nvSpPr>
        <p:spPr>
          <a:xfrm>
            <a:off x="9777131" y="3959352"/>
            <a:ext cx="1747053" cy="1280160"/>
          </a:xfrm>
          <a:prstGeom prst="rect">
            <a:avLst/>
          </a:prstGeom>
          <a:noFill/>
          <a:ln/>
        </p:spPr>
        <p:txBody>
          <a:bodyPr wrap="square" lIns="0" tIns="0" rIns="0" bIns="0" rtlCol="0" anchor="ctr"/>
          <a:lstStyle/>
          <a:p>
            <a:pPr indent="0" marL="0">
              <a:lnSpc>
                <a:spcPct val="125000"/>
              </a:lnSpc>
              <a:buNone/>
            </a:pPr>
            <a:r>
              <a:rPr lang="en-US" sz="1050" dirty="0">
                <a:solidFill>
                  <a:srgbClr val="5F6F67"/>
                </a:solidFill>
                <a:latin typeface="Calibri" pitchFamily="34" charset="0"/>
                <a:ea typeface="Calibri" pitchFamily="34" charset="-122"/>
                <a:cs typeface="Calibri" pitchFamily="34" charset="-120"/>
              </a:rPr>
              <a:t>Finance Dashboard · AI Finance Intelligence</a:t>
            </a:r>
            <a:endParaRPr lang="en-US" sz="1050" dirty="0"/>
          </a:p>
        </p:txBody>
      </p:sp>
      <p:sp>
        <p:nvSpPr>
          <p:cNvPr id="44" name="Text 42"/>
          <p:cNvSpPr txBox="1"/>
          <p:nvPr/>
        </p:nvSpPr>
        <p:spPr>
          <a:xfrm>
            <a:off x="502920" y="6537960"/>
            <a:ext cx="7315200" cy="256032"/>
          </a:xfrm>
          <a:prstGeom prst="rect">
            <a:avLst/>
          </a:prstGeom>
          <a:noFill/>
          <a:ln/>
        </p:spPr>
        <p:txBody>
          <a:bodyPr wrap="square" lIns="0" tIns="0" rIns="0" bIns="0" rtlCol="0" anchor="ctr"/>
          <a:lstStyle/>
          <a:p>
            <a:pPr indent="0" marL="0">
              <a:buNone/>
            </a:pPr>
            <a:r>
              <a:rPr lang="en-US" sz="900" dirty="0">
                <a:solidFill>
                  <a:srgbClr val="5F6F67"/>
                </a:solidFill>
                <a:latin typeface="Calibri" pitchFamily="34" charset="0"/>
                <a:ea typeface="Calibri" pitchFamily="34" charset="-122"/>
                <a:cs typeface="Calibri" pitchFamily="34" charset="-120"/>
              </a:rPr>
              <a:t>AIMS · AI-Powered Payment &amp; Finance Control</a:t>
            </a:r>
            <a:endParaRPr lang="en-US" sz="900" dirty="0"/>
          </a:p>
        </p:txBody>
      </p:sp>
      <p:sp>
        <p:nvSpPr>
          <p:cNvPr id="45" name="Text 43"/>
          <p:cNvSpPr txBox="1"/>
          <p:nvPr/>
        </p:nvSpPr>
        <p:spPr>
          <a:xfrm>
            <a:off x="11140135" y="6537960"/>
            <a:ext cx="548640" cy="256032"/>
          </a:xfrm>
          <a:prstGeom prst="rect">
            <a:avLst/>
          </a:prstGeom>
          <a:noFill/>
          <a:ln/>
        </p:spPr>
        <p:txBody>
          <a:bodyPr wrap="square" lIns="0" tIns="0" rIns="0" bIns="0" rtlCol="0" anchor="ctr"/>
          <a:lstStyle/>
          <a:p>
            <a:pPr algn="r" indent="0" marL="0">
              <a:buNone/>
            </a:pPr>
            <a:r>
              <a:rPr lang="en-US" sz="900" dirty="0">
                <a:solidFill>
                  <a:srgbClr val="5F6F67"/>
                </a:solidFill>
                <a:latin typeface="Calibri" pitchFamily="34" charset="0"/>
                <a:ea typeface="Calibri" pitchFamily="34" charset="-122"/>
                <a:cs typeface="Calibri" pitchFamily="34" charset="-120"/>
              </a:rPr>
              <a:t>04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6F3"/>
        </a:solidFill>
      </p:bgPr>
    </p:bg>
    <p:spTree>
      <p:nvGrpSpPr>
        <p:cNvPr id="1" name=""/>
        <p:cNvGrpSpPr/>
        <p:nvPr/>
      </p:nvGrpSpPr>
      <p:grpSpPr>
        <a:xfrm>
          <a:off x="0" y="0"/>
          <a:ext cx="0" cy="0"/>
          <a:chOff x="0" y="0"/>
          <a:chExt cx="0" cy="0"/>
        </a:xfrm>
      </p:grpSpPr>
      <p:sp>
        <p:nvSpPr>
          <p:cNvPr id="2" name="Text 0"/>
          <p:cNvSpPr txBox="1"/>
          <p:nvPr/>
        </p:nvSpPr>
        <p:spPr>
          <a:xfrm>
            <a:off x="502920" y="384048"/>
            <a:ext cx="11185855" cy="274320"/>
          </a:xfrm>
          <a:prstGeom prst="rect">
            <a:avLst/>
          </a:prstGeom>
          <a:noFill/>
          <a:ln/>
        </p:spPr>
        <p:txBody>
          <a:bodyPr wrap="square" lIns="0" tIns="0" rIns="0" bIns="0" rtlCol="0" anchor="ctr"/>
          <a:lstStyle/>
          <a:p>
            <a:pPr indent="0" marL="0">
              <a:buNone/>
            </a:pPr>
            <a:r>
              <a:rPr lang="en-US" sz="1100" b="1" spc="200" kern="0" dirty="0">
                <a:solidFill>
                  <a:srgbClr val="5F6F67"/>
                </a:solidFill>
                <a:latin typeface="Calibri" pitchFamily="34" charset="0"/>
                <a:ea typeface="Calibri" pitchFamily="34" charset="-122"/>
                <a:cs typeface="Calibri" pitchFamily="34" charset="-120"/>
              </a:rPr>
              <a:t>04 · AI + FINANCIAL TRUTH</a:t>
            </a:r>
            <a:endParaRPr lang="en-US" sz="1100" dirty="0"/>
          </a:p>
        </p:txBody>
      </p:sp>
      <p:sp>
        <p:nvSpPr>
          <p:cNvPr id="3" name="Text 1"/>
          <p:cNvSpPr txBox="1"/>
          <p:nvPr/>
        </p:nvSpPr>
        <p:spPr>
          <a:xfrm>
            <a:off x="502920" y="658368"/>
            <a:ext cx="11185855" cy="822960"/>
          </a:xfrm>
          <a:prstGeom prst="rect">
            <a:avLst/>
          </a:prstGeom>
          <a:noFill/>
          <a:ln/>
        </p:spPr>
        <p:txBody>
          <a:bodyPr wrap="square" lIns="0" tIns="0" rIns="0" bIns="0" rtlCol="0" anchor="ctr"/>
          <a:lstStyle/>
          <a:p>
            <a:pPr algn="l" indent="0" marL="0">
              <a:lnSpc>
                <a:spcPct val="102000"/>
              </a:lnSpc>
              <a:buNone/>
            </a:pPr>
            <a:r>
              <a:rPr lang="en-US" sz="3000" b="1" dirty="0">
                <a:solidFill>
                  <a:srgbClr val="16221D"/>
                </a:solidFill>
                <a:latin typeface="Cambria" pitchFamily="34" charset="0"/>
                <a:ea typeface="Cambria" pitchFamily="34" charset="-122"/>
                <a:cs typeface="Cambria" pitchFamily="34" charset="-120"/>
              </a:rPr>
              <a:t>AI interprets. The system calculates.</a:t>
            </a:r>
            <a:endParaRPr lang="en-US" sz="3000" dirty="0"/>
          </a:p>
        </p:txBody>
      </p:sp>
      <p:sp>
        <p:nvSpPr>
          <p:cNvPr id="4" name="Shape 2"/>
          <p:cNvSpPr/>
          <p:nvPr/>
        </p:nvSpPr>
        <p:spPr>
          <a:xfrm>
            <a:off x="502920" y="1874520"/>
            <a:ext cx="5410048" cy="2651760"/>
          </a:xfrm>
          <a:prstGeom prst="roundRect">
            <a:avLst>
              <a:gd name="adj" fmla="val 3103"/>
            </a:avLst>
          </a:prstGeom>
          <a:solidFill>
            <a:srgbClr val="F2EEF9"/>
          </a:solidFill>
          <a:ln w="9525">
            <a:solidFill>
              <a:srgbClr val="F2EEF9"/>
            </a:solidFill>
            <a:prstDash val="solid"/>
          </a:ln>
        </p:spPr>
      </p:sp>
      <p:sp>
        <p:nvSpPr>
          <p:cNvPr id="5" name="Shape 3"/>
          <p:cNvSpPr/>
          <p:nvPr/>
        </p:nvSpPr>
        <p:spPr>
          <a:xfrm>
            <a:off x="777240" y="2130552"/>
            <a:ext cx="2286000" cy="365760"/>
          </a:xfrm>
          <a:prstGeom prst="roundRect">
            <a:avLst>
              <a:gd name="adj" fmla="val 50000"/>
            </a:avLst>
          </a:prstGeom>
          <a:solidFill>
            <a:srgbClr val="6D51A8"/>
          </a:solidFill>
          <a:ln/>
        </p:spPr>
      </p:sp>
      <p:sp>
        <p:nvSpPr>
          <p:cNvPr id="6" name="Text 4"/>
          <p:cNvSpPr txBox="1"/>
          <p:nvPr/>
        </p:nvSpPr>
        <p:spPr>
          <a:xfrm>
            <a:off x="777240" y="2130552"/>
            <a:ext cx="2286000" cy="365760"/>
          </a:xfrm>
          <a:prstGeom prst="rect">
            <a:avLst/>
          </a:prstGeom>
          <a:noFill/>
          <a:ln/>
        </p:spPr>
        <p:txBody>
          <a:bodyPr wrap="square" lIns="0" tIns="0" rIns="0" bIns="0" rtlCol="0" anchor="ctr"/>
          <a:lstStyle/>
          <a:p>
            <a:pPr algn="ctr" indent="0" marL="0">
              <a:buNone/>
            </a:pPr>
            <a:r>
              <a:rPr lang="en-US" sz="1050" b="1" spc="50" kern="0" dirty="0">
                <a:solidFill>
                  <a:srgbClr val="FFFFFF"/>
                </a:solidFill>
                <a:latin typeface="Calibri" pitchFamily="34" charset="0"/>
                <a:ea typeface="Calibri" pitchFamily="34" charset="-122"/>
                <a:cs typeface="Calibri" pitchFamily="34" charset="-120"/>
              </a:rPr>
              <a:t>AI INTERPRETATION</a:t>
            </a:r>
            <a:endParaRPr lang="en-US" sz="1050" dirty="0"/>
          </a:p>
        </p:txBody>
      </p:sp>
      <p:sp>
        <p:nvSpPr>
          <p:cNvPr id="7" name="Text 5"/>
          <p:cNvSpPr txBox="1"/>
          <p:nvPr/>
        </p:nvSpPr>
        <p:spPr>
          <a:xfrm>
            <a:off x="777240" y="2697480"/>
            <a:ext cx="4861408" cy="1645920"/>
          </a:xfrm>
          <a:prstGeom prst="rect">
            <a:avLst/>
          </a:prstGeom>
          <a:noFill/>
          <a:ln/>
        </p:spPr>
        <p:txBody>
          <a:bodyPr wrap="square" lIns="0" tIns="0" rIns="0" bIns="0" rtlCol="0" anchor="ctr"/>
          <a:lstStyle/>
          <a:p>
            <a:pPr marL="342900" indent="-342900">
              <a:spcAft>
                <a:spcPts val="1000"/>
              </a:spcAft>
              <a:buSzPct val="100000"/>
              <a:buChar char="–"/>
            </a:pPr>
            <a:r>
              <a:rPr lang="en-US" sz="1300" dirty="0">
                <a:solidFill>
                  <a:srgbClr val="16221D"/>
                </a:solidFill>
                <a:latin typeface="Calibri" pitchFamily="34" charset="0"/>
                <a:ea typeface="Calibri" pitchFamily="34" charset="-122"/>
                <a:cs typeface="Calibri" pitchFamily="34" charset="-120"/>
              </a:rPr>
              <a:t>Document understanding</a:t>
            </a:r>
            <a:endParaRPr lang="en-US" sz="1300" dirty="0"/>
          </a:p>
          <a:p>
            <a:pPr marL="342900" indent="-342900">
              <a:spcAft>
                <a:spcPts val="1000"/>
              </a:spcAft>
              <a:buSzPct val="100000"/>
              <a:buChar char="–"/>
            </a:pPr>
            <a:r>
              <a:rPr lang="en-US" sz="1300" dirty="0">
                <a:solidFill>
                  <a:srgbClr val="16221D"/>
                </a:solidFill>
                <a:latin typeface="Calibri" pitchFamily="34" charset="0"/>
                <a:ea typeface="Calibri" pitchFamily="34" charset="-122"/>
                <a:cs typeface="Calibri" pitchFamily="34" charset="-120"/>
              </a:rPr>
              <a:t>Financial risk signals</a:t>
            </a:r>
            <a:endParaRPr lang="en-US" sz="1300" dirty="0"/>
          </a:p>
          <a:p>
            <a:pPr marL="342900" indent="-342900">
              <a:spcAft>
                <a:spcPts val="1000"/>
              </a:spcAft>
              <a:buSzPct val="100000"/>
              <a:buChar char="–"/>
            </a:pPr>
            <a:r>
              <a:rPr lang="en-US" sz="1300" dirty="0">
                <a:solidFill>
                  <a:srgbClr val="16221D"/>
                </a:solidFill>
                <a:latin typeface="Calibri" pitchFamily="34" charset="0"/>
                <a:ea typeface="Calibri" pitchFamily="34" charset="-122"/>
                <a:cs typeface="Calibri" pitchFamily="34" charset="-120"/>
              </a:rPr>
              <a:t>Spending patterns</a:t>
            </a:r>
            <a:endParaRPr lang="en-US" sz="1300" dirty="0"/>
          </a:p>
          <a:p>
            <a:pPr marL="342900" indent="-342900">
              <a:spcAft>
                <a:spcPts val="1000"/>
              </a:spcAft>
              <a:buSzPct val="100000"/>
              <a:buChar char="–"/>
            </a:pPr>
            <a:r>
              <a:rPr lang="en-US" sz="1300" dirty="0">
                <a:solidFill>
                  <a:srgbClr val="16221D"/>
                </a:solidFill>
                <a:latin typeface="Calibri" pitchFamily="34" charset="0"/>
                <a:ea typeface="Calibri" pitchFamily="34" charset="-122"/>
                <a:cs typeface="Calibri" pitchFamily="34" charset="-120"/>
              </a:rPr>
              <a:t>Compliance indicators</a:t>
            </a:r>
            <a:endParaRPr lang="en-US" sz="1300" dirty="0"/>
          </a:p>
          <a:p>
            <a:pPr marL="342900" indent="-342900">
              <a:spcAft>
                <a:spcPts val="1000"/>
              </a:spcAft>
              <a:buSzPct val="100000"/>
              <a:buChar char="–"/>
            </a:pPr>
            <a:r>
              <a:rPr lang="en-US" sz="1300" dirty="0">
                <a:solidFill>
                  <a:srgbClr val="16221D"/>
                </a:solidFill>
                <a:latin typeface="Calibri" pitchFamily="34" charset="0"/>
                <a:ea typeface="Calibri" pitchFamily="34" charset="-122"/>
                <a:cs typeface="Calibri" pitchFamily="34" charset="-120"/>
              </a:rPr>
              <a:t>Plain-language explanation</a:t>
            </a:r>
            <a:endParaRPr lang="en-US" sz="1300" dirty="0"/>
          </a:p>
        </p:txBody>
      </p:sp>
      <p:sp>
        <p:nvSpPr>
          <p:cNvPr id="8" name="Shape 6"/>
          <p:cNvSpPr/>
          <p:nvPr/>
        </p:nvSpPr>
        <p:spPr>
          <a:xfrm>
            <a:off x="6278728" y="1874520"/>
            <a:ext cx="5410048" cy="2651760"/>
          </a:xfrm>
          <a:prstGeom prst="roundRect">
            <a:avLst>
              <a:gd name="adj" fmla="val 3103"/>
            </a:avLst>
          </a:prstGeom>
          <a:solidFill>
            <a:srgbClr val="E7F3EB"/>
          </a:solidFill>
          <a:ln w="9525">
            <a:solidFill>
              <a:srgbClr val="E7F3EB"/>
            </a:solidFill>
            <a:prstDash val="solid"/>
          </a:ln>
        </p:spPr>
      </p:sp>
      <p:sp>
        <p:nvSpPr>
          <p:cNvPr id="9" name="Shape 7"/>
          <p:cNvSpPr/>
          <p:nvPr/>
        </p:nvSpPr>
        <p:spPr>
          <a:xfrm>
            <a:off x="6553048" y="2130552"/>
            <a:ext cx="2377440" cy="365760"/>
          </a:xfrm>
          <a:prstGeom prst="roundRect">
            <a:avLst>
              <a:gd name="adj" fmla="val 50000"/>
            </a:avLst>
          </a:prstGeom>
          <a:solidFill>
            <a:srgbClr val="173F2E"/>
          </a:solidFill>
          <a:ln/>
        </p:spPr>
      </p:sp>
      <p:sp>
        <p:nvSpPr>
          <p:cNvPr id="10" name="Text 8"/>
          <p:cNvSpPr txBox="1"/>
          <p:nvPr/>
        </p:nvSpPr>
        <p:spPr>
          <a:xfrm>
            <a:off x="6553048" y="2130552"/>
            <a:ext cx="2377440" cy="365760"/>
          </a:xfrm>
          <a:prstGeom prst="rect">
            <a:avLst/>
          </a:prstGeom>
          <a:noFill/>
          <a:ln/>
        </p:spPr>
        <p:txBody>
          <a:bodyPr wrap="square" lIns="0" tIns="0" rIns="0" bIns="0" rtlCol="0" anchor="ctr"/>
          <a:lstStyle/>
          <a:p>
            <a:pPr algn="ctr" indent="0" marL="0">
              <a:buNone/>
            </a:pPr>
            <a:r>
              <a:rPr lang="en-US" sz="1050" b="1" spc="50" kern="0" dirty="0">
                <a:solidFill>
                  <a:srgbClr val="FFFFFF"/>
                </a:solidFill>
                <a:latin typeface="Calibri" pitchFamily="34" charset="0"/>
                <a:ea typeface="Calibri" pitchFamily="34" charset="-122"/>
                <a:cs typeface="Calibri" pitchFamily="34" charset="-120"/>
              </a:rPr>
              <a:t>SYSTEM CALCULATED</a:t>
            </a:r>
            <a:endParaRPr lang="en-US" sz="1050" dirty="0"/>
          </a:p>
        </p:txBody>
      </p:sp>
      <p:sp>
        <p:nvSpPr>
          <p:cNvPr id="11" name="Text 9"/>
          <p:cNvSpPr txBox="1"/>
          <p:nvPr/>
        </p:nvSpPr>
        <p:spPr>
          <a:xfrm>
            <a:off x="6553048" y="2697480"/>
            <a:ext cx="4861408" cy="1645920"/>
          </a:xfrm>
          <a:prstGeom prst="rect">
            <a:avLst/>
          </a:prstGeom>
          <a:noFill/>
          <a:ln/>
        </p:spPr>
        <p:txBody>
          <a:bodyPr wrap="square" lIns="0" tIns="0" rIns="0" bIns="0" rtlCol="0" anchor="ctr"/>
          <a:lstStyle/>
          <a:p>
            <a:pPr marL="342900" indent="-342900">
              <a:spcAft>
                <a:spcPts val="1000"/>
              </a:spcAft>
              <a:buSzPct val="100000"/>
              <a:buChar char="–"/>
            </a:pPr>
            <a:r>
              <a:rPr lang="en-US" sz="1300" dirty="0">
                <a:solidFill>
                  <a:srgbClr val="16221D"/>
                </a:solidFill>
                <a:latin typeface="Calibri" pitchFamily="34" charset="0"/>
                <a:ea typeface="Calibri" pitchFamily="34" charset="-122"/>
                <a:cs typeface="Calibri" pitchFamily="34" charset="-120"/>
              </a:rPr>
              <a:t>Active budget</a:t>
            </a:r>
            <a:endParaRPr lang="en-US" sz="1300" dirty="0"/>
          </a:p>
          <a:p>
            <a:pPr marL="342900" indent="-342900">
              <a:spcAft>
                <a:spcPts val="1000"/>
              </a:spcAft>
              <a:buSzPct val="100000"/>
              <a:buChar char="–"/>
            </a:pPr>
            <a:r>
              <a:rPr lang="en-US" sz="1300" dirty="0">
                <a:solidFill>
                  <a:srgbClr val="16221D"/>
                </a:solidFill>
                <a:latin typeface="Calibri" pitchFamily="34" charset="0"/>
                <a:ea typeface="Calibri" pitchFamily="34" charset="-122"/>
                <a:cs typeface="Calibri" pitchFamily="34" charset="-120"/>
              </a:rPr>
              <a:t>Actual ledger</a:t>
            </a:r>
            <a:endParaRPr lang="en-US" sz="1300" dirty="0"/>
          </a:p>
          <a:p>
            <a:pPr marL="342900" indent="-342900">
              <a:spcAft>
                <a:spcPts val="1000"/>
              </a:spcAft>
              <a:buSzPct val="100000"/>
              <a:buChar char="–"/>
            </a:pPr>
            <a:r>
              <a:rPr lang="en-US" sz="1300" dirty="0">
                <a:solidFill>
                  <a:srgbClr val="16221D"/>
                </a:solidFill>
                <a:latin typeface="Calibri" pitchFamily="34" charset="0"/>
                <a:ea typeface="Calibri" pitchFamily="34" charset="-122"/>
                <a:cs typeface="Calibri" pitchFamily="34" charset="-120"/>
              </a:rPr>
              <a:t>Active commitments</a:t>
            </a:r>
            <a:endParaRPr lang="en-US" sz="1300" dirty="0"/>
          </a:p>
          <a:p>
            <a:pPr marL="342900" indent="-342900">
              <a:spcAft>
                <a:spcPts val="1000"/>
              </a:spcAft>
              <a:buSzPct val="100000"/>
              <a:buChar char="–"/>
            </a:pPr>
            <a:r>
              <a:rPr lang="en-US" sz="1300" dirty="0">
                <a:solidFill>
                  <a:srgbClr val="16221D"/>
                </a:solidFill>
                <a:latin typeface="Calibri" pitchFamily="34" charset="0"/>
                <a:ea typeface="Calibri" pitchFamily="34" charset="-122"/>
                <a:cs typeface="Calibri" pitchFamily="34" charset="-120"/>
              </a:rPr>
              <a:t>Available position</a:t>
            </a:r>
            <a:endParaRPr lang="en-US" sz="1300" dirty="0"/>
          </a:p>
          <a:p>
            <a:pPr marL="342900" indent="-342900">
              <a:spcAft>
                <a:spcPts val="1000"/>
              </a:spcAft>
              <a:buSzPct val="100000"/>
              <a:buChar char="–"/>
            </a:pPr>
            <a:r>
              <a:rPr lang="en-US" sz="1300" dirty="0">
                <a:solidFill>
                  <a:srgbClr val="16221D"/>
                </a:solidFill>
                <a:latin typeface="Calibri" pitchFamily="34" charset="0"/>
                <a:ea typeface="Calibri" pitchFamily="34" charset="-122"/>
                <a:cs typeface="Calibri" pitchFamily="34" charset="-120"/>
              </a:rPr>
              <a:t>Ledger impact on payment</a:t>
            </a:r>
            <a:endParaRPr lang="en-US" sz="1300" dirty="0"/>
          </a:p>
        </p:txBody>
      </p:sp>
      <p:sp>
        <p:nvSpPr>
          <p:cNvPr id="12" name="Shape 10"/>
          <p:cNvSpPr/>
          <p:nvPr/>
        </p:nvSpPr>
        <p:spPr>
          <a:xfrm>
            <a:off x="502920" y="4846320"/>
            <a:ext cx="11185855" cy="960120"/>
          </a:xfrm>
          <a:prstGeom prst="roundRect">
            <a:avLst>
              <a:gd name="adj" fmla="val 8571"/>
            </a:avLst>
          </a:prstGeom>
          <a:solidFill>
            <a:srgbClr val="10231B"/>
          </a:solidFill>
          <a:ln w="9525">
            <a:solidFill>
              <a:srgbClr val="10231B"/>
            </a:solidFill>
            <a:prstDash val="solid"/>
          </a:ln>
        </p:spPr>
      </p:sp>
      <p:sp>
        <p:nvSpPr>
          <p:cNvPr id="13" name="Text 11"/>
          <p:cNvSpPr txBox="1"/>
          <p:nvPr/>
        </p:nvSpPr>
        <p:spPr>
          <a:xfrm>
            <a:off x="502920" y="4846320"/>
            <a:ext cx="11185855" cy="96012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Available</a:t>
            </a:r>
            <a:pPr algn="ctr" indent="0" marL="0">
              <a:buNone/>
            </a:pPr>
            <a:r>
              <a:rPr lang="en-US" sz="2200" dirty="0">
                <a:solidFill>
                  <a:srgbClr val="CFE0D5"/>
                </a:solidFill>
                <a:latin typeface="Cambria" pitchFamily="34" charset="0"/>
                <a:ea typeface="Cambria" pitchFamily="34" charset="-122"/>
                <a:cs typeface="Cambria" pitchFamily="34" charset="-120"/>
              </a:rPr>
              <a:t>  =  Active Budget  −  Actual Ledger  −  Active Commitments</a:t>
            </a:r>
            <a:endParaRPr lang="en-US" sz="2200" dirty="0"/>
          </a:p>
        </p:txBody>
      </p:sp>
      <p:sp>
        <p:nvSpPr>
          <p:cNvPr id="14" name="Text 12"/>
          <p:cNvSpPr txBox="1"/>
          <p:nvPr/>
        </p:nvSpPr>
        <p:spPr>
          <a:xfrm>
            <a:off x="502920" y="6537960"/>
            <a:ext cx="7315200" cy="256032"/>
          </a:xfrm>
          <a:prstGeom prst="rect">
            <a:avLst/>
          </a:prstGeom>
          <a:noFill/>
          <a:ln/>
        </p:spPr>
        <p:txBody>
          <a:bodyPr wrap="square" lIns="0" tIns="0" rIns="0" bIns="0" rtlCol="0" anchor="ctr"/>
          <a:lstStyle/>
          <a:p>
            <a:pPr indent="0" marL="0">
              <a:buNone/>
            </a:pPr>
            <a:r>
              <a:rPr lang="en-US" sz="900" dirty="0">
                <a:solidFill>
                  <a:srgbClr val="5F6F67"/>
                </a:solidFill>
                <a:latin typeface="Calibri" pitchFamily="34" charset="0"/>
                <a:ea typeface="Calibri" pitchFamily="34" charset="-122"/>
                <a:cs typeface="Calibri" pitchFamily="34" charset="-120"/>
              </a:rPr>
              <a:t>AIMS · AI-Powered Payment &amp; Finance Control</a:t>
            </a:r>
            <a:endParaRPr lang="en-US" sz="900" dirty="0"/>
          </a:p>
        </p:txBody>
      </p:sp>
      <p:sp>
        <p:nvSpPr>
          <p:cNvPr id="15" name="Text 13"/>
          <p:cNvSpPr txBox="1"/>
          <p:nvPr/>
        </p:nvSpPr>
        <p:spPr>
          <a:xfrm>
            <a:off x="11140135" y="6537960"/>
            <a:ext cx="548640" cy="256032"/>
          </a:xfrm>
          <a:prstGeom prst="rect">
            <a:avLst/>
          </a:prstGeom>
          <a:noFill/>
          <a:ln/>
        </p:spPr>
        <p:txBody>
          <a:bodyPr wrap="square" lIns="0" tIns="0" rIns="0" bIns="0" rtlCol="0" anchor="ctr"/>
          <a:lstStyle/>
          <a:p>
            <a:pPr algn="r" indent="0" marL="0">
              <a:buNone/>
            </a:pPr>
            <a:r>
              <a:rPr lang="en-US" sz="900" dirty="0">
                <a:solidFill>
                  <a:srgbClr val="5F6F67"/>
                </a:solidFill>
                <a:latin typeface="Calibri" pitchFamily="34" charset="0"/>
                <a:ea typeface="Calibri" pitchFamily="34" charset="-122"/>
                <a:cs typeface="Calibri" pitchFamily="34" charset="-120"/>
              </a:rPr>
              <a:t>05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6F3"/>
        </a:solidFill>
      </p:bgPr>
    </p:bg>
    <p:spTree>
      <p:nvGrpSpPr>
        <p:cNvPr id="1" name=""/>
        <p:cNvGrpSpPr/>
        <p:nvPr/>
      </p:nvGrpSpPr>
      <p:grpSpPr>
        <a:xfrm>
          <a:off x="0" y="0"/>
          <a:ext cx="0" cy="0"/>
          <a:chOff x="0" y="0"/>
          <a:chExt cx="0" cy="0"/>
        </a:xfrm>
      </p:grpSpPr>
      <p:sp>
        <p:nvSpPr>
          <p:cNvPr id="2" name="Text 0"/>
          <p:cNvSpPr txBox="1"/>
          <p:nvPr/>
        </p:nvSpPr>
        <p:spPr>
          <a:xfrm>
            <a:off x="502920" y="384048"/>
            <a:ext cx="11185855" cy="274320"/>
          </a:xfrm>
          <a:prstGeom prst="rect">
            <a:avLst/>
          </a:prstGeom>
          <a:noFill/>
          <a:ln/>
        </p:spPr>
        <p:txBody>
          <a:bodyPr wrap="square" lIns="0" tIns="0" rIns="0" bIns="0" rtlCol="0" anchor="ctr"/>
          <a:lstStyle/>
          <a:p>
            <a:pPr indent="0" marL="0">
              <a:buNone/>
            </a:pPr>
            <a:r>
              <a:rPr lang="en-US" sz="1100" b="1" spc="200" kern="0" dirty="0">
                <a:solidFill>
                  <a:srgbClr val="5F6F67"/>
                </a:solidFill>
                <a:latin typeface="Calibri" pitchFamily="34" charset="0"/>
                <a:ea typeface="Calibri" pitchFamily="34" charset="-122"/>
                <a:cs typeface="Calibri" pitchFamily="34" charset="-120"/>
              </a:rPr>
              <a:t>05 · MULTI-AGENT FINANCIAL ANALYSIS</a:t>
            </a:r>
            <a:endParaRPr lang="en-US" sz="1100" dirty="0"/>
          </a:p>
        </p:txBody>
      </p:sp>
      <p:sp>
        <p:nvSpPr>
          <p:cNvPr id="3" name="Text 1"/>
          <p:cNvSpPr txBox="1"/>
          <p:nvPr/>
        </p:nvSpPr>
        <p:spPr>
          <a:xfrm>
            <a:off x="502920" y="658368"/>
            <a:ext cx="11185855" cy="822960"/>
          </a:xfrm>
          <a:prstGeom prst="rect">
            <a:avLst/>
          </a:prstGeom>
          <a:noFill/>
          <a:ln/>
        </p:spPr>
        <p:txBody>
          <a:bodyPr wrap="square" lIns="0" tIns="0" rIns="0" bIns="0" rtlCol="0" anchor="ctr"/>
          <a:lstStyle/>
          <a:p>
            <a:pPr algn="l" indent="0" marL="0">
              <a:lnSpc>
                <a:spcPct val="102000"/>
              </a:lnSpc>
              <a:buNone/>
            </a:pPr>
            <a:r>
              <a:rPr lang="en-US" sz="2600" b="1" dirty="0">
                <a:solidFill>
                  <a:srgbClr val="16221D"/>
                </a:solidFill>
                <a:latin typeface="Cambria" pitchFamily="34" charset="0"/>
                <a:ea typeface="Cambria" pitchFamily="34" charset="-122"/>
                <a:cs typeface="Cambria" pitchFamily="34" charset="-120"/>
              </a:rPr>
              <a:t>Multiple perspectives. One evidence-backed assessment.</a:t>
            </a:r>
            <a:endParaRPr lang="en-US" sz="2600" dirty="0"/>
          </a:p>
        </p:txBody>
      </p:sp>
      <p:sp>
        <p:nvSpPr>
          <p:cNvPr id="4" name="Text 2"/>
          <p:cNvSpPr txBox="1"/>
          <p:nvPr/>
        </p:nvSpPr>
        <p:spPr>
          <a:xfrm>
            <a:off x="502920" y="1325880"/>
            <a:ext cx="11185855" cy="457200"/>
          </a:xfrm>
          <a:prstGeom prst="rect">
            <a:avLst/>
          </a:prstGeom>
          <a:noFill/>
          <a:ln/>
        </p:spPr>
        <p:txBody>
          <a:bodyPr wrap="square" lIns="0" tIns="0" rIns="0" bIns="0" rtlCol="0" anchor="ctr"/>
          <a:lstStyle/>
          <a:p>
            <a:pPr indent="0" marL="0">
              <a:buNone/>
            </a:pPr>
            <a:r>
              <a:rPr lang="en-US" sz="1500" dirty="0">
                <a:solidFill>
                  <a:srgbClr val="5F6F67"/>
                </a:solidFill>
                <a:latin typeface="Calibri" pitchFamily="34" charset="0"/>
                <a:ea typeface="Calibri" pitchFamily="34" charset="-122"/>
                <a:cs typeface="Calibri" pitchFamily="34" charset="-120"/>
              </a:rPr>
              <a:t>Human authority remains final.</a:t>
            </a:r>
            <a:endParaRPr lang="en-US" sz="1500" dirty="0"/>
          </a:p>
        </p:txBody>
      </p:sp>
      <p:sp>
        <p:nvSpPr>
          <p:cNvPr id="5" name="Shape 3"/>
          <p:cNvSpPr/>
          <p:nvPr/>
        </p:nvSpPr>
        <p:spPr>
          <a:xfrm>
            <a:off x="975208" y="1965960"/>
            <a:ext cx="3200400" cy="1371600"/>
          </a:xfrm>
          <a:prstGeom prst="roundRect">
            <a:avLst>
              <a:gd name="adj" fmla="val 6000"/>
            </a:avLst>
          </a:prstGeom>
          <a:solidFill>
            <a:srgbClr val="F2EEF9"/>
          </a:solidFill>
          <a:ln w="9525">
            <a:solidFill>
              <a:srgbClr val="F2EEF9"/>
            </a:solidFill>
            <a:prstDash val="solid"/>
          </a:ln>
        </p:spPr>
      </p:sp>
      <p:sp>
        <p:nvSpPr>
          <p:cNvPr id="6" name="Text 4"/>
          <p:cNvSpPr txBox="1"/>
          <p:nvPr/>
        </p:nvSpPr>
        <p:spPr>
          <a:xfrm>
            <a:off x="1203808" y="2148840"/>
            <a:ext cx="2743200" cy="365760"/>
          </a:xfrm>
          <a:prstGeom prst="rect">
            <a:avLst/>
          </a:prstGeom>
          <a:noFill/>
          <a:ln/>
        </p:spPr>
        <p:txBody>
          <a:bodyPr wrap="square" lIns="0" tIns="0" rIns="0" bIns="0" rtlCol="0" anchor="ctr"/>
          <a:lstStyle/>
          <a:p>
            <a:pPr indent="0" marL="0">
              <a:buNone/>
            </a:pPr>
            <a:r>
              <a:rPr lang="en-US" sz="1500" b="1" dirty="0">
                <a:solidFill>
                  <a:srgbClr val="6D51A8"/>
                </a:solidFill>
                <a:latin typeface="Calibri" pitchFamily="34" charset="0"/>
                <a:ea typeface="Calibri" pitchFamily="34" charset="-122"/>
                <a:cs typeface="Calibri" pitchFamily="34" charset="-120"/>
              </a:rPr>
              <a:t>Financial Risk</a:t>
            </a:r>
            <a:endParaRPr lang="en-US" sz="1500" dirty="0"/>
          </a:p>
        </p:txBody>
      </p:sp>
      <p:sp>
        <p:nvSpPr>
          <p:cNvPr id="7" name="Text 5"/>
          <p:cNvSpPr txBox="1"/>
          <p:nvPr/>
        </p:nvSpPr>
        <p:spPr>
          <a:xfrm>
            <a:off x="1203808" y="2569464"/>
            <a:ext cx="2743200" cy="640080"/>
          </a:xfrm>
          <a:prstGeom prst="rect">
            <a:avLst/>
          </a:prstGeom>
          <a:noFill/>
          <a:ln/>
        </p:spPr>
        <p:txBody>
          <a:bodyPr wrap="square" lIns="0" tIns="0" rIns="0" bIns="0" rtlCol="0" anchor="ctr"/>
          <a:lstStyle/>
          <a:p>
            <a:pPr indent="0" marL="0">
              <a:buNone/>
            </a:pPr>
            <a:r>
              <a:rPr lang="en-US" sz="1150" dirty="0">
                <a:solidFill>
                  <a:srgbClr val="16221D"/>
                </a:solidFill>
                <a:latin typeface="Calibri" pitchFamily="34" charset="0"/>
                <a:ea typeface="Calibri" pitchFamily="34" charset="-122"/>
                <a:cs typeface="Calibri" pitchFamily="34" charset="-120"/>
              </a:rPr>
              <a:t>Flags exposure signals</a:t>
            </a:r>
            <a:endParaRPr lang="en-US" sz="1150" dirty="0"/>
          </a:p>
        </p:txBody>
      </p:sp>
      <p:sp>
        <p:nvSpPr>
          <p:cNvPr id="8" name="Shape 6"/>
          <p:cNvSpPr/>
          <p:nvPr/>
        </p:nvSpPr>
        <p:spPr>
          <a:xfrm>
            <a:off x="4495648" y="1965960"/>
            <a:ext cx="3200400" cy="1371600"/>
          </a:xfrm>
          <a:prstGeom prst="roundRect">
            <a:avLst>
              <a:gd name="adj" fmla="val 6000"/>
            </a:avLst>
          </a:prstGeom>
          <a:solidFill>
            <a:srgbClr val="F2EEF9"/>
          </a:solidFill>
          <a:ln w="9525">
            <a:solidFill>
              <a:srgbClr val="F2EEF9"/>
            </a:solidFill>
            <a:prstDash val="solid"/>
          </a:ln>
        </p:spPr>
      </p:sp>
      <p:sp>
        <p:nvSpPr>
          <p:cNvPr id="9" name="Text 7"/>
          <p:cNvSpPr txBox="1"/>
          <p:nvPr/>
        </p:nvSpPr>
        <p:spPr>
          <a:xfrm>
            <a:off x="4724248" y="2148840"/>
            <a:ext cx="2743200" cy="365760"/>
          </a:xfrm>
          <a:prstGeom prst="rect">
            <a:avLst/>
          </a:prstGeom>
          <a:noFill/>
          <a:ln/>
        </p:spPr>
        <p:txBody>
          <a:bodyPr wrap="square" lIns="0" tIns="0" rIns="0" bIns="0" rtlCol="0" anchor="ctr"/>
          <a:lstStyle/>
          <a:p>
            <a:pPr indent="0" marL="0">
              <a:buNone/>
            </a:pPr>
            <a:r>
              <a:rPr lang="en-US" sz="1500" b="1" dirty="0">
                <a:solidFill>
                  <a:srgbClr val="6D51A8"/>
                </a:solidFill>
                <a:latin typeface="Calibri" pitchFamily="34" charset="0"/>
                <a:ea typeface="Calibri" pitchFamily="34" charset="-122"/>
                <a:cs typeface="Calibri" pitchFamily="34" charset="-120"/>
              </a:rPr>
              <a:t>Spending Pattern</a:t>
            </a:r>
            <a:endParaRPr lang="en-US" sz="1500" dirty="0"/>
          </a:p>
        </p:txBody>
      </p:sp>
      <p:sp>
        <p:nvSpPr>
          <p:cNvPr id="10" name="Text 8"/>
          <p:cNvSpPr txBox="1"/>
          <p:nvPr/>
        </p:nvSpPr>
        <p:spPr>
          <a:xfrm>
            <a:off x="4724248" y="2569464"/>
            <a:ext cx="2743200" cy="640080"/>
          </a:xfrm>
          <a:prstGeom prst="rect">
            <a:avLst/>
          </a:prstGeom>
          <a:noFill/>
          <a:ln/>
        </p:spPr>
        <p:txBody>
          <a:bodyPr wrap="square" lIns="0" tIns="0" rIns="0" bIns="0" rtlCol="0" anchor="ctr"/>
          <a:lstStyle/>
          <a:p>
            <a:pPr indent="0" marL="0">
              <a:buNone/>
            </a:pPr>
            <a:r>
              <a:rPr lang="en-US" sz="1150" dirty="0">
                <a:solidFill>
                  <a:srgbClr val="16221D"/>
                </a:solidFill>
                <a:latin typeface="Calibri" pitchFamily="34" charset="0"/>
                <a:ea typeface="Calibri" pitchFamily="34" charset="-122"/>
                <a:cs typeface="Calibri" pitchFamily="34" charset="-120"/>
              </a:rPr>
              <a:t>Surfaces anomalies vs. history</a:t>
            </a:r>
            <a:endParaRPr lang="en-US" sz="1150" dirty="0"/>
          </a:p>
        </p:txBody>
      </p:sp>
      <p:sp>
        <p:nvSpPr>
          <p:cNvPr id="11" name="Shape 9"/>
          <p:cNvSpPr/>
          <p:nvPr/>
        </p:nvSpPr>
        <p:spPr>
          <a:xfrm>
            <a:off x="8016088" y="1965960"/>
            <a:ext cx="3200400" cy="1371600"/>
          </a:xfrm>
          <a:prstGeom prst="roundRect">
            <a:avLst>
              <a:gd name="adj" fmla="val 6000"/>
            </a:avLst>
          </a:prstGeom>
          <a:solidFill>
            <a:srgbClr val="F2EEF9"/>
          </a:solidFill>
          <a:ln w="9525">
            <a:solidFill>
              <a:srgbClr val="F2EEF9"/>
            </a:solidFill>
            <a:prstDash val="solid"/>
          </a:ln>
        </p:spPr>
      </p:sp>
      <p:sp>
        <p:nvSpPr>
          <p:cNvPr id="12" name="Text 10"/>
          <p:cNvSpPr txBox="1"/>
          <p:nvPr/>
        </p:nvSpPr>
        <p:spPr>
          <a:xfrm>
            <a:off x="8244688" y="2148840"/>
            <a:ext cx="2743200" cy="365760"/>
          </a:xfrm>
          <a:prstGeom prst="rect">
            <a:avLst/>
          </a:prstGeom>
          <a:noFill/>
          <a:ln/>
        </p:spPr>
        <p:txBody>
          <a:bodyPr wrap="square" lIns="0" tIns="0" rIns="0" bIns="0" rtlCol="0" anchor="ctr"/>
          <a:lstStyle/>
          <a:p>
            <a:pPr indent="0" marL="0">
              <a:buNone/>
            </a:pPr>
            <a:r>
              <a:rPr lang="en-US" sz="1500" b="1" dirty="0">
                <a:solidFill>
                  <a:srgbClr val="6D51A8"/>
                </a:solidFill>
                <a:latin typeface="Calibri" pitchFamily="34" charset="0"/>
                <a:ea typeface="Calibri" pitchFamily="34" charset="-122"/>
                <a:cs typeface="Calibri" pitchFamily="34" charset="-120"/>
              </a:rPr>
              <a:t>Compliance</a:t>
            </a:r>
            <a:endParaRPr lang="en-US" sz="1500" dirty="0"/>
          </a:p>
        </p:txBody>
      </p:sp>
      <p:sp>
        <p:nvSpPr>
          <p:cNvPr id="13" name="Text 11"/>
          <p:cNvSpPr txBox="1"/>
          <p:nvPr/>
        </p:nvSpPr>
        <p:spPr>
          <a:xfrm>
            <a:off x="8244688" y="2569464"/>
            <a:ext cx="2743200" cy="640080"/>
          </a:xfrm>
          <a:prstGeom prst="rect">
            <a:avLst/>
          </a:prstGeom>
          <a:noFill/>
          <a:ln/>
        </p:spPr>
        <p:txBody>
          <a:bodyPr wrap="square" lIns="0" tIns="0" rIns="0" bIns="0" rtlCol="0" anchor="ctr"/>
          <a:lstStyle/>
          <a:p>
            <a:pPr indent="0" marL="0">
              <a:buNone/>
            </a:pPr>
            <a:r>
              <a:rPr lang="en-US" sz="1150" dirty="0">
                <a:solidFill>
                  <a:srgbClr val="16221D"/>
                </a:solidFill>
                <a:latin typeface="Calibri" pitchFamily="34" charset="0"/>
                <a:ea typeface="Calibri" pitchFamily="34" charset="-122"/>
                <a:cs typeface="Calibri" pitchFamily="34" charset="-120"/>
              </a:rPr>
              <a:t>Checks policy indicators</a:t>
            </a:r>
            <a:endParaRPr lang="en-US" sz="1150" dirty="0"/>
          </a:p>
        </p:txBody>
      </p:sp>
      <p:sp>
        <p:nvSpPr>
          <p:cNvPr id="14" name="Shape 12"/>
          <p:cNvSpPr/>
          <p:nvPr/>
        </p:nvSpPr>
        <p:spPr>
          <a:xfrm>
            <a:off x="5967832" y="3410712"/>
            <a:ext cx="256032" cy="292608"/>
          </a:xfrm>
          <a:prstGeom prst="downArrow">
            <a:avLst/>
          </a:prstGeom>
          <a:solidFill>
            <a:srgbClr val="6D51A8"/>
          </a:solidFill>
          <a:ln/>
        </p:spPr>
      </p:sp>
      <p:sp>
        <p:nvSpPr>
          <p:cNvPr id="15" name="Shape 13"/>
          <p:cNvSpPr/>
          <p:nvPr/>
        </p:nvSpPr>
        <p:spPr>
          <a:xfrm>
            <a:off x="4175608" y="3840480"/>
            <a:ext cx="3840480" cy="777240"/>
          </a:xfrm>
          <a:prstGeom prst="roundRect">
            <a:avLst>
              <a:gd name="adj" fmla="val 10588"/>
            </a:avLst>
          </a:prstGeom>
          <a:solidFill>
            <a:srgbClr val="6D51A8"/>
          </a:solidFill>
          <a:ln w="9525">
            <a:solidFill>
              <a:srgbClr val="6D51A8"/>
            </a:solidFill>
            <a:prstDash val="solid"/>
          </a:ln>
        </p:spPr>
      </p:sp>
      <p:sp>
        <p:nvSpPr>
          <p:cNvPr id="16" name="Text 14"/>
          <p:cNvSpPr txBox="1"/>
          <p:nvPr/>
        </p:nvSpPr>
        <p:spPr>
          <a:xfrm>
            <a:off x="4175608" y="3840480"/>
            <a:ext cx="3840480" cy="77724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AGGREGATOR — evidence-backed assessment</a:t>
            </a:r>
            <a:endParaRPr lang="en-US" sz="1300" dirty="0"/>
          </a:p>
        </p:txBody>
      </p:sp>
      <p:sp>
        <p:nvSpPr>
          <p:cNvPr id="17" name="Shape 15"/>
          <p:cNvSpPr/>
          <p:nvPr/>
        </p:nvSpPr>
        <p:spPr>
          <a:xfrm>
            <a:off x="5967832" y="4690872"/>
            <a:ext cx="256032" cy="292608"/>
          </a:xfrm>
          <a:prstGeom prst="downArrow">
            <a:avLst/>
          </a:prstGeom>
          <a:solidFill>
            <a:srgbClr val="173F2E"/>
          </a:solidFill>
          <a:ln/>
        </p:spPr>
      </p:sp>
      <p:sp>
        <p:nvSpPr>
          <p:cNvPr id="18" name="Shape 16"/>
          <p:cNvSpPr/>
          <p:nvPr/>
        </p:nvSpPr>
        <p:spPr>
          <a:xfrm>
            <a:off x="3718408" y="5120640"/>
            <a:ext cx="4754880" cy="777240"/>
          </a:xfrm>
          <a:prstGeom prst="roundRect">
            <a:avLst>
              <a:gd name="adj" fmla="val 10588"/>
            </a:avLst>
          </a:prstGeom>
          <a:solidFill>
            <a:srgbClr val="173F2E"/>
          </a:solidFill>
          <a:ln w="9525">
            <a:solidFill>
              <a:srgbClr val="173F2E"/>
            </a:solidFill>
            <a:prstDash val="solid"/>
          </a:ln>
        </p:spPr>
      </p:sp>
      <p:sp>
        <p:nvSpPr>
          <p:cNvPr id="19" name="Text 17"/>
          <p:cNvSpPr txBox="1"/>
          <p:nvPr/>
        </p:nvSpPr>
        <p:spPr>
          <a:xfrm>
            <a:off x="3718408" y="5120640"/>
            <a:ext cx="4754880" cy="77724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HUMAN FINAL ASSESSMENT — decision authority</a:t>
            </a:r>
            <a:endParaRPr lang="en-US" sz="1400" dirty="0"/>
          </a:p>
        </p:txBody>
      </p:sp>
      <p:sp>
        <p:nvSpPr>
          <p:cNvPr id="20" name="Text 18"/>
          <p:cNvSpPr txBox="1"/>
          <p:nvPr/>
        </p:nvSpPr>
        <p:spPr>
          <a:xfrm>
            <a:off x="502920" y="6537960"/>
            <a:ext cx="7315200" cy="256032"/>
          </a:xfrm>
          <a:prstGeom prst="rect">
            <a:avLst/>
          </a:prstGeom>
          <a:noFill/>
          <a:ln/>
        </p:spPr>
        <p:txBody>
          <a:bodyPr wrap="square" lIns="0" tIns="0" rIns="0" bIns="0" rtlCol="0" anchor="ctr"/>
          <a:lstStyle/>
          <a:p>
            <a:pPr indent="0" marL="0">
              <a:buNone/>
            </a:pPr>
            <a:r>
              <a:rPr lang="en-US" sz="900" dirty="0">
                <a:solidFill>
                  <a:srgbClr val="5F6F67"/>
                </a:solidFill>
                <a:latin typeface="Calibri" pitchFamily="34" charset="0"/>
                <a:ea typeface="Calibri" pitchFamily="34" charset="-122"/>
                <a:cs typeface="Calibri" pitchFamily="34" charset="-120"/>
              </a:rPr>
              <a:t>AIMS · AI-Powered Payment &amp; Finance Control</a:t>
            </a:r>
            <a:endParaRPr lang="en-US" sz="900" dirty="0"/>
          </a:p>
        </p:txBody>
      </p:sp>
      <p:sp>
        <p:nvSpPr>
          <p:cNvPr id="21" name="Text 19"/>
          <p:cNvSpPr txBox="1"/>
          <p:nvPr/>
        </p:nvSpPr>
        <p:spPr>
          <a:xfrm>
            <a:off x="11140135" y="6537960"/>
            <a:ext cx="548640" cy="256032"/>
          </a:xfrm>
          <a:prstGeom prst="rect">
            <a:avLst/>
          </a:prstGeom>
          <a:noFill/>
          <a:ln/>
        </p:spPr>
        <p:txBody>
          <a:bodyPr wrap="square" lIns="0" tIns="0" rIns="0" bIns="0" rtlCol="0" anchor="ctr"/>
          <a:lstStyle/>
          <a:p>
            <a:pPr algn="r" indent="0" marL="0">
              <a:buNone/>
            </a:pPr>
            <a:r>
              <a:rPr lang="en-US" sz="900" dirty="0">
                <a:solidFill>
                  <a:srgbClr val="5F6F67"/>
                </a:solidFill>
                <a:latin typeface="Calibri" pitchFamily="34" charset="0"/>
                <a:ea typeface="Calibri" pitchFamily="34" charset="-122"/>
                <a:cs typeface="Calibri" pitchFamily="34" charset="-120"/>
              </a:rPr>
              <a:t>06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6F3"/>
        </a:solidFill>
      </p:bgPr>
    </p:bg>
    <p:spTree>
      <p:nvGrpSpPr>
        <p:cNvPr id="1" name=""/>
        <p:cNvGrpSpPr/>
        <p:nvPr/>
      </p:nvGrpSpPr>
      <p:grpSpPr>
        <a:xfrm>
          <a:off x="0" y="0"/>
          <a:ext cx="0" cy="0"/>
          <a:chOff x="0" y="0"/>
          <a:chExt cx="0" cy="0"/>
        </a:xfrm>
      </p:grpSpPr>
      <p:sp>
        <p:nvSpPr>
          <p:cNvPr id="2" name="Text 0"/>
          <p:cNvSpPr txBox="1"/>
          <p:nvPr/>
        </p:nvSpPr>
        <p:spPr>
          <a:xfrm>
            <a:off x="502920" y="384048"/>
            <a:ext cx="11185855" cy="274320"/>
          </a:xfrm>
          <a:prstGeom prst="rect">
            <a:avLst/>
          </a:prstGeom>
          <a:noFill/>
          <a:ln/>
        </p:spPr>
        <p:txBody>
          <a:bodyPr wrap="square" lIns="0" tIns="0" rIns="0" bIns="0" rtlCol="0" anchor="ctr"/>
          <a:lstStyle/>
          <a:p>
            <a:pPr indent="0" marL="0">
              <a:buNone/>
            </a:pPr>
            <a:r>
              <a:rPr lang="en-US" sz="1100" b="1" spc="200" kern="0" dirty="0">
                <a:solidFill>
                  <a:srgbClr val="5F6F67"/>
                </a:solidFill>
                <a:latin typeface="Calibri" pitchFamily="34" charset="0"/>
                <a:ea typeface="Calibri" pitchFamily="34" charset="-122"/>
                <a:cs typeface="Calibri" pitchFamily="34" charset="-120"/>
              </a:rPr>
              <a:t>06 · HUMAN GOVERNANCE</a:t>
            </a:r>
            <a:endParaRPr lang="en-US" sz="1100" dirty="0"/>
          </a:p>
        </p:txBody>
      </p:sp>
      <p:sp>
        <p:nvSpPr>
          <p:cNvPr id="3" name="Text 1"/>
          <p:cNvSpPr txBox="1"/>
          <p:nvPr/>
        </p:nvSpPr>
        <p:spPr>
          <a:xfrm>
            <a:off x="502920" y="658368"/>
            <a:ext cx="11185855" cy="822960"/>
          </a:xfrm>
          <a:prstGeom prst="rect">
            <a:avLst/>
          </a:prstGeom>
          <a:noFill/>
          <a:ln/>
        </p:spPr>
        <p:txBody>
          <a:bodyPr wrap="square" lIns="0" tIns="0" rIns="0" bIns="0" rtlCol="0" anchor="ctr"/>
          <a:lstStyle/>
          <a:p>
            <a:pPr algn="l" indent="0" marL="0">
              <a:lnSpc>
                <a:spcPct val="102000"/>
              </a:lnSpc>
              <a:buNone/>
            </a:pPr>
            <a:r>
              <a:rPr lang="en-US" sz="2700" b="1" dirty="0">
                <a:solidFill>
                  <a:srgbClr val="16221D"/>
                </a:solidFill>
                <a:latin typeface="Cambria" pitchFamily="34" charset="0"/>
                <a:ea typeface="Cambria" pitchFamily="34" charset="-122"/>
                <a:cs typeface="Cambria" pitchFamily="34" charset="-120"/>
              </a:rPr>
              <a:t>AI assists decisions. Humans retain authority.</a:t>
            </a:r>
            <a:endParaRPr lang="en-US" sz="2700" dirty="0"/>
          </a:p>
        </p:txBody>
      </p:sp>
      <p:sp>
        <p:nvSpPr>
          <p:cNvPr id="4" name="Shape 2"/>
          <p:cNvSpPr/>
          <p:nvPr/>
        </p:nvSpPr>
        <p:spPr>
          <a:xfrm>
            <a:off x="502920" y="1965960"/>
            <a:ext cx="1696669" cy="960120"/>
          </a:xfrm>
          <a:prstGeom prst="roundRect">
            <a:avLst>
              <a:gd name="adj" fmla="val 8571"/>
            </a:avLst>
          </a:prstGeom>
          <a:solidFill>
            <a:srgbClr val="FFFFFF"/>
          </a:solidFill>
          <a:ln w="9525">
            <a:solidFill>
              <a:srgbClr val="DDE3DE"/>
            </a:solidFill>
            <a:prstDash val="solid"/>
          </a:ln>
        </p:spPr>
      </p:sp>
      <p:sp>
        <p:nvSpPr>
          <p:cNvPr id="5" name="Text 3"/>
          <p:cNvSpPr txBox="1"/>
          <p:nvPr/>
        </p:nvSpPr>
        <p:spPr>
          <a:xfrm>
            <a:off x="576072" y="1965960"/>
            <a:ext cx="1550365" cy="960120"/>
          </a:xfrm>
          <a:prstGeom prst="rect">
            <a:avLst/>
          </a:prstGeom>
          <a:noFill/>
          <a:ln/>
        </p:spPr>
        <p:txBody>
          <a:bodyPr wrap="square" lIns="0" tIns="0" rIns="0" bIns="0" rtlCol="0" anchor="ctr"/>
          <a:lstStyle/>
          <a:p>
            <a:pPr algn="ctr" indent="0" marL="0">
              <a:buNone/>
            </a:pPr>
            <a:r>
              <a:rPr lang="en-US" sz="1200" b="1" dirty="0">
                <a:solidFill>
                  <a:srgbClr val="16221D"/>
                </a:solidFill>
                <a:latin typeface="Calibri" pitchFamily="34" charset="0"/>
                <a:ea typeface="Calibri" pitchFamily="34" charset="-122"/>
                <a:cs typeface="Calibri" pitchFamily="34" charset="-120"/>
              </a:rPr>
              <a:t>Requester</a:t>
            </a:r>
            <a:endParaRPr lang="en-US" sz="1200" dirty="0"/>
          </a:p>
        </p:txBody>
      </p:sp>
      <p:sp>
        <p:nvSpPr>
          <p:cNvPr id="6" name="Shape 4"/>
          <p:cNvSpPr/>
          <p:nvPr/>
        </p:nvSpPr>
        <p:spPr>
          <a:xfrm>
            <a:off x="2217877" y="2404872"/>
            <a:ext cx="164592" cy="82296"/>
          </a:xfrm>
          <a:prstGeom prst="rightArrow">
            <a:avLst/>
          </a:prstGeom>
          <a:solidFill>
            <a:srgbClr val="C7CAC5"/>
          </a:solidFill>
          <a:ln/>
        </p:spPr>
      </p:sp>
      <p:sp>
        <p:nvSpPr>
          <p:cNvPr id="7" name="Shape 5"/>
          <p:cNvSpPr/>
          <p:nvPr/>
        </p:nvSpPr>
        <p:spPr>
          <a:xfrm>
            <a:off x="2400757" y="1965960"/>
            <a:ext cx="1696669" cy="960120"/>
          </a:xfrm>
          <a:prstGeom prst="roundRect">
            <a:avLst>
              <a:gd name="adj" fmla="val 8571"/>
            </a:avLst>
          </a:prstGeom>
          <a:solidFill>
            <a:srgbClr val="FFFFFF"/>
          </a:solidFill>
          <a:ln w="9525">
            <a:solidFill>
              <a:srgbClr val="DDE3DE"/>
            </a:solidFill>
            <a:prstDash val="solid"/>
          </a:ln>
        </p:spPr>
      </p:sp>
      <p:sp>
        <p:nvSpPr>
          <p:cNvPr id="8" name="Text 6"/>
          <p:cNvSpPr txBox="1"/>
          <p:nvPr/>
        </p:nvSpPr>
        <p:spPr>
          <a:xfrm>
            <a:off x="2473909" y="1965960"/>
            <a:ext cx="1550365" cy="960120"/>
          </a:xfrm>
          <a:prstGeom prst="rect">
            <a:avLst/>
          </a:prstGeom>
          <a:noFill/>
          <a:ln/>
        </p:spPr>
        <p:txBody>
          <a:bodyPr wrap="square" lIns="0" tIns="0" rIns="0" bIns="0" rtlCol="0" anchor="ctr"/>
          <a:lstStyle/>
          <a:p>
            <a:pPr algn="ctr" indent="0" marL="0">
              <a:buNone/>
            </a:pPr>
            <a:r>
              <a:rPr lang="en-US" sz="1200" b="1" dirty="0">
                <a:solidFill>
                  <a:srgbClr val="16221D"/>
                </a:solidFill>
                <a:latin typeface="Calibri" pitchFamily="34" charset="0"/>
                <a:ea typeface="Calibri" pitchFamily="34" charset="-122"/>
                <a:cs typeface="Calibri" pitchFamily="34" charset="-120"/>
              </a:rPr>
              <a:t>Policy</a:t>
            </a:r>
            <a:endParaRPr lang="en-US" sz="1200" dirty="0"/>
          </a:p>
        </p:txBody>
      </p:sp>
      <p:sp>
        <p:nvSpPr>
          <p:cNvPr id="9" name="Shape 7"/>
          <p:cNvSpPr/>
          <p:nvPr/>
        </p:nvSpPr>
        <p:spPr>
          <a:xfrm>
            <a:off x="4115714" y="2404872"/>
            <a:ext cx="164592" cy="82296"/>
          </a:xfrm>
          <a:prstGeom prst="rightArrow">
            <a:avLst/>
          </a:prstGeom>
          <a:solidFill>
            <a:srgbClr val="C7CAC5"/>
          </a:solidFill>
          <a:ln/>
        </p:spPr>
      </p:sp>
      <p:sp>
        <p:nvSpPr>
          <p:cNvPr id="10" name="Shape 8"/>
          <p:cNvSpPr/>
          <p:nvPr/>
        </p:nvSpPr>
        <p:spPr>
          <a:xfrm>
            <a:off x="4298594" y="1965960"/>
            <a:ext cx="1696669" cy="960120"/>
          </a:xfrm>
          <a:prstGeom prst="roundRect">
            <a:avLst>
              <a:gd name="adj" fmla="val 8571"/>
            </a:avLst>
          </a:prstGeom>
          <a:solidFill>
            <a:srgbClr val="FFFFFF"/>
          </a:solidFill>
          <a:ln w="9525">
            <a:solidFill>
              <a:srgbClr val="DDE3DE"/>
            </a:solidFill>
            <a:prstDash val="solid"/>
          </a:ln>
        </p:spPr>
      </p:sp>
      <p:sp>
        <p:nvSpPr>
          <p:cNvPr id="11" name="Text 9"/>
          <p:cNvSpPr txBox="1"/>
          <p:nvPr/>
        </p:nvSpPr>
        <p:spPr>
          <a:xfrm>
            <a:off x="4371746" y="1965960"/>
            <a:ext cx="1550365" cy="960120"/>
          </a:xfrm>
          <a:prstGeom prst="rect">
            <a:avLst/>
          </a:prstGeom>
          <a:noFill/>
          <a:ln/>
        </p:spPr>
        <p:txBody>
          <a:bodyPr wrap="square" lIns="0" tIns="0" rIns="0" bIns="0" rtlCol="0" anchor="ctr"/>
          <a:lstStyle/>
          <a:p>
            <a:pPr algn="ctr" indent="0" marL="0">
              <a:buNone/>
            </a:pPr>
            <a:r>
              <a:rPr lang="en-US" sz="1200" b="1" dirty="0">
                <a:solidFill>
                  <a:srgbClr val="16221D"/>
                </a:solidFill>
                <a:latin typeface="Calibri" pitchFamily="34" charset="0"/>
                <a:ea typeface="Calibri" pitchFamily="34" charset="-122"/>
                <a:cs typeface="Calibri" pitchFamily="34" charset="-120"/>
              </a:rPr>
              <a:t>Approver</a:t>
            </a:r>
            <a:endParaRPr lang="en-US" sz="1200" dirty="0"/>
          </a:p>
        </p:txBody>
      </p:sp>
      <p:sp>
        <p:nvSpPr>
          <p:cNvPr id="12" name="Shape 10"/>
          <p:cNvSpPr/>
          <p:nvPr/>
        </p:nvSpPr>
        <p:spPr>
          <a:xfrm>
            <a:off x="6013552" y="2404872"/>
            <a:ext cx="164592" cy="82296"/>
          </a:xfrm>
          <a:prstGeom prst="rightArrow">
            <a:avLst/>
          </a:prstGeom>
          <a:solidFill>
            <a:srgbClr val="C7CAC5"/>
          </a:solidFill>
          <a:ln/>
        </p:spPr>
      </p:sp>
      <p:sp>
        <p:nvSpPr>
          <p:cNvPr id="13" name="Shape 11"/>
          <p:cNvSpPr/>
          <p:nvPr/>
        </p:nvSpPr>
        <p:spPr>
          <a:xfrm>
            <a:off x="6196432" y="1965960"/>
            <a:ext cx="1696669" cy="960120"/>
          </a:xfrm>
          <a:prstGeom prst="roundRect">
            <a:avLst>
              <a:gd name="adj" fmla="val 8571"/>
            </a:avLst>
          </a:prstGeom>
          <a:solidFill>
            <a:srgbClr val="173F2E"/>
          </a:solidFill>
          <a:ln w="9525">
            <a:solidFill>
              <a:srgbClr val="173F2E"/>
            </a:solidFill>
            <a:prstDash val="solid"/>
          </a:ln>
        </p:spPr>
      </p:sp>
      <p:sp>
        <p:nvSpPr>
          <p:cNvPr id="14" name="Text 12"/>
          <p:cNvSpPr txBox="1"/>
          <p:nvPr/>
        </p:nvSpPr>
        <p:spPr>
          <a:xfrm>
            <a:off x="6269584" y="1965960"/>
            <a:ext cx="1550365" cy="9601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Final Finance</a:t>
            </a:r>
            <a:endParaRPr lang="en-US" sz="1200" dirty="0"/>
          </a:p>
          <a:p>
            <a:pPr algn="ctr" indent="0" marL="0">
              <a:buNone/>
            </a:pPr>
            <a:r>
              <a:rPr lang="en-US" sz="1200" b="1" dirty="0">
                <a:solidFill>
                  <a:srgbClr val="FFFFFF"/>
                </a:solidFill>
                <a:latin typeface="Calibri" pitchFamily="34" charset="0"/>
                <a:ea typeface="Calibri" pitchFamily="34" charset="-122"/>
                <a:cs typeface="Calibri" pitchFamily="34" charset="-120"/>
              </a:rPr>
              <a:t>Control</a:t>
            </a:r>
            <a:endParaRPr lang="en-US" sz="1200" dirty="0"/>
          </a:p>
        </p:txBody>
      </p:sp>
      <p:sp>
        <p:nvSpPr>
          <p:cNvPr id="15" name="Shape 13"/>
          <p:cNvSpPr/>
          <p:nvPr/>
        </p:nvSpPr>
        <p:spPr>
          <a:xfrm>
            <a:off x="7911389" y="2404872"/>
            <a:ext cx="164592" cy="82296"/>
          </a:xfrm>
          <a:prstGeom prst="rightArrow">
            <a:avLst/>
          </a:prstGeom>
          <a:solidFill>
            <a:srgbClr val="C7CAC5"/>
          </a:solidFill>
          <a:ln/>
        </p:spPr>
      </p:sp>
      <p:sp>
        <p:nvSpPr>
          <p:cNvPr id="16" name="Shape 14"/>
          <p:cNvSpPr/>
          <p:nvPr/>
        </p:nvSpPr>
        <p:spPr>
          <a:xfrm>
            <a:off x="8094269" y="1965960"/>
            <a:ext cx="1696669" cy="960120"/>
          </a:xfrm>
          <a:prstGeom prst="roundRect">
            <a:avLst>
              <a:gd name="adj" fmla="val 8571"/>
            </a:avLst>
          </a:prstGeom>
          <a:solidFill>
            <a:srgbClr val="FFFFFF"/>
          </a:solidFill>
          <a:ln w="9525">
            <a:solidFill>
              <a:srgbClr val="DDE3DE"/>
            </a:solidFill>
            <a:prstDash val="solid"/>
          </a:ln>
        </p:spPr>
      </p:sp>
      <p:sp>
        <p:nvSpPr>
          <p:cNvPr id="17" name="Text 15"/>
          <p:cNvSpPr txBox="1"/>
          <p:nvPr/>
        </p:nvSpPr>
        <p:spPr>
          <a:xfrm>
            <a:off x="8167421" y="1965960"/>
            <a:ext cx="1550365" cy="960120"/>
          </a:xfrm>
          <a:prstGeom prst="rect">
            <a:avLst/>
          </a:prstGeom>
          <a:noFill/>
          <a:ln/>
        </p:spPr>
        <p:txBody>
          <a:bodyPr wrap="square" lIns="0" tIns="0" rIns="0" bIns="0" rtlCol="0" anchor="ctr"/>
          <a:lstStyle/>
          <a:p>
            <a:pPr algn="ctr" indent="0" marL="0">
              <a:buNone/>
            </a:pPr>
            <a:r>
              <a:rPr lang="en-US" sz="1200" b="1" dirty="0">
                <a:solidFill>
                  <a:srgbClr val="16221D"/>
                </a:solidFill>
                <a:latin typeface="Calibri" pitchFamily="34" charset="0"/>
                <a:ea typeface="Calibri" pitchFamily="34" charset="-122"/>
                <a:cs typeface="Calibri" pitchFamily="34" charset="-120"/>
              </a:rPr>
              <a:t>External</a:t>
            </a:r>
            <a:endParaRPr lang="en-US" sz="1200" dirty="0"/>
          </a:p>
          <a:p>
            <a:pPr algn="ctr" indent="0" marL="0">
              <a:buNone/>
            </a:pPr>
            <a:r>
              <a:rPr lang="en-US" sz="1200" b="1" dirty="0">
                <a:solidFill>
                  <a:srgbClr val="16221D"/>
                </a:solidFill>
                <a:latin typeface="Calibri" pitchFamily="34" charset="0"/>
                <a:ea typeface="Calibri" pitchFamily="34" charset="-122"/>
                <a:cs typeface="Calibri" pitchFamily="34" charset="-120"/>
              </a:rPr>
              <a:t>Payment</a:t>
            </a:r>
            <a:endParaRPr lang="en-US" sz="1200" dirty="0"/>
          </a:p>
        </p:txBody>
      </p:sp>
      <p:sp>
        <p:nvSpPr>
          <p:cNvPr id="18" name="Shape 16"/>
          <p:cNvSpPr/>
          <p:nvPr/>
        </p:nvSpPr>
        <p:spPr>
          <a:xfrm>
            <a:off x="9809226" y="2404872"/>
            <a:ext cx="164592" cy="82296"/>
          </a:xfrm>
          <a:prstGeom prst="rightArrow">
            <a:avLst/>
          </a:prstGeom>
          <a:solidFill>
            <a:srgbClr val="C7CAC5"/>
          </a:solidFill>
          <a:ln/>
        </p:spPr>
      </p:sp>
      <p:sp>
        <p:nvSpPr>
          <p:cNvPr id="19" name="Shape 17"/>
          <p:cNvSpPr/>
          <p:nvPr/>
        </p:nvSpPr>
        <p:spPr>
          <a:xfrm>
            <a:off x="9992106" y="1965960"/>
            <a:ext cx="1696669" cy="960120"/>
          </a:xfrm>
          <a:prstGeom prst="roundRect">
            <a:avLst>
              <a:gd name="adj" fmla="val 8571"/>
            </a:avLst>
          </a:prstGeom>
          <a:solidFill>
            <a:srgbClr val="FFFFFF"/>
          </a:solidFill>
          <a:ln w="9525">
            <a:solidFill>
              <a:srgbClr val="DDE3DE"/>
            </a:solidFill>
            <a:prstDash val="solid"/>
          </a:ln>
        </p:spPr>
      </p:sp>
      <p:sp>
        <p:nvSpPr>
          <p:cNvPr id="20" name="Text 18"/>
          <p:cNvSpPr txBox="1"/>
          <p:nvPr/>
        </p:nvSpPr>
        <p:spPr>
          <a:xfrm>
            <a:off x="10065258" y="1965960"/>
            <a:ext cx="1550365" cy="960120"/>
          </a:xfrm>
          <a:prstGeom prst="rect">
            <a:avLst/>
          </a:prstGeom>
          <a:noFill/>
          <a:ln/>
        </p:spPr>
        <p:txBody>
          <a:bodyPr wrap="square" lIns="0" tIns="0" rIns="0" bIns="0" rtlCol="0" anchor="ctr"/>
          <a:lstStyle/>
          <a:p>
            <a:pPr algn="ctr" indent="0" marL="0">
              <a:buNone/>
            </a:pPr>
            <a:r>
              <a:rPr lang="en-US" sz="1200" b="1" dirty="0">
                <a:solidFill>
                  <a:srgbClr val="16221D"/>
                </a:solidFill>
                <a:latin typeface="Calibri" pitchFamily="34" charset="0"/>
                <a:ea typeface="Calibri" pitchFamily="34" charset="-122"/>
                <a:cs typeface="Calibri" pitchFamily="34" charset="-120"/>
              </a:rPr>
              <a:t>AIMS</a:t>
            </a:r>
            <a:endParaRPr lang="en-US" sz="1200" dirty="0"/>
          </a:p>
          <a:p>
            <a:pPr algn="ctr" indent="0" marL="0">
              <a:buNone/>
            </a:pPr>
            <a:r>
              <a:rPr lang="en-US" sz="1200" b="1" dirty="0">
                <a:solidFill>
                  <a:srgbClr val="16221D"/>
                </a:solidFill>
                <a:latin typeface="Calibri" pitchFamily="34" charset="0"/>
                <a:ea typeface="Calibri" pitchFamily="34" charset="-122"/>
                <a:cs typeface="Calibri" pitchFamily="34" charset="-120"/>
              </a:rPr>
              <a:t>Record</a:t>
            </a:r>
            <a:endParaRPr lang="en-US" sz="1200" dirty="0"/>
          </a:p>
        </p:txBody>
      </p:sp>
      <p:sp>
        <p:nvSpPr>
          <p:cNvPr id="21" name="Shape 19"/>
          <p:cNvSpPr/>
          <p:nvPr/>
        </p:nvSpPr>
        <p:spPr>
          <a:xfrm>
            <a:off x="502920" y="3246120"/>
            <a:ext cx="5455768" cy="868680"/>
          </a:xfrm>
          <a:prstGeom prst="roundRect">
            <a:avLst>
              <a:gd name="adj" fmla="val 9474"/>
            </a:avLst>
          </a:prstGeom>
          <a:solidFill>
            <a:srgbClr val="FAE9E7"/>
          </a:solidFill>
          <a:ln w="9525">
            <a:solidFill>
              <a:srgbClr val="FAE9E7"/>
            </a:solidFill>
            <a:prstDash val="solid"/>
          </a:ln>
        </p:spPr>
      </p:sp>
      <p:sp>
        <p:nvSpPr>
          <p:cNvPr id="22" name="Text 20"/>
          <p:cNvSpPr txBox="1"/>
          <p:nvPr/>
        </p:nvSpPr>
        <p:spPr>
          <a:xfrm>
            <a:off x="502920" y="3246120"/>
            <a:ext cx="5455768" cy="868680"/>
          </a:xfrm>
          <a:prstGeom prst="rect">
            <a:avLst/>
          </a:prstGeom>
          <a:noFill/>
          <a:ln/>
        </p:spPr>
        <p:txBody>
          <a:bodyPr wrap="square" lIns="0" tIns="0" rIns="0" bIns="0" rtlCol="0" anchor="ctr"/>
          <a:lstStyle/>
          <a:p>
            <a:pPr algn="ctr" indent="0" marL="0">
              <a:buNone/>
            </a:pPr>
            <a:r>
              <a:rPr lang="en-US" sz="1800" b="1" dirty="0">
                <a:solidFill>
                  <a:srgbClr val="AD4038"/>
                </a:solidFill>
                <a:latin typeface="Cambria" pitchFamily="34" charset="0"/>
                <a:ea typeface="Cambria" pitchFamily="34" charset="-122"/>
                <a:cs typeface="Cambria" pitchFamily="34" charset="-120"/>
              </a:rPr>
              <a:t>APPROVED ≠ READY FOR PAYMENT</a:t>
            </a:r>
            <a:endParaRPr lang="en-US" sz="1800" dirty="0"/>
          </a:p>
        </p:txBody>
      </p:sp>
      <p:sp>
        <p:nvSpPr>
          <p:cNvPr id="23" name="Shape 21"/>
          <p:cNvSpPr/>
          <p:nvPr/>
        </p:nvSpPr>
        <p:spPr>
          <a:xfrm>
            <a:off x="6233008" y="3246120"/>
            <a:ext cx="5455768" cy="868680"/>
          </a:xfrm>
          <a:prstGeom prst="roundRect">
            <a:avLst>
              <a:gd name="adj" fmla="val 9474"/>
            </a:avLst>
          </a:prstGeom>
          <a:solidFill>
            <a:srgbClr val="F2EEF9"/>
          </a:solidFill>
          <a:ln w="9525">
            <a:solidFill>
              <a:srgbClr val="F2EEF9"/>
            </a:solidFill>
            <a:prstDash val="solid"/>
          </a:ln>
        </p:spPr>
      </p:sp>
      <p:sp>
        <p:nvSpPr>
          <p:cNvPr id="24" name="Text 22"/>
          <p:cNvSpPr txBox="1"/>
          <p:nvPr/>
        </p:nvSpPr>
        <p:spPr>
          <a:xfrm>
            <a:off x="6233008" y="3246120"/>
            <a:ext cx="5455768" cy="868680"/>
          </a:xfrm>
          <a:prstGeom prst="rect">
            <a:avLst/>
          </a:prstGeom>
          <a:noFill/>
          <a:ln/>
        </p:spPr>
        <p:txBody>
          <a:bodyPr wrap="square" lIns="0" tIns="0" rIns="0" bIns="0" rtlCol="0" anchor="ctr"/>
          <a:lstStyle/>
          <a:p>
            <a:pPr algn="ctr" indent="0" marL="0">
              <a:buNone/>
            </a:pPr>
            <a:r>
              <a:rPr lang="en-US" sz="1800" b="1" dirty="0">
                <a:solidFill>
                  <a:srgbClr val="6D51A8"/>
                </a:solidFill>
                <a:latin typeface="Cambria" pitchFamily="34" charset="0"/>
                <a:ea typeface="Cambria" pitchFamily="34" charset="-122"/>
                <a:cs typeface="Cambria" pitchFamily="34" charset="-120"/>
              </a:rPr>
              <a:t>AI NEVER APPROVES PAYMENTS</a:t>
            </a:r>
            <a:endParaRPr lang="en-US" sz="1800" dirty="0"/>
          </a:p>
        </p:txBody>
      </p:sp>
      <p:sp>
        <p:nvSpPr>
          <p:cNvPr id="25" name="Text 23"/>
          <p:cNvSpPr txBox="1"/>
          <p:nvPr/>
        </p:nvSpPr>
        <p:spPr>
          <a:xfrm>
            <a:off x="502920" y="4480560"/>
            <a:ext cx="11185855" cy="274320"/>
          </a:xfrm>
          <a:prstGeom prst="rect">
            <a:avLst/>
          </a:prstGeom>
          <a:noFill/>
          <a:ln/>
        </p:spPr>
        <p:txBody>
          <a:bodyPr wrap="square" lIns="0" tIns="0" rIns="0" bIns="0" rtlCol="0" anchor="ctr"/>
          <a:lstStyle/>
          <a:p>
            <a:pPr indent="0" marL="0">
              <a:buNone/>
            </a:pPr>
            <a:r>
              <a:rPr lang="en-US" sz="1100" b="1" spc="150" kern="0" dirty="0">
                <a:solidFill>
                  <a:srgbClr val="5F6F67"/>
                </a:solidFill>
                <a:latin typeface="Calibri" pitchFamily="34" charset="0"/>
                <a:ea typeface="Calibri" pitchFamily="34" charset="-122"/>
                <a:cs typeface="Calibri" pitchFamily="34" charset="-120"/>
              </a:rPr>
              <a:t>SEGREGATION OF DUTIES</a:t>
            </a:r>
            <a:endParaRPr lang="en-US" sz="1100" dirty="0"/>
          </a:p>
        </p:txBody>
      </p:sp>
      <p:sp>
        <p:nvSpPr>
          <p:cNvPr id="26" name="Shape 24"/>
          <p:cNvSpPr/>
          <p:nvPr/>
        </p:nvSpPr>
        <p:spPr>
          <a:xfrm>
            <a:off x="502920" y="4846320"/>
            <a:ext cx="2090867" cy="502920"/>
          </a:xfrm>
          <a:prstGeom prst="roundRect">
            <a:avLst>
              <a:gd name="adj" fmla="val 50000"/>
            </a:avLst>
          </a:prstGeom>
          <a:solidFill>
            <a:srgbClr val="FFFFFF"/>
          </a:solidFill>
          <a:ln/>
        </p:spPr>
      </p:sp>
      <p:sp>
        <p:nvSpPr>
          <p:cNvPr id="27" name="Text 25"/>
          <p:cNvSpPr txBox="1"/>
          <p:nvPr/>
        </p:nvSpPr>
        <p:spPr>
          <a:xfrm>
            <a:off x="502920" y="4846320"/>
            <a:ext cx="2090867" cy="502920"/>
          </a:xfrm>
          <a:prstGeom prst="rect">
            <a:avLst/>
          </a:prstGeom>
          <a:noFill/>
          <a:ln/>
        </p:spPr>
        <p:txBody>
          <a:bodyPr wrap="square" lIns="0" tIns="0" rIns="0" bIns="0" rtlCol="0" anchor="ctr"/>
          <a:lstStyle/>
          <a:p>
            <a:pPr algn="ctr" indent="0" marL="0">
              <a:buNone/>
            </a:pPr>
            <a:r>
              <a:rPr lang="en-US" sz="1150" b="1" spc="50" kern="0" dirty="0">
                <a:solidFill>
                  <a:srgbClr val="173F2E"/>
                </a:solidFill>
                <a:latin typeface="Calibri" pitchFamily="34" charset="0"/>
                <a:ea typeface="Calibri" pitchFamily="34" charset="-122"/>
                <a:cs typeface="Calibri" pitchFamily="34" charset="-120"/>
              </a:rPr>
              <a:t>Requester</a:t>
            </a:r>
            <a:endParaRPr lang="en-US" sz="1150" dirty="0"/>
          </a:p>
        </p:txBody>
      </p:sp>
      <p:sp>
        <p:nvSpPr>
          <p:cNvPr id="28" name="Shape 26"/>
          <p:cNvSpPr/>
          <p:nvPr/>
        </p:nvSpPr>
        <p:spPr>
          <a:xfrm>
            <a:off x="502920" y="4846320"/>
            <a:ext cx="2090867" cy="502920"/>
          </a:xfrm>
          <a:prstGeom prst="roundRect">
            <a:avLst>
              <a:gd name="adj" fmla="val 50000"/>
            </a:avLst>
          </a:prstGeom>
          <a:ln w="12700">
            <a:solidFill>
              <a:srgbClr val="DDE3DE"/>
            </a:solidFill>
            <a:prstDash val="solid"/>
          </a:ln>
        </p:spPr>
      </p:sp>
      <p:sp>
        <p:nvSpPr>
          <p:cNvPr id="29" name="Shape 27"/>
          <p:cNvSpPr/>
          <p:nvPr/>
        </p:nvSpPr>
        <p:spPr>
          <a:xfrm>
            <a:off x="2776667" y="4846320"/>
            <a:ext cx="2090867" cy="502920"/>
          </a:xfrm>
          <a:prstGeom prst="roundRect">
            <a:avLst>
              <a:gd name="adj" fmla="val 50000"/>
            </a:avLst>
          </a:prstGeom>
          <a:solidFill>
            <a:srgbClr val="FFFFFF"/>
          </a:solidFill>
          <a:ln/>
        </p:spPr>
      </p:sp>
      <p:sp>
        <p:nvSpPr>
          <p:cNvPr id="30" name="Text 28"/>
          <p:cNvSpPr txBox="1"/>
          <p:nvPr/>
        </p:nvSpPr>
        <p:spPr>
          <a:xfrm>
            <a:off x="2776667" y="4846320"/>
            <a:ext cx="2090867" cy="502920"/>
          </a:xfrm>
          <a:prstGeom prst="rect">
            <a:avLst/>
          </a:prstGeom>
          <a:noFill/>
          <a:ln/>
        </p:spPr>
        <p:txBody>
          <a:bodyPr wrap="square" lIns="0" tIns="0" rIns="0" bIns="0" rtlCol="0" anchor="ctr"/>
          <a:lstStyle/>
          <a:p>
            <a:pPr algn="ctr" indent="0" marL="0">
              <a:buNone/>
            </a:pPr>
            <a:r>
              <a:rPr lang="en-US" sz="1150" b="1" spc="50" kern="0" dirty="0">
                <a:solidFill>
                  <a:srgbClr val="173F2E"/>
                </a:solidFill>
                <a:latin typeface="Calibri" pitchFamily="34" charset="0"/>
                <a:ea typeface="Calibri" pitchFamily="34" charset="-122"/>
                <a:cs typeface="Calibri" pitchFamily="34" charset="-120"/>
              </a:rPr>
              <a:t>Approver</a:t>
            </a:r>
            <a:endParaRPr lang="en-US" sz="1150" dirty="0"/>
          </a:p>
        </p:txBody>
      </p:sp>
      <p:sp>
        <p:nvSpPr>
          <p:cNvPr id="31" name="Shape 29"/>
          <p:cNvSpPr/>
          <p:nvPr/>
        </p:nvSpPr>
        <p:spPr>
          <a:xfrm>
            <a:off x="2776667" y="4846320"/>
            <a:ext cx="2090867" cy="502920"/>
          </a:xfrm>
          <a:prstGeom prst="roundRect">
            <a:avLst>
              <a:gd name="adj" fmla="val 50000"/>
            </a:avLst>
          </a:prstGeom>
          <a:ln w="12700">
            <a:solidFill>
              <a:srgbClr val="DDE3DE"/>
            </a:solidFill>
            <a:prstDash val="solid"/>
          </a:ln>
        </p:spPr>
      </p:sp>
      <p:sp>
        <p:nvSpPr>
          <p:cNvPr id="32" name="Shape 30"/>
          <p:cNvSpPr/>
          <p:nvPr/>
        </p:nvSpPr>
        <p:spPr>
          <a:xfrm>
            <a:off x="5050414" y="4846320"/>
            <a:ext cx="2090867" cy="502920"/>
          </a:xfrm>
          <a:prstGeom prst="roundRect">
            <a:avLst>
              <a:gd name="adj" fmla="val 50000"/>
            </a:avLst>
          </a:prstGeom>
          <a:solidFill>
            <a:srgbClr val="FFFFFF"/>
          </a:solidFill>
          <a:ln/>
        </p:spPr>
      </p:sp>
      <p:sp>
        <p:nvSpPr>
          <p:cNvPr id="33" name="Text 31"/>
          <p:cNvSpPr txBox="1"/>
          <p:nvPr/>
        </p:nvSpPr>
        <p:spPr>
          <a:xfrm>
            <a:off x="5050414" y="4846320"/>
            <a:ext cx="2090867" cy="502920"/>
          </a:xfrm>
          <a:prstGeom prst="rect">
            <a:avLst/>
          </a:prstGeom>
          <a:noFill/>
          <a:ln/>
        </p:spPr>
        <p:txBody>
          <a:bodyPr wrap="square" lIns="0" tIns="0" rIns="0" bIns="0" rtlCol="0" anchor="ctr"/>
          <a:lstStyle/>
          <a:p>
            <a:pPr algn="ctr" indent="0" marL="0">
              <a:buNone/>
            </a:pPr>
            <a:r>
              <a:rPr lang="en-US" sz="1150" b="1" spc="50" kern="0" dirty="0">
                <a:solidFill>
                  <a:srgbClr val="173F2E"/>
                </a:solidFill>
                <a:latin typeface="Calibri" pitchFamily="34" charset="0"/>
                <a:ea typeface="Calibri" pitchFamily="34" charset="-122"/>
                <a:cs typeface="Calibri" pitchFamily="34" charset="-120"/>
              </a:rPr>
              <a:t>Finance</a:t>
            </a:r>
            <a:endParaRPr lang="en-US" sz="1150" dirty="0"/>
          </a:p>
        </p:txBody>
      </p:sp>
      <p:sp>
        <p:nvSpPr>
          <p:cNvPr id="34" name="Shape 32"/>
          <p:cNvSpPr/>
          <p:nvPr/>
        </p:nvSpPr>
        <p:spPr>
          <a:xfrm>
            <a:off x="5050414" y="4846320"/>
            <a:ext cx="2090867" cy="502920"/>
          </a:xfrm>
          <a:prstGeom prst="roundRect">
            <a:avLst>
              <a:gd name="adj" fmla="val 50000"/>
            </a:avLst>
          </a:prstGeom>
          <a:ln w="12700">
            <a:solidFill>
              <a:srgbClr val="DDE3DE"/>
            </a:solidFill>
            <a:prstDash val="solid"/>
          </a:ln>
        </p:spPr>
      </p:sp>
      <p:sp>
        <p:nvSpPr>
          <p:cNvPr id="35" name="Shape 33"/>
          <p:cNvSpPr/>
          <p:nvPr/>
        </p:nvSpPr>
        <p:spPr>
          <a:xfrm>
            <a:off x="7324161" y="4846320"/>
            <a:ext cx="2090867" cy="502920"/>
          </a:xfrm>
          <a:prstGeom prst="roundRect">
            <a:avLst>
              <a:gd name="adj" fmla="val 50000"/>
            </a:avLst>
          </a:prstGeom>
          <a:solidFill>
            <a:srgbClr val="FFFFFF"/>
          </a:solidFill>
          <a:ln/>
        </p:spPr>
      </p:sp>
      <p:sp>
        <p:nvSpPr>
          <p:cNvPr id="36" name="Text 34"/>
          <p:cNvSpPr txBox="1"/>
          <p:nvPr/>
        </p:nvSpPr>
        <p:spPr>
          <a:xfrm>
            <a:off x="7324161" y="4846320"/>
            <a:ext cx="2090867" cy="502920"/>
          </a:xfrm>
          <a:prstGeom prst="rect">
            <a:avLst/>
          </a:prstGeom>
          <a:noFill/>
          <a:ln/>
        </p:spPr>
        <p:txBody>
          <a:bodyPr wrap="square" lIns="0" tIns="0" rIns="0" bIns="0" rtlCol="0" anchor="ctr"/>
          <a:lstStyle/>
          <a:p>
            <a:pPr algn="ctr" indent="0" marL="0">
              <a:buNone/>
            </a:pPr>
            <a:r>
              <a:rPr lang="en-US" sz="1150" b="1" spc="50" kern="0" dirty="0">
                <a:solidFill>
                  <a:srgbClr val="173F2E"/>
                </a:solidFill>
                <a:latin typeface="Calibri" pitchFamily="34" charset="0"/>
                <a:ea typeface="Calibri" pitchFamily="34" charset="-122"/>
                <a:cs typeface="Calibri" pitchFamily="34" charset="-120"/>
              </a:rPr>
              <a:t>Finance Master</a:t>
            </a:r>
            <a:endParaRPr lang="en-US" sz="1150" dirty="0"/>
          </a:p>
        </p:txBody>
      </p:sp>
      <p:sp>
        <p:nvSpPr>
          <p:cNvPr id="37" name="Shape 35"/>
          <p:cNvSpPr/>
          <p:nvPr/>
        </p:nvSpPr>
        <p:spPr>
          <a:xfrm>
            <a:off x="7324161" y="4846320"/>
            <a:ext cx="2090867" cy="502920"/>
          </a:xfrm>
          <a:prstGeom prst="roundRect">
            <a:avLst>
              <a:gd name="adj" fmla="val 50000"/>
            </a:avLst>
          </a:prstGeom>
          <a:ln w="12700">
            <a:solidFill>
              <a:srgbClr val="DDE3DE"/>
            </a:solidFill>
            <a:prstDash val="solid"/>
          </a:ln>
        </p:spPr>
      </p:sp>
      <p:sp>
        <p:nvSpPr>
          <p:cNvPr id="38" name="Shape 36"/>
          <p:cNvSpPr/>
          <p:nvPr/>
        </p:nvSpPr>
        <p:spPr>
          <a:xfrm>
            <a:off x="9597908" y="4846320"/>
            <a:ext cx="2090867" cy="502920"/>
          </a:xfrm>
          <a:prstGeom prst="roundRect">
            <a:avLst>
              <a:gd name="adj" fmla="val 50000"/>
            </a:avLst>
          </a:prstGeom>
          <a:solidFill>
            <a:srgbClr val="FFFFFF"/>
          </a:solidFill>
          <a:ln/>
        </p:spPr>
      </p:sp>
      <p:sp>
        <p:nvSpPr>
          <p:cNvPr id="39" name="Text 37"/>
          <p:cNvSpPr txBox="1"/>
          <p:nvPr/>
        </p:nvSpPr>
        <p:spPr>
          <a:xfrm>
            <a:off x="9597908" y="4846320"/>
            <a:ext cx="2090867" cy="502920"/>
          </a:xfrm>
          <a:prstGeom prst="rect">
            <a:avLst/>
          </a:prstGeom>
          <a:noFill/>
          <a:ln/>
        </p:spPr>
        <p:txBody>
          <a:bodyPr wrap="square" lIns="0" tIns="0" rIns="0" bIns="0" rtlCol="0" anchor="ctr"/>
          <a:lstStyle/>
          <a:p>
            <a:pPr algn="ctr" indent="0" marL="0">
              <a:buNone/>
            </a:pPr>
            <a:r>
              <a:rPr lang="en-US" sz="1150" b="1" spc="50" kern="0" dirty="0">
                <a:solidFill>
                  <a:srgbClr val="173F2E"/>
                </a:solidFill>
                <a:latin typeface="Calibri" pitchFamily="34" charset="0"/>
                <a:ea typeface="Calibri" pitchFamily="34" charset="-122"/>
                <a:cs typeface="Calibri" pitchFamily="34" charset="-120"/>
              </a:rPr>
              <a:t>Technical Admin</a:t>
            </a:r>
            <a:endParaRPr lang="en-US" sz="1150" dirty="0"/>
          </a:p>
        </p:txBody>
      </p:sp>
      <p:sp>
        <p:nvSpPr>
          <p:cNvPr id="40" name="Shape 38"/>
          <p:cNvSpPr/>
          <p:nvPr/>
        </p:nvSpPr>
        <p:spPr>
          <a:xfrm>
            <a:off x="9597908" y="4846320"/>
            <a:ext cx="2090867" cy="502920"/>
          </a:xfrm>
          <a:prstGeom prst="roundRect">
            <a:avLst>
              <a:gd name="adj" fmla="val 50000"/>
            </a:avLst>
          </a:prstGeom>
          <a:ln w="12700">
            <a:solidFill>
              <a:srgbClr val="DDE3DE"/>
            </a:solidFill>
            <a:prstDash val="solid"/>
          </a:ln>
        </p:spPr>
      </p:sp>
      <p:sp>
        <p:nvSpPr>
          <p:cNvPr id="41" name="Text 39"/>
          <p:cNvSpPr txBox="1"/>
          <p:nvPr/>
        </p:nvSpPr>
        <p:spPr>
          <a:xfrm>
            <a:off x="502920" y="5532120"/>
            <a:ext cx="11185855" cy="365760"/>
          </a:xfrm>
          <a:prstGeom prst="rect">
            <a:avLst/>
          </a:prstGeom>
          <a:noFill/>
          <a:ln/>
        </p:spPr>
        <p:txBody>
          <a:bodyPr wrap="square" lIns="0" tIns="0" rIns="0" bIns="0" rtlCol="0" anchor="ctr"/>
          <a:lstStyle/>
          <a:p>
            <a:pPr indent="0" marL="0">
              <a:buNone/>
            </a:pPr>
            <a:r>
              <a:rPr lang="en-US" sz="1200" i="1" dirty="0">
                <a:solidFill>
                  <a:srgbClr val="5F6F67"/>
                </a:solidFill>
                <a:latin typeface="Calibri" pitchFamily="34" charset="0"/>
                <a:ea typeface="Calibri" pitchFamily="34" charset="-122"/>
                <a:cs typeface="Calibri" pitchFamily="34" charset="-120"/>
              </a:rPr>
              <a:t>Technical Admin does not equal Finance authority — access is not approval.</a:t>
            </a:r>
            <a:endParaRPr lang="en-US" sz="1200" dirty="0"/>
          </a:p>
        </p:txBody>
      </p:sp>
      <p:sp>
        <p:nvSpPr>
          <p:cNvPr id="42" name="Text 40"/>
          <p:cNvSpPr txBox="1"/>
          <p:nvPr/>
        </p:nvSpPr>
        <p:spPr>
          <a:xfrm>
            <a:off x="502920" y="6537960"/>
            <a:ext cx="7315200" cy="256032"/>
          </a:xfrm>
          <a:prstGeom prst="rect">
            <a:avLst/>
          </a:prstGeom>
          <a:noFill/>
          <a:ln/>
        </p:spPr>
        <p:txBody>
          <a:bodyPr wrap="square" lIns="0" tIns="0" rIns="0" bIns="0" rtlCol="0" anchor="ctr"/>
          <a:lstStyle/>
          <a:p>
            <a:pPr indent="0" marL="0">
              <a:buNone/>
            </a:pPr>
            <a:r>
              <a:rPr lang="en-US" sz="900" dirty="0">
                <a:solidFill>
                  <a:srgbClr val="5F6F67"/>
                </a:solidFill>
                <a:latin typeface="Calibri" pitchFamily="34" charset="0"/>
                <a:ea typeface="Calibri" pitchFamily="34" charset="-122"/>
                <a:cs typeface="Calibri" pitchFamily="34" charset="-120"/>
              </a:rPr>
              <a:t>AIMS · AI-Powered Payment &amp; Finance Control</a:t>
            </a:r>
            <a:endParaRPr lang="en-US" sz="900" dirty="0"/>
          </a:p>
        </p:txBody>
      </p:sp>
      <p:sp>
        <p:nvSpPr>
          <p:cNvPr id="43" name="Text 41"/>
          <p:cNvSpPr txBox="1"/>
          <p:nvPr/>
        </p:nvSpPr>
        <p:spPr>
          <a:xfrm>
            <a:off x="11140135" y="6537960"/>
            <a:ext cx="548640" cy="256032"/>
          </a:xfrm>
          <a:prstGeom prst="rect">
            <a:avLst/>
          </a:prstGeom>
          <a:noFill/>
          <a:ln/>
        </p:spPr>
        <p:txBody>
          <a:bodyPr wrap="square" lIns="0" tIns="0" rIns="0" bIns="0" rtlCol="0" anchor="ctr"/>
          <a:lstStyle/>
          <a:p>
            <a:pPr algn="r" indent="0" marL="0">
              <a:buNone/>
            </a:pPr>
            <a:r>
              <a:rPr lang="en-US" sz="900" dirty="0">
                <a:solidFill>
                  <a:srgbClr val="5F6F67"/>
                </a:solidFill>
                <a:latin typeface="Calibri" pitchFamily="34" charset="0"/>
                <a:ea typeface="Calibri" pitchFamily="34" charset="-122"/>
                <a:cs typeface="Calibri" pitchFamily="34" charset="-120"/>
              </a:rPr>
              <a:t>07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6F3"/>
        </a:solidFill>
      </p:bgPr>
    </p:bg>
    <p:spTree>
      <p:nvGrpSpPr>
        <p:cNvPr id="1" name=""/>
        <p:cNvGrpSpPr/>
        <p:nvPr/>
      </p:nvGrpSpPr>
      <p:grpSpPr>
        <a:xfrm>
          <a:off x="0" y="0"/>
          <a:ext cx="0" cy="0"/>
          <a:chOff x="0" y="0"/>
          <a:chExt cx="0" cy="0"/>
        </a:xfrm>
      </p:grpSpPr>
      <p:sp>
        <p:nvSpPr>
          <p:cNvPr id="2" name="Text 0"/>
          <p:cNvSpPr txBox="1"/>
          <p:nvPr/>
        </p:nvSpPr>
        <p:spPr>
          <a:xfrm>
            <a:off x="502920" y="384048"/>
            <a:ext cx="11185855" cy="274320"/>
          </a:xfrm>
          <a:prstGeom prst="rect">
            <a:avLst/>
          </a:prstGeom>
          <a:noFill/>
          <a:ln/>
        </p:spPr>
        <p:txBody>
          <a:bodyPr wrap="square" lIns="0" tIns="0" rIns="0" bIns="0" rtlCol="0" anchor="ctr"/>
          <a:lstStyle/>
          <a:p>
            <a:pPr indent="0" marL="0">
              <a:buNone/>
            </a:pPr>
            <a:r>
              <a:rPr lang="en-US" sz="1100" b="1" spc="200" kern="0" dirty="0">
                <a:solidFill>
                  <a:srgbClr val="5F6F67"/>
                </a:solidFill>
                <a:latin typeface="Calibri" pitchFamily="34" charset="0"/>
                <a:ea typeface="Calibri" pitchFamily="34" charset="-122"/>
                <a:cs typeface="Calibri" pitchFamily="34" charset="-120"/>
              </a:rPr>
              <a:t>07 · REAL END-TO-END CASE</a:t>
            </a:r>
            <a:endParaRPr lang="en-US" sz="1100" dirty="0"/>
          </a:p>
        </p:txBody>
      </p:sp>
      <p:sp>
        <p:nvSpPr>
          <p:cNvPr id="3" name="Text 1"/>
          <p:cNvSpPr txBox="1"/>
          <p:nvPr/>
        </p:nvSpPr>
        <p:spPr>
          <a:xfrm>
            <a:off x="502920" y="658368"/>
            <a:ext cx="11185855" cy="822960"/>
          </a:xfrm>
          <a:prstGeom prst="rect">
            <a:avLst/>
          </a:prstGeom>
          <a:noFill/>
          <a:ln/>
        </p:spPr>
        <p:txBody>
          <a:bodyPr wrap="square" lIns="0" tIns="0" rIns="0" bIns="0" rtlCol="0" anchor="ctr"/>
          <a:lstStyle/>
          <a:p>
            <a:pPr algn="l" indent="0" marL="0">
              <a:lnSpc>
                <a:spcPct val="102000"/>
              </a:lnSpc>
              <a:buNone/>
            </a:pPr>
            <a:r>
              <a:rPr lang="en-US" sz="2500" b="1" dirty="0">
                <a:solidFill>
                  <a:srgbClr val="16221D"/>
                </a:solidFill>
                <a:latin typeface="Cambria" pitchFamily="34" charset="0"/>
                <a:ea typeface="Cambria" pitchFamily="34" charset="-122"/>
                <a:cs typeface="Cambria" pitchFamily="34" charset="-120"/>
              </a:rPr>
              <a:t>PAY-2026-000041 — a real request, start to finish.</a:t>
            </a:r>
            <a:endParaRPr lang="en-US" sz="2500" dirty="0"/>
          </a:p>
        </p:txBody>
      </p:sp>
      <p:sp>
        <p:nvSpPr>
          <p:cNvPr id="4" name="Shape 2"/>
          <p:cNvSpPr/>
          <p:nvPr/>
        </p:nvSpPr>
        <p:spPr>
          <a:xfrm>
            <a:off x="502920" y="1691640"/>
            <a:ext cx="11185855" cy="1371600"/>
          </a:xfrm>
          <a:prstGeom prst="roundRect">
            <a:avLst>
              <a:gd name="adj" fmla="val 6000"/>
            </a:avLst>
          </a:prstGeom>
          <a:solidFill>
            <a:srgbClr val="FFFFFF"/>
          </a:solidFill>
          <a:ln w="9525">
            <a:solidFill>
              <a:srgbClr val="DDE3DE"/>
            </a:solidFill>
            <a:prstDash val="solid"/>
          </a:ln>
        </p:spPr>
      </p:sp>
      <p:sp>
        <p:nvSpPr>
          <p:cNvPr id="5" name="Text 3"/>
          <p:cNvSpPr txBox="1"/>
          <p:nvPr/>
        </p:nvSpPr>
        <p:spPr>
          <a:xfrm>
            <a:off x="777240" y="1911096"/>
            <a:ext cx="2430704" cy="256032"/>
          </a:xfrm>
          <a:prstGeom prst="rect">
            <a:avLst/>
          </a:prstGeom>
          <a:noFill/>
          <a:ln/>
        </p:spPr>
        <p:txBody>
          <a:bodyPr wrap="square" lIns="0" tIns="0" rIns="0" bIns="0" rtlCol="0" anchor="ctr"/>
          <a:lstStyle/>
          <a:p>
            <a:pPr indent="0" marL="0">
              <a:buNone/>
            </a:pPr>
            <a:r>
              <a:rPr lang="en-US" sz="1000" b="1" spc="100" kern="0" dirty="0">
                <a:solidFill>
                  <a:srgbClr val="5F6F67"/>
                </a:solidFill>
                <a:latin typeface="Calibri" pitchFamily="34" charset="0"/>
                <a:ea typeface="Calibri" pitchFamily="34" charset="-122"/>
                <a:cs typeface="Calibri" pitchFamily="34" charset="-120"/>
              </a:rPr>
              <a:t>PAYEE</a:t>
            </a:r>
            <a:endParaRPr lang="en-US" sz="1000" dirty="0"/>
          </a:p>
        </p:txBody>
      </p:sp>
      <p:sp>
        <p:nvSpPr>
          <p:cNvPr id="6" name="Text 4"/>
          <p:cNvSpPr txBox="1"/>
          <p:nvPr/>
        </p:nvSpPr>
        <p:spPr>
          <a:xfrm>
            <a:off x="777240" y="2194560"/>
            <a:ext cx="2430704" cy="685800"/>
          </a:xfrm>
          <a:prstGeom prst="rect">
            <a:avLst/>
          </a:prstGeom>
          <a:noFill/>
          <a:ln/>
        </p:spPr>
        <p:txBody>
          <a:bodyPr wrap="square" lIns="0" tIns="0" rIns="0" bIns="0" rtlCol="0" anchor="ctr"/>
          <a:lstStyle/>
          <a:p>
            <a:pPr indent="0" marL="0">
              <a:lnSpc>
                <a:spcPct val="105000"/>
              </a:lnSpc>
              <a:buNone/>
            </a:pPr>
            <a:r>
              <a:rPr lang="en-US" sz="1400" b="1" dirty="0">
                <a:solidFill>
                  <a:srgbClr val="16221D"/>
                </a:solidFill>
                <a:latin typeface="Cambria" pitchFamily="34" charset="0"/>
                <a:ea typeface="Cambria" pitchFamily="34" charset="-122"/>
                <a:cs typeface="Cambria" pitchFamily="34" charset="-120"/>
              </a:rPr>
              <a:t>BrightWave Media Sdn. Bhd.</a:t>
            </a:r>
            <a:endParaRPr lang="en-US" sz="1400" dirty="0"/>
          </a:p>
        </p:txBody>
      </p:sp>
      <p:sp>
        <p:nvSpPr>
          <p:cNvPr id="7" name="Text 5"/>
          <p:cNvSpPr txBox="1"/>
          <p:nvPr/>
        </p:nvSpPr>
        <p:spPr>
          <a:xfrm>
            <a:off x="3573704" y="1911096"/>
            <a:ext cx="2430704" cy="256032"/>
          </a:xfrm>
          <a:prstGeom prst="rect">
            <a:avLst/>
          </a:prstGeom>
          <a:noFill/>
          <a:ln/>
        </p:spPr>
        <p:txBody>
          <a:bodyPr wrap="square" lIns="0" tIns="0" rIns="0" bIns="0" rtlCol="0" anchor="ctr"/>
          <a:lstStyle/>
          <a:p>
            <a:pPr indent="0" marL="0">
              <a:buNone/>
            </a:pPr>
            <a:r>
              <a:rPr lang="en-US" sz="1000" b="1" spc="100" kern="0" dirty="0">
                <a:solidFill>
                  <a:srgbClr val="5F6F67"/>
                </a:solidFill>
                <a:latin typeface="Calibri" pitchFamily="34" charset="0"/>
                <a:ea typeface="Calibri" pitchFamily="34" charset="-122"/>
                <a:cs typeface="Calibri" pitchFamily="34" charset="-120"/>
              </a:rPr>
              <a:t>DEPARTMENT</a:t>
            </a:r>
            <a:endParaRPr lang="en-US" sz="1000" dirty="0"/>
          </a:p>
        </p:txBody>
      </p:sp>
      <p:sp>
        <p:nvSpPr>
          <p:cNvPr id="8" name="Text 6"/>
          <p:cNvSpPr txBox="1"/>
          <p:nvPr/>
        </p:nvSpPr>
        <p:spPr>
          <a:xfrm>
            <a:off x="3573704" y="2194560"/>
            <a:ext cx="2430704" cy="685800"/>
          </a:xfrm>
          <a:prstGeom prst="rect">
            <a:avLst/>
          </a:prstGeom>
          <a:noFill/>
          <a:ln/>
        </p:spPr>
        <p:txBody>
          <a:bodyPr wrap="square" lIns="0" tIns="0" rIns="0" bIns="0" rtlCol="0" anchor="ctr"/>
          <a:lstStyle/>
          <a:p>
            <a:pPr indent="0" marL="0">
              <a:lnSpc>
                <a:spcPct val="105000"/>
              </a:lnSpc>
              <a:buNone/>
            </a:pPr>
            <a:r>
              <a:rPr lang="en-US" sz="1400" b="1" dirty="0">
                <a:solidFill>
                  <a:srgbClr val="16221D"/>
                </a:solidFill>
                <a:latin typeface="Cambria" pitchFamily="34" charset="0"/>
                <a:ea typeface="Cambria" pitchFamily="34" charset="-122"/>
                <a:cs typeface="Cambria" pitchFamily="34" charset="-120"/>
              </a:rPr>
              <a:t>Operations</a:t>
            </a:r>
            <a:endParaRPr lang="en-US" sz="1400" dirty="0"/>
          </a:p>
        </p:txBody>
      </p:sp>
      <p:sp>
        <p:nvSpPr>
          <p:cNvPr id="9" name="Shape 7"/>
          <p:cNvSpPr/>
          <p:nvPr/>
        </p:nvSpPr>
        <p:spPr>
          <a:xfrm>
            <a:off x="3299384" y="1920240"/>
            <a:ext cx="0" cy="914400"/>
          </a:xfrm>
          <a:prstGeom prst="line">
            <a:avLst/>
          </a:prstGeom>
          <a:noFill/>
          <a:ln w="12700">
            <a:solidFill>
              <a:srgbClr val="DDE3DE"/>
            </a:solidFill>
            <a:prstDash val="solid"/>
          </a:ln>
        </p:spPr>
      </p:sp>
      <p:sp>
        <p:nvSpPr>
          <p:cNvPr id="10" name="Text 8"/>
          <p:cNvSpPr txBox="1"/>
          <p:nvPr/>
        </p:nvSpPr>
        <p:spPr>
          <a:xfrm>
            <a:off x="6370168" y="1911096"/>
            <a:ext cx="2430704" cy="256032"/>
          </a:xfrm>
          <a:prstGeom prst="rect">
            <a:avLst/>
          </a:prstGeom>
          <a:noFill/>
          <a:ln/>
        </p:spPr>
        <p:txBody>
          <a:bodyPr wrap="square" lIns="0" tIns="0" rIns="0" bIns="0" rtlCol="0" anchor="ctr"/>
          <a:lstStyle/>
          <a:p>
            <a:pPr indent="0" marL="0">
              <a:buNone/>
            </a:pPr>
            <a:r>
              <a:rPr lang="en-US" sz="1000" b="1" spc="100" kern="0" dirty="0">
                <a:solidFill>
                  <a:srgbClr val="5F6F67"/>
                </a:solidFill>
                <a:latin typeface="Calibri" pitchFamily="34" charset="0"/>
                <a:ea typeface="Calibri" pitchFamily="34" charset="-122"/>
                <a:cs typeface="Calibri" pitchFamily="34" charset="-120"/>
              </a:rPr>
              <a:t>PURPOSE</a:t>
            </a:r>
            <a:endParaRPr lang="en-US" sz="1000" dirty="0"/>
          </a:p>
        </p:txBody>
      </p:sp>
      <p:sp>
        <p:nvSpPr>
          <p:cNvPr id="11" name="Text 9"/>
          <p:cNvSpPr txBox="1"/>
          <p:nvPr/>
        </p:nvSpPr>
        <p:spPr>
          <a:xfrm>
            <a:off x="6370168" y="2194560"/>
            <a:ext cx="2430704" cy="685800"/>
          </a:xfrm>
          <a:prstGeom prst="rect">
            <a:avLst/>
          </a:prstGeom>
          <a:noFill/>
          <a:ln/>
        </p:spPr>
        <p:txBody>
          <a:bodyPr wrap="square" lIns="0" tIns="0" rIns="0" bIns="0" rtlCol="0" anchor="ctr"/>
          <a:lstStyle/>
          <a:p>
            <a:pPr indent="0" marL="0">
              <a:lnSpc>
                <a:spcPct val="105000"/>
              </a:lnSpc>
              <a:buNone/>
            </a:pPr>
            <a:r>
              <a:rPr lang="en-US" sz="1400" b="1" dirty="0">
                <a:solidFill>
                  <a:srgbClr val="16221D"/>
                </a:solidFill>
                <a:latin typeface="Cambria" pitchFamily="34" charset="0"/>
                <a:ea typeface="Cambria" pitchFamily="34" charset="-122"/>
                <a:cs typeface="Cambria" pitchFamily="34" charset="-120"/>
              </a:rPr>
              <a:t>Digital Marketing Campaign</a:t>
            </a:r>
            <a:endParaRPr lang="en-US" sz="1400" dirty="0"/>
          </a:p>
        </p:txBody>
      </p:sp>
      <p:sp>
        <p:nvSpPr>
          <p:cNvPr id="12" name="Shape 10"/>
          <p:cNvSpPr/>
          <p:nvPr/>
        </p:nvSpPr>
        <p:spPr>
          <a:xfrm>
            <a:off x="6095848" y="1920240"/>
            <a:ext cx="0" cy="914400"/>
          </a:xfrm>
          <a:prstGeom prst="line">
            <a:avLst/>
          </a:prstGeom>
          <a:noFill/>
          <a:ln w="12700">
            <a:solidFill>
              <a:srgbClr val="DDE3DE"/>
            </a:solidFill>
            <a:prstDash val="solid"/>
          </a:ln>
        </p:spPr>
      </p:sp>
      <p:sp>
        <p:nvSpPr>
          <p:cNvPr id="13" name="Text 11"/>
          <p:cNvSpPr txBox="1"/>
          <p:nvPr/>
        </p:nvSpPr>
        <p:spPr>
          <a:xfrm>
            <a:off x="9166631" y="1911096"/>
            <a:ext cx="2430704" cy="256032"/>
          </a:xfrm>
          <a:prstGeom prst="rect">
            <a:avLst/>
          </a:prstGeom>
          <a:noFill/>
          <a:ln/>
        </p:spPr>
        <p:txBody>
          <a:bodyPr wrap="square" lIns="0" tIns="0" rIns="0" bIns="0" rtlCol="0" anchor="ctr"/>
          <a:lstStyle/>
          <a:p>
            <a:pPr indent="0" marL="0">
              <a:buNone/>
            </a:pPr>
            <a:r>
              <a:rPr lang="en-US" sz="1000" b="1" spc="100" kern="0" dirty="0">
                <a:solidFill>
                  <a:srgbClr val="5F6F67"/>
                </a:solidFill>
                <a:latin typeface="Calibri" pitchFamily="34" charset="0"/>
                <a:ea typeface="Calibri" pitchFamily="34" charset="-122"/>
                <a:cs typeface="Calibri" pitchFamily="34" charset="-120"/>
              </a:rPr>
              <a:t>TOTAL</a:t>
            </a:r>
            <a:endParaRPr lang="en-US" sz="1000" dirty="0"/>
          </a:p>
        </p:txBody>
      </p:sp>
      <p:sp>
        <p:nvSpPr>
          <p:cNvPr id="14" name="Text 12"/>
          <p:cNvSpPr txBox="1"/>
          <p:nvPr/>
        </p:nvSpPr>
        <p:spPr>
          <a:xfrm>
            <a:off x="9166631" y="2194560"/>
            <a:ext cx="2430704" cy="685800"/>
          </a:xfrm>
          <a:prstGeom prst="rect">
            <a:avLst/>
          </a:prstGeom>
          <a:noFill/>
          <a:ln/>
        </p:spPr>
        <p:txBody>
          <a:bodyPr wrap="square" lIns="0" tIns="0" rIns="0" bIns="0" rtlCol="0" anchor="ctr"/>
          <a:lstStyle/>
          <a:p>
            <a:pPr indent="0" marL="0">
              <a:lnSpc>
                <a:spcPct val="105000"/>
              </a:lnSpc>
              <a:buNone/>
            </a:pPr>
            <a:r>
              <a:rPr lang="en-US" sz="2000" b="1" dirty="0">
                <a:solidFill>
                  <a:srgbClr val="173F2E"/>
                </a:solidFill>
                <a:latin typeface="Cambria" pitchFamily="34" charset="0"/>
                <a:ea typeface="Cambria" pitchFamily="34" charset="-122"/>
                <a:cs typeface="Cambria" pitchFamily="34" charset="-120"/>
              </a:rPr>
              <a:t>MYR 18,500.00</a:t>
            </a:r>
            <a:endParaRPr lang="en-US" sz="2000" dirty="0"/>
          </a:p>
        </p:txBody>
      </p:sp>
      <p:sp>
        <p:nvSpPr>
          <p:cNvPr id="15" name="Shape 13"/>
          <p:cNvSpPr/>
          <p:nvPr/>
        </p:nvSpPr>
        <p:spPr>
          <a:xfrm>
            <a:off x="8892311" y="1920240"/>
            <a:ext cx="0" cy="914400"/>
          </a:xfrm>
          <a:prstGeom prst="line">
            <a:avLst/>
          </a:prstGeom>
          <a:noFill/>
          <a:ln w="12700">
            <a:solidFill>
              <a:srgbClr val="DDE3DE"/>
            </a:solidFill>
            <a:prstDash val="solid"/>
          </a:ln>
        </p:spPr>
      </p:sp>
      <p:sp>
        <p:nvSpPr>
          <p:cNvPr id="16" name="Text 14"/>
          <p:cNvSpPr txBox="1"/>
          <p:nvPr/>
        </p:nvSpPr>
        <p:spPr>
          <a:xfrm>
            <a:off x="502920" y="3291840"/>
            <a:ext cx="11185855" cy="274320"/>
          </a:xfrm>
          <a:prstGeom prst="rect">
            <a:avLst/>
          </a:prstGeom>
          <a:noFill/>
          <a:ln/>
        </p:spPr>
        <p:txBody>
          <a:bodyPr wrap="square" lIns="0" tIns="0" rIns="0" bIns="0" rtlCol="0" anchor="ctr"/>
          <a:lstStyle/>
          <a:p>
            <a:pPr indent="0" marL="0">
              <a:buNone/>
            </a:pPr>
            <a:r>
              <a:rPr lang="en-US" sz="1100" b="1" spc="150" kern="0" dirty="0">
                <a:solidFill>
                  <a:srgbClr val="5F6F67"/>
                </a:solidFill>
                <a:latin typeface="Calibri" pitchFamily="34" charset="0"/>
                <a:ea typeface="Calibri" pitchFamily="34" charset="-122"/>
                <a:cs typeface="Calibri" pitchFamily="34" charset="-120"/>
              </a:rPr>
              <a:t>THREE CLAIM ITEMS</a:t>
            </a:r>
            <a:endParaRPr lang="en-US" sz="1100" dirty="0"/>
          </a:p>
        </p:txBody>
      </p:sp>
      <p:sp>
        <p:nvSpPr>
          <p:cNvPr id="17" name="Shape 15"/>
          <p:cNvSpPr/>
          <p:nvPr/>
        </p:nvSpPr>
        <p:spPr>
          <a:xfrm>
            <a:off x="502920" y="3611880"/>
            <a:ext cx="3545738" cy="777240"/>
          </a:xfrm>
          <a:prstGeom prst="roundRect">
            <a:avLst>
              <a:gd name="adj" fmla="val 10588"/>
            </a:avLst>
          </a:prstGeom>
          <a:solidFill>
            <a:srgbClr val="F5F6F3"/>
          </a:solidFill>
          <a:ln w="9525">
            <a:solidFill>
              <a:srgbClr val="DDE3DE"/>
            </a:solidFill>
            <a:prstDash val="solid"/>
          </a:ln>
        </p:spPr>
      </p:sp>
      <p:sp>
        <p:nvSpPr>
          <p:cNvPr id="18" name="Text 16"/>
          <p:cNvSpPr txBox="1"/>
          <p:nvPr/>
        </p:nvSpPr>
        <p:spPr>
          <a:xfrm>
            <a:off x="685800" y="3703320"/>
            <a:ext cx="3179978" cy="320040"/>
          </a:xfrm>
          <a:prstGeom prst="rect">
            <a:avLst/>
          </a:prstGeom>
          <a:noFill/>
          <a:ln/>
        </p:spPr>
        <p:txBody>
          <a:bodyPr wrap="square" lIns="0" tIns="0" rIns="0" bIns="0" rtlCol="0" anchor="ctr"/>
          <a:lstStyle/>
          <a:p>
            <a:pPr indent="0" marL="0">
              <a:buNone/>
            </a:pPr>
            <a:r>
              <a:rPr lang="en-US" sz="1150" dirty="0">
                <a:solidFill>
                  <a:srgbClr val="16221D"/>
                </a:solidFill>
                <a:latin typeface="Calibri" pitchFamily="34" charset="0"/>
                <a:ea typeface="Calibri" pitchFamily="34" charset="-122"/>
                <a:cs typeface="Calibri" pitchFamily="34" charset="-120"/>
              </a:rPr>
              <a:t>Campaign Media Placement</a:t>
            </a:r>
            <a:endParaRPr lang="en-US" sz="1150" dirty="0"/>
          </a:p>
        </p:txBody>
      </p:sp>
      <p:sp>
        <p:nvSpPr>
          <p:cNvPr id="19" name="Text 17"/>
          <p:cNvSpPr txBox="1"/>
          <p:nvPr/>
        </p:nvSpPr>
        <p:spPr>
          <a:xfrm>
            <a:off x="685800" y="4005072"/>
            <a:ext cx="3179978" cy="320040"/>
          </a:xfrm>
          <a:prstGeom prst="rect">
            <a:avLst/>
          </a:prstGeom>
          <a:noFill/>
          <a:ln/>
        </p:spPr>
        <p:txBody>
          <a:bodyPr wrap="square" lIns="0" tIns="0" rIns="0" bIns="0" rtlCol="0" anchor="ctr"/>
          <a:lstStyle/>
          <a:p>
            <a:pPr indent="0" marL="0">
              <a:buNone/>
            </a:pPr>
            <a:r>
              <a:rPr lang="en-US" sz="1300" b="1" dirty="0">
                <a:solidFill>
                  <a:srgbClr val="173F2E"/>
                </a:solidFill>
                <a:latin typeface="Calibri" pitchFamily="34" charset="0"/>
                <a:ea typeface="Calibri" pitchFamily="34" charset="-122"/>
                <a:cs typeface="Calibri" pitchFamily="34" charset="-120"/>
              </a:rPr>
              <a:t>MYR 8,000.00</a:t>
            </a:r>
            <a:endParaRPr lang="en-US" sz="1300" dirty="0"/>
          </a:p>
        </p:txBody>
      </p:sp>
      <p:sp>
        <p:nvSpPr>
          <p:cNvPr id="20" name="Shape 18"/>
          <p:cNvSpPr/>
          <p:nvPr/>
        </p:nvSpPr>
        <p:spPr>
          <a:xfrm>
            <a:off x="4322978" y="3611880"/>
            <a:ext cx="3545738" cy="777240"/>
          </a:xfrm>
          <a:prstGeom prst="roundRect">
            <a:avLst>
              <a:gd name="adj" fmla="val 10588"/>
            </a:avLst>
          </a:prstGeom>
          <a:solidFill>
            <a:srgbClr val="F5F6F3"/>
          </a:solidFill>
          <a:ln w="9525">
            <a:solidFill>
              <a:srgbClr val="DDE3DE"/>
            </a:solidFill>
            <a:prstDash val="solid"/>
          </a:ln>
        </p:spPr>
      </p:sp>
      <p:sp>
        <p:nvSpPr>
          <p:cNvPr id="21" name="Text 19"/>
          <p:cNvSpPr txBox="1"/>
          <p:nvPr/>
        </p:nvSpPr>
        <p:spPr>
          <a:xfrm>
            <a:off x="4505858" y="3703320"/>
            <a:ext cx="3179978" cy="320040"/>
          </a:xfrm>
          <a:prstGeom prst="rect">
            <a:avLst/>
          </a:prstGeom>
          <a:noFill/>
          <a:ln/>
        </p:spPr>
        <p:txBody>
          <a:bodyPr wrap="square" lIns="0" tIns="0" rIns="0" bIns="0" rtlCol="0" anchor="ctr"/>
          <a:lstStyle/>
          <a:p>
            <a:pPr indent="0" marL="0">
              <a:buNone/>
            </a:pPr>
            <a:r>
              <a:rPr lang="en-US" sz="1150" dirty="0">
                <a:solidFill>
                  <a:srgbClr val="16221D"/>
                </a:solidFill>
                <a:latin typeface="Calibri" pitchFamily="34" charset="0"/>
                <a:ea typeface="Calibri" pitchFamily="34" charset="-122"/>
                <a:cs typeface="Calibri" pitchFamily="34" charset="-120"/>
              </a:rPr>
              <a:t>Creative Production</a:t>
            </a:r>
            <a:endParaRPr lang="en-US" sz="1150" dirty="0"/>
          </a:p>
        </p:txBody>
      </p:sp>
      <p:sp>
        <p:nvSpPr>
          <p:cNvPr id="22" name="Text 20"/>
          <p:cNvSpPr txBox="1"/>
          <p:nvPr/>
        </p:nvSpPr>
        <p:spPr>
          <a:xfrm>
            <a:off x="4505858" y="4005072"/>
            <a:ext cx="3179978" cy="320040"/>
          </a:xfrm>
          <a:prstGeom prst="rect">
            <a:avLst/>
          </a:prstGeom>
          <a:noFill/>
          <a:ln/>
        </p:spPr>
        <p:txBody>
          <a:bodyPr wrap="square" lIns="0" tIns="0" rIns="0" bIns="0" rtlCol="0" anchor="ctr"/>
          <a:lstStyle/>
          <a:p>
            <a:pPr indent="0" marL="0">
              <a:buNone/>
            </a:pPr>
            <a:r>
              <a:rPr lang="en-US" sz="1300" b="1" dirty="0">
                <a:solidFill>
                  <a:srgbClr val="173F2E"/>
                </a:solidFill>
                <a:latin typeface="Calibri" pitchFamily="34" charset="0"/>
                <a:ea typeface="Calibri" pitchFamily="34" charset="-122"/>
                <a:cs typeface="Calibri" pitchFamily="34" charset="-120"/>
              </a:rPr>
              <a:t>MYR 6,500.00</a:t>
            </a:r>
            <a:endParaRPr lang="en-US" sz="1300" dirty="0"/>
          </a:p>
        </p:txBody>
      </p:sp>
      <p:sp>
        <p:nvSpPr>
          <p:cNvPr id="23" name="Shape 21"/>
          <p:cNvSpPr/>
          <p:nvPr/>
        </p:nvSpPr>
        <p:spPr>
          <a:xfrm>
            <a:off x="8143037" y="3611880"/>
            <a:ext cx="3545738" cy="777240"/>
          </a:xfrm>
          <a:prstGeom prst="roundRect">
            <a:avLst>
              <a:gd name="adj" fmla="val 10588"/>
            </a:avLst>
          </a:prstGeom>
          <a:solidFill>
            <a:srgbClr val="F5F6F3"/>
          </a:solidFill>
          <a:ln w="9525">
            <a:solidFill>
              <a:srgbClr val="DDE3DE"/>
            </a:solidFill>
            <a:prstDash val="solid"/>
          </a:ln>
        </p:spPr>
      </p:sp>
      <p:sp>
        <p:nvSpPr>
          <p:cNvPr id="24" name="Text 22"/>
          <p:cNvSpPr txBox="1"/>
          <p:nvPr/>
        </p:nvSpPr>
        <p:spPr>
          <a:xfrm>
            <a:off x="8325917" y="3703320"/>
            <a:ext cx="3179978" cy="320040"/>
          </a:xfrm>
          <a:prstGeom prst="rect">
            <a:avLst/>
          </a:prstGeom>
          <a:noFill/>
          <a:ln/>
        </p:spPr>
        <p:txBody>
          <a:bodyPr wrap="square" lIns="0" tIns="0" rIns="0" bIns="0" rtlCol="0" anchor="ctr"/>
          <a:lstStyle/>
          <a:p>
            <a:pPr indent="0" marL="0">
              <a:buNone/>
            </a:pPr>
            <a:r>
              <a:rPr lang="en-US" sz="1150" dirty="0">
                <a:solidFill>
                  <a:srgbClr val="16221D"/>
                </a:solidFill>
                <a:latin typeface="Calibri" pitchFamily="34" charset="0"/>
                <a:ea typeface="Calibri" pitchFamily="34" charset="-122"/>
                <a:cs typeface="Calibri" pitchFamily="34" charset="-120"/>
              </a:rPr>
              <a:t>Campaign Analytics Service</a:t>
            </a:r>
            <a:endParaRPr lang="en-US" sz="1150" dirty="0"/>
          </a:p>
        </p:txBody>
      </p:sp>
      <p:sp>
        <p:nvSpPr>
          <p:cNvPr id="25" name="Text 23"/>
          <p:cNvSpPr txBox="1"/>
          <p:nvPr/>
        </p:nvSpPr>
        <p:spPr>
          <a:xfrm>
            <a:off x="8325917" y="4005072"/>
            <a:ext cx="3179978" cy="320040"/>
          </a:xfrm>
          <a:prstGeom prst="rect">
            <a:avLst/>
          </a:prstGeom>
          <a:noFill/>
          <a:ln/>
        </p:spPr>
        <p:txBody>
          <a:bodyPr wrap="square" lIns="0" tIns="0" rIns="0" bIns="0" rtlCol="0" anchor="ctr"/>
          <a:lstStyle/>
          <a:p>
            <a:pPr indent="0" marL="0">
              <a:buNone/>
            </a:pPr>
            <a:r>
              <a:rPr lang="en-US" sz="1300" b="1" dirty="0">
                <a:solidFill>
                  <a:srgbClr val="173F2E"/>
                </a:solidFill>
                <a:latin typeface="Calibri" pitchFamily="34" charset="0"/>
                <a:ea typeface="Calibri" pitchFamily="34" charset="-122"/>
                <a:cs typeface="Calibri" pitchFamily="34" charset="-120"/>
              </a:rPr>
              <a:t>MYR 4,000.00</a:t>
            </a:r>
            <a:endParaRPr lang="en-US" sz="1300" dirty="0"/>
          </a:p>
        </p:txBody>
      </p:sp>
      <p:sp>
        <p:nvSpPr>
          <p:cNvPr id="26" name="Text 24"/>
          <p:cNvSpPr txBox="1"/>
          <p:nvPr/>
        </p:nvSpPr>
        <p:spPr>
          <a:xfrm>
            <a:off x="502920" y="4663440"/>
            <a:ext cx="11185855" cy="274320"/>
          </a:xfrm>
          <a:prstGeom prst="rect">
            <a:avLst/>
          </a:prstGeom>
          <a:noFill/>
          <a:ln/>
        </p:spPr>
        <p:txBody>
          <a:bodyPr wrap="square" lIns="0" tIns="0" rIns="0" bIns="0" rtlCol="0" anchor="ctr"/>
          <a:lstStyle/>
          <a:p>
            <a:pPr indent="0" marL="0">
              <a:buNone/>
            </a:pPr>
            <a:r>
              <a:rPr lang="en-US" sz="1100" b="1" spc="150" kern="0" dirty="0">
                <a:solidFill>
                  <a:srgbClr val="5F6F67"/>
                </a:solidFill>
                <a:latin typeface="Calibri" pitchFamily="34" charset="0"/>
                <a:ea typeface="Calibri" pitchFamily="34" charset="-122"/>
                <a:cs typeface="Calibri" pitchFamily="34" charset="-120"/>
              </a:rPr>
              <a:t>WORKFLOW PROGRESSION</a:t>
            </a:r>
            <a:endParaRPr lang="en-US" sz="1100" dirty="0"/>
          </a:p>
        </p:txBody>
      </p:sp>
      <p:sp>
        <p:nvSpPr>
          <p:cNvPr id="27" name="Shape 25"/>
          <p:cNvSpPr/>
          <p:nvPr/>
        </p:nvSpPr>
        <p:spPr>
          <a:xfrm>
            <a:off x="502920" y="5029200"/>
            <a:ext cx="1472576" cy="868680"/>
          </a:xfrm>
          <a:prstGeom prst="roundRect">
            <a:avLst>
              <a:gd name="adj" fmla="val 9474"/>
            </a:avLst>
          </a:prstGeom>
          <a:solidFill>
            <a:srgbClr val="FFFFFF"/>
          </a:solidFill>
          <a:ln w="9525">
            <a:solidFill>
              <a:srgbClr val="DDE3DE"/>
            </a:solidFill>
            <a:prstDash val="solid"/>
          </a:ln>
        </p:spPr>
      </p:sp>
      <p:sp>
        <p:nvSpPr>
          <p:cNvPr id="28" name="Text 26"/>
          <p:cNvSpPr txBox="1"/>
          <p:nvPr/>
        </p:nvSpPr>
        <p:spPr>
          <a:xfrm>
            <a:off x="548640" y="5029200"/>
            <a:ext cx="1381136" cy="868680"/>
          </a:xfrm>
          <a:prstGeom prst="rect">
            <a:avLst/>
          </a:prstGeom>
          <a:noFill/>
          <a:ln/>
        </p:spPr>
        <p:txBody>
          <a:bodyPr wrap="square" lIns="0" tIns="0" rIns="0" bIns="0" rtlCol="0" anchor="ctr"/>
          <a:lstStyle/>
          <a:p>
            <a:pPr algn="ctr" indent="0" marL="0">
              <a:buNone/>
            </a:pPr>
            <a:r>
              <a:rPr lang="en-US" sz="1050" b="1" dirty="0">
                <a:solidFill>
                  <a:srgbClr val="16221D"/>
                </a:solidFill>
                <a:latin typeface="Calibri" pitchFamily="34" charset="0"/>
                <a:ea typeface="Calibri" pitchFamily="34" charset="-122"/>
                <a:cs typeface="Calibri" pitchFamily="34" charset="-120"/>
              </a:rPr>
              <a:t>Submitted</a:t>
            </a:r>
            <a:endParaRPr lang="en-US" sz="1050" dirty="0"/>
          </a:p>
        </p:txBody>
      </p:sp>
      <p:sp>
        <p:nvSpPr>
          <p:cNvPr id="29" name="Shape 27"/>
          <p:cNvSpPr/>
          <p:nvPr/>
        </p:nvSpPr>
        <p:spPr>
          <a:xfrm>
            <a:off x="1984640" y="5422392"/>
            <a:ext cx="128016" cy="82296"/>
          </a:xfrm>
          <a:prstGeom prst="rightArrow">
            <a:avLst/>
          </a:prstGeom>
          <a:solidFill>
            <a:srgbClr val="C7CAC5"/>
          </a:solidFill>
          <a:ln/>
        </p:spPr>
      </p:sp>
      <p:sp>
        <p:nvSpPr>
          <p:cNvPr id="30" name="Shape 28"/>
          <p:cNvSpPr/>
          <p:nvPr/>
        </p:nvSpPr>
        <p:spPr>
          <a:xfrm>
            <a:off x="2121800" y="5029200"/>
            <a:ext cx="1472576" cy="868680"/>
          </a:xfrm>
          <a:prstGeom prst="roundRect">
            <a:avLst>
              <a:gd name="adj" fmla="val 9474"/>
            </a:avLst>
          </a:prstGeom>
          <a:solidFill>
            <a:srgbClr val="FFFFFF"/>
          </a:solidFill>
          <a:ln w="9525">
            <a:solidFill>
              <a:srgbClr val="DDE3DE"/>
            </a:solidFill>
            <a:prstDash val="solid"/>
          </a:ln>
        </p:spPr>
      </p:sp>
      <p:sp>
        <p:nvSpPr>
          <p:cNvPr id="31" name="Text 29"/>
          <p:cNvSpPr txBox="1"/>
          <p:nvPr/>
        </p:nvSpPr>
        <p:spPr>
          <a:xfrm>
            <a:off x="2167520" y="5029200"/>
            <a:ext cx="1381136" cy="868680"/>
          </a:xfrm>
          <a:prstGeom prst="rect">
            <a:avLst/>
          </a:prstGeom>
          <a:noFill/>
          <a:ln/>
        </p:spPr>
        <p:txBody>
          <a:bodyPr wrap="square" lIns="0" tIns="0" rIns="0" bIns="0" rtlCol="0" anchor="ctr"/>
          <a:lstStyle/>
          <a:p>
            <a:pPr algn="ctr" indent="0" marL="0">
              <a:buNone/>
            </a:pPr>
            <a:r>
              <a:rPr lang="en-US" sz="1050" b="1" dirty="0">
                <a:solidFill>
                  <a:srgbClr val="16221D"/>
                </a:solidFill>
                <a:latin typeface="Calibri" pitchFamily="34" charset="0"/>
                <a:ea typeface="Calibri" pitchFamily="34" charset="-122"/>
                <a:cs typeface="Calibri" pitchFamily="34" charset="-120"/>
              </a:rPr>
              <a:t>AI Validated</a:t>
            </a:r>
            <a:endParaRPr lang="en-US" sz="1050" dirty="0"/>
          </a:p>
        </p:txBody>
      </p:sp>
      <p:sp>
        <p:nvSpPr>
          <p:cNvPr id="32" name="Shape 30"/>
          <p:cNvSpPr/>
          <p:nvPr/>
        </p:nvSpPr>
        <p:spPr>
          <a:xfrm>
            <a:off x="3603520" y="5422392"/>
            <a:ext cx="128016" cy="82296"/>
          </a:xfrm>
          <a:prstGeom prst="rightArrow">
            <a:avLst/>
          </a:prstGeom>
          <a:solidFill>
            <a:srgbClr val="C7CAC5"/>
          </a:solidFill>
          <a:ln/>
        </p:spPr>
      </p:sp>
      <p:sp>
        <p:nvSpPr>
          <p:cNvPr id="33" name="Shape 31"/>
          <p:cNvSpPr/>
          <p:nvPr/>
        </p:nvSpPr>
        <p:spPr>
          <a:xfrm>
            <a:off x="3740680" y="5029200"/>
            <a:ext cx="1472576" cy="868680"/>
          </a:xfrm>
          <a:prstGeom prst="roundRect">
            <a:avLst>
              <a:gd name="adj" fmla="val 9474"/>
            </a:avLst>
          </a:prstGeom>
          <a:solidFill>
            <a:srgbClr val="FFFFFF"/>
          </a:solidFill>
          <a:ln w="9525">
            <a:solidFill>
              <a:srgbClr val="DDE3DE"/>
            </a:solidFill>
            <a:prstDash val="solid"/>
          </a:ln>
        </p:spPr>
      </p:sp>
      <p:sp>
        <p:nvSpPr>
          <p:cNvPr id="34" name="Text 32"/>
          <p:cNvSpPr txBox="1"/>
          <p:nvPr/>
        </p:nvSpPr>
        <p:spPr>
          <a:xfrm>
            <a:off x="3786400" y="5029200"/>
            <a:ext cx="1381136" cy="868680"/>
          </a:xfrm>
          <a:prstGeom prst="rect">
            <a:avLst/>
          </a:prstGeom>
          <a:noFill/>
          <a:ln/>
        </p:spPr>
        <p:txBody>
          <a:bodyPr wrap="square" lIns="0" tIns="0" rIns="0" bIns="0" rtlCol="0" anchor="ctr"/>
          <a:lstStyle/>
          <a:p>
            <a:pPr algn="ctr" indent="0" marL="0">
              <a:buNone/>
            </a:pPr>
            <a:r>
              <a:rPr lang="en-US" sz="1050" b="1" dirty="0">
                <a:solidFill>
                  <a:srgbClr val="16221D"/>
                </a:solidFill>
                <a:latin typeface="Calibri" pitchFamily="34" charset="0"/>
                <a:ea typeface="Calibri" pitchFamily="34" charset="-122"/>
                <a:cs typeface="Calibri" pitchFamily="34" charset="-120"/>
              </a:rPr>
              <a:t>Financially</a:t>
            </a:r>
            <a:endParaRPr lang="en-US" sz="1050" dirty="0"/>
          </a:p>
          <a:p>
            <a:pPr algn="ctr" indent="0" marL="0">
              <a:buNone/>
            </a:pPr>
            <a:r>
              <a:rPr lang="en-US" sz="1050" b="1" dirty="0">
                <a:solidFill>
                  <a:srgbClr val="16221D"/>
                </a:solidFill>
                <a:latin typeface="Calibri" pitchFamily="34" charset="0"/>
                <a:ea typeface="Calibri" pitchFamily="34" charset="-122"/>
                <a:cs typeface="Calibri" pitchFamily="34" charset="-120"/>
              </a:rPr>
              <a:t>Analyzed</a:t>
            </a:r>
            <a:endParaRPr lang="en-US" sz="1050" dirty="0"/>
          </a:p>
        </p:txBody>
      </p:sp>
      <p:sp>
        <p:nvSpPr>
          <p:cNvPr id="35" name="Shape 33"/>
          <p:cNvSpPr/>
          <p:nvPr/>
        </p:nvSpPr>
        <p:spPr>
          <a:xfrm>
            <a:off x="5222400" y="5422392"/>
            <a:ext cx="128016" cy="82296"/>
          </a:xfrm>
          <a:prstGeom prst="rightArrow">
            <a:avLst/>
          </a:prstGeom>
          <a:solidFill>
            <a:srgbClr val="C7CAC5"/>
          </a:solidFill>
          <a:ln/>
        </p:spPr>
      </p:sp>
      <p:sp>
        <p:nvSpPr>
          <p:cNvPr id="36" name="Shape 34"/>
          <p:cNvSpPr/>
          <p:nvPr/>
        </p:nvSpPr>
        <p:spPr>
          <a:xfrm>
            <a:off x="5359560" y="5029200"/>
            <a:ext cx="1472576" cy="868680"/>
          </a:xfrm>
          <a:prstGeom prst="roundRect">
            <a:avLst>
              <a:gd name="adj" fmla="val 9474"/>
            </a:avLst>
          </a:prstGeom>
          <a:solidFill>
            <a:srgbClr val="FFFFFF"/>
          </a:solidFill>
          <a:ln w="9525">
            <a:solidFill>
              <a:srgbClr val="DDE3DE"/>
            </a:solidFill>
            <a:prstDash val="solid"/>
          </a:ln>
        </p:spPr>
      </p:sp>
      <p:sp>
        <p:nvSpPr>
          <p:cNvPr id="37" name="Text 35"/>
          <p:cNvSpPr txBox="1"/>
          <p:nvPr/>
        </p:nvSpPr>
        <p:spPr>
          <a:xfrm>
            <a:off x="5405280" y="5029200"/>
            <a:ext cx="1381136" cy="868680"/>
          </a:xfrm>
          <a:prstGeom prst="rect">
            <a:avLst/>
          </a:prstGeom>
          <a:noFill/>
          <a:ln/>
        </p:spPr>
        <p:txBody>
          <a:bodyPr wrap="square" lIns="0" tIns="0" rIns="0" bIns="0" rtlCol="0" anchor="ctr"/>
          <a:lstStyle/>
          <a:p>
            <a:pPr algn="ctr" indent="0" marL="0">
              <a:buNone/>
            </a:pPr>
            <a:r>
              <a:rPr lang="en-US" sz="1050" b="1" dirty="0">
                <a:solidFill>
                  <a:srgbClr val="16221D"/>
                </a:solidFill>
                <a:latin typeface="Calibri" pitchFamily="34" charset="0"/>
                <a:ea typeface="Calibri" pitchFamily="34" charset="-122"/>
                <a:cs typeface="Calibri" pitchFamily="34" charset="-120"/>
              </a:rPr>
              <a:t>Human</a:t>
            </a:r>
            <a:endParaRPr lang="en-US" sz="1050" dirty="0"/>
          </a:p>
          <a:p>
            <a:pPr algn="ctr" indent="0" marL="0">
              <a:buNone/>
            </a:pPr>
            <a:r>
              <a:rPr lang="en-US" sz="1050" b="1" dirty="0">
                <a:solidFill>
                  <a:srgbClr val="16221D"/>
                </a:solidFill>
                <a:latin typeface="Calibri" pitchFamily="34" charset="0"/>
                <a:ea typeface="Calibri" pitchFamily="34" charset="-122"/>
                <a:cs typeface="Calibri" pitchFamily="34" charset="-120"/>
              </a:rPr>
              <a:t>Approved</a:t>
            </a:r>
            <a:endParaRPr lang="en-US" sz="1050" dirty="0"/>
          </a:p>
        </p:txBody>
      </p:sp>
      <p:sp>
        <p:nvSpPr>
          <p:cNvPr id="38" name="Shape 36"/>
          <p:cNvSpPr/>
          <p:nvPr/>
        </p:nvSpPr>
        <p:spPr>
          <a:xfrm>
            <a:off x="6841280" y="5422392"/>
            <a:ext cx="128016" cy="82296"/>
          </a:xfrm>
          <a:prstGeom prst="rightArrow">
            <a:avLst/>
          </a:prstGeom>
          <a:solidFill>
            <a:srgbClr val="C7CAC5"/>
          </a:solidFill>
          <a:ln/>
        </p:spPr>
      </p:sp>
      <p:sp>
        <p:nvSpPr>
          <p:cNvPr id="39" name="Shape 37"/>
          <p:cNvSpPr/>
          <p:nvPr/>
        </p:nvSpPr>
        <p:spPr>
          <a:xfrm>
            <a:off x="6978440" y="5029200"/>
            <a:ext cx="1472576" cy="868680"/>
          </a:xfrm>
          <a:prstGeom prst="roundRect">
            <a:avLst>
              <a:gd name="adj" fmla="val 9474"/>
            </a:avLst>
          </a:prstGeom>
          <a:solidFill>
            <a:srgbClr val="FFFFFF"/>
          </a:solidFill>
          <a:ln w="9525">
            <a:solidFill>
              <a:srgbClr val="DDE3DE"/>
            </a:solidFill>
            <a:prstDash val="solid"/>
          </a:ln>
        </p:spPr>
      </p:sp>
      <p:sp>
        <p:nvSpPr>
          <p:cNvPr id="40" name="Text 38"/>
          <p:cNvSpPr txBox="1"/>
          <p:nvPr/>
        </p:nvSpPr>
        <p:spPr>
          <a:xfrm>
            <a:off x="7024160" y="5029200"/>
            <a:ext cx="1381136" cy="868680"/>
          </a:xfrm>
          <a:prstGeom prst="rect">
            <a:avLst/>
          </a:prstGeom>
          <a:noFill/>
          <a:ln/>
        </p:spPr>
        <p:txBody>
          <a:bodyPr wrap="square" lIns="0" tIns="0" rIns="0" bIns="0" rtlCol="0" anchor="ctr"/>
          <a:lstStyle/>
          <a:p>
            <a:pPr algn="ctr" indent="0" marL="0">
              <a:buNone/>
            </a:pPr>
            <a:r>
              <a:rPr lang="en-US" sz="1050" b="1" dirty="0">
                <a:solidFill>
                  <a:srgbClr val="16221D"/>
                </a:solidFill>
                <a:latin typeface="Calibri" pitchFamily="34" charset="0"/>
                <a:ea typeface="Calibri" pitchFamily="34" charset="-122"/>
                <a:cs typeface="Calibri" pitchFamily="34" charset="-120"/>
              </a:rPr>
              <a:t>Finance</a:t>
            </a:r>
            <a:endParaRPr lang="en-US" sz="1050" dirty="0"/>
          </a:p>
          <a:p>
            <a:pPr algn="ctr" indent="0" marL="0">
              <a:buNone/>
            </a:pPr>
            <a:r>
              <a:rPr lang="en-US" sz="1050" b="1" dirty="0">
                <a:solidFill>
                  <a:srgbClr val="16221D"/>
                </a:solidFill>
                <a:latin typeface="Calibri" pitchFamily="34" charset="0"/>
                <a:ea typeface="Calibri" pitchFamily="34" charset="-122"/>
                <a:cs typeface="Calibri" pitchFamily="34" charset="-120"/>
              </a:rPr>
              <a:t>Controlled</a:t>
            </a:r>
            <a:endParaRPr lang="en-US" sz="1050" dirty="0"/>
          </a:p>
        </p:txBody>
      </p:sp>
      <p:sp>
        <p:nvSpPr>
          <p:cNvPr id="41" name="Shape 39"/>
          <p:cNvSpPr/>
          <p:nvPr/>
        </p:nvSpPr>
        <p:spPr>
          <a:xfrm>
            <a:off x="8460159" y="5422392"/>
            <a:ext cx="128016" cy="82296"/>
          </a:xfrm>
          <a:prstGeom prst="rightArrow">
            <a:avLst/>
          </a:prstGeom>
          <a:solidFill>
            <a:srgbClr val="C7CAC5"/>
          </a:solidFill>
          <a:ln/>
        </p:spPr>
      </p:sp>
      <p:sp>
        <p:nvSpPr>
          <p:cNvPr id="42" name="Shape 40"/>
          <p:cNvSpPr/>
          <p:nvPr/>
        </p:nvSpPr>
        <p:spPr>
          <a:xfrm>
            <a:off x="8597319" y="5029200"/>
            <a:ext cx="1472576" cy="868680"/>
          </a:xfrm>
          <a:prstGeom prst="roundRect">
            <a:avLst>
              <a:gd name="adj" fmla="val 9474"/>
            </a:avLst>
          </a:prstGeom>
          <a:solidFill>
            <a:srgbClr val="FFFFFF"/>
          </a:solidFill>
          <a:ln w="9525">
            <a:solidFill>
              <a:srgbClr val="DDE3DE"/>
            </a:solidFill>
            <a:prstDash val="solid"/>
          </a:ln>
        </p:spPr>
      </p:sp>
      <p:sp>
        <p:nvSpPr>
          <p:cNvPr id="43" name="Text 41"/>
          <p:cNvSpPr txBox="1"/>
          <p:nvPr/>
        </p:nvSpPr>
        <p:spPr>
          <a:xfrm>
            <a:off x="8643039" y="5029200"/>
            <a:ext cx="1381136" cy="868680"/>
          </a:xfrm>
          <a:prstGeom prst="rect">
            <a:avLst/>
          </a:prstGeom>
          <a:noFill/>
          <a:ln/>
        </p:spPr>
        <p:txBody>
          <a:bodyPr wrap="square" lIns="0" tIns="0" rIns="0" bIns="0" rtlCol="0" anchor="ctr"/>
          <a:lstStyle/>
          <a:p>
            <a:pPr algn="ctr" indent="0" marL="0">
              <a:buNone/>
            </a:pPr>
            <a:r>
              <a:rPr lang="en-US" sz="1050" b="1" dirty="0">
                <a:solidFill>
                  <a:srgbClr val="16221D"/>
                </a:solidFill>
                <a:latin typeface="Calibri" pitchFamily="34" charset="0"/>
                <a:ea typeface="Calibri" pitchFamily="34" charset="-122"/>
                <a:cs typeface="Calibri" pitchFamily="34" charset="-120"/>
              </a:rPr>
              <a:t>Payment</a:t>
            </a:r>
            <a:endParaRPr lang="en-US" sz="1050" dirty="0"/>
          </a:p>
          <a:p>
            <a:pPr algn="ctr" indent="0" marL="0">
              <a:buNone/>
            </a:pPr>
            <a:r>
              <a:rPr lang="en-US" sz="1050" b="1" dirty="0">
                <a:solidFill>
                  <a:srgbClr val="16221D"/>
                </a:solidFill>
                <a:latin typeface="Calibri" pitchFamily="34" charset="0"/>
                <a:ea typeface="Calibri" pitchFamily="34" charset="-122"/>
                <a:cs typeface="Calibri" pitchFamily="34" charset="-120"/>
              </a:rPr>
              <a:t>Recorded</a:t>
            </a:r>
            <a:endParaRPr lang="en-US" sz="1050" dirty="0"/>
          </a:p>
        </p:txBody>
      </p:sp>
      <p:sp>
        <p:nvSpPr>
          <p:cNvPr id="44" name="Shape 42"/>
          <p:cNvSpPr/>
          <p:nvPr/>
        </p:nvSpPr>
        <p:spPr>
          <a:xfrm>
            <a:off x="10079039" y="5422392"/>
            <a:ext cx="128016" cy="82296"/>
          </a:xfrm>
          <a:prstGeom prst="rightArrow">
            <a:avLst/>
          </a:prstGeom>
          <a:solidFill>
            <a:srgbClr val="C7CAC5"/>
          </a:solidFill>
          <a:ln/>
        </p:spPr>
      </p:sp>
      <p:sp>
        <p:nvSpPr>
          <p:cNvPr id="45" name="Shape 43"/>
          <p:cNvSpPr/>
          <p:nvPr/>
        </p:nvSpPr>
        <p:spPr>
          <a:xfrm>
            <a:off x="10216199" y="5029200"/>
            <a:ext cx="1472576" cy="868680"/>
          </a:xfrm>
          <a:prstGeom prst="roundRect">
            <a:avLst>
              <a:gd name="adj" fmla="val 9474"/>
            </a:avLst>
          </a:prstGeom>
          <a:solidFill>
            <a:srgbClr val="24784C"/>
          </a:solidFill>
          <a:ln w="9525">
            <a:solidFill>
              <a:srgbClr val="24784C"/>
            </a:solidFill>
            <a:prstDash val="solid"/>
          </a:ln>
        </p:spPr>
      </p:sp>
      <p:sp>
        <p:nvSpPr>
          <p:cNvPr id="46" name="Text 44"/>
          <p:cNvSpPr txBox="1"/>
          <p:nvPr/>
        </p:nvSpPr>
        <p:spPr>
          <a:xfrm>
            <a:off x="10261919" y="5029200"/>
            <a:ext cx="1381136" cy="8686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PAID</a:t>
            </a:r>
            <a:endParaRPr lang="en-US" sz="1400" dirty="0"/>
          </a:p>
        </p:txBody>
      </p:sp>
      <p:sp>
        <p:nvSpPr>
          <p:cNvPr id="47" name="Text 45"/>
          <p:cNvSpPr txBox="1"/>
          <p:nvPr/>
        </p:nvSpPr>
        <p:spPr>
          <a:xfrm>
            <a:off x="502920" y="6537960"/>
            <a:ext cx="7315200" cy="256032"/>
          </a:xfrm>
          <a:prstGeom prst="rect">
            <a:avLst/>
          </a:prstGeom>
          <a:noFill/>
          <a:ln/>
        </p:spPr>
        <p:txBody>
          <a:bodyPr wrap="square" lIns="0" tIns="0" rIns="0" bIns="0" rtlCol="0" anchor="ctr"/>
          <a:lstStyle/>
          <a:p>
            <a:pPr indent="0" marL="0">
              <a:buNone/>
            </a:pPr>
            <a:r>
              <a:rPr lang="en-US" sz="900" dirty="0">
                <a:solidFill>
                  <a:srgbClr val="5F6F67"/>
                </a:solidFill>
                <a:latin typeface="Calibri" pitchFamily="34" charset="0"/>
                <a:ea typeface="Calibri" pitchFamily="34" charset="-122"/>
                <a:cs typeface="Calibri" pitchFamily="34" charset="-120"/>
              </a:rPr>
              <a:t>AIMS · AI-Powered Payment &amp; Finance Control</a:t>
            </a:r>
            <a:endParaRPr lang="en-US" sz="900" dirty="0"/>
          </a:p>
        </p:txBody>
      </p:sp>
      <p:sp>
        <p:nvSpPr>
          <p:cNvPr id="48" name="Text 46"/>
          <p:cNvSpPr txBox="1"/>
          <p:nvPr/>
        </p:nvSpPr>
        <p:spPr>
          <a:xfrm>
            <a:off x="11140135" y="6537960"/>
            <a:ext cx="548640" cy="256032"/>
          </a:xfrm>
          <a:prstGeom prst="rect">
            <a:avLst/>
          </a:prstGeom>
          <a:noFill/>
          <a:ln/>
        </p:spPr>
        <p:txBody>
          <a:bodyPr wrap="square" lIns="0" tIns="0" rIns="0" bIns="0" rtlCol="0" anchor="ctr"/>
          <a:lstStyle/>
          <a:p>
            <a:pPr algn="r" indent="0" marL="0">
              <a:buNone/>
            </a:pPr>
            <a:r>
              <a:rPr lang="en-US" sz="900" dirty="0">
                <a:solidFill>
                  <a:srgbClr val="5F6F67"/>
                </a:solidFill>
                <a:latin typeface="Calibri" pitchFamily="34" charset="0"/>
                <a:ea typeface="Calibri" pitchFamily="34" charset="-122"/>
                <a:cs typeface="Calibri" pitchFamily="34" charset="-120"/>
              </a:rPr>
              <a:t>08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6F3"/>
        </a:solidFill>
      </p:bgPr>
    </p:bg>
    <p:spTree>
      <p:nvGrpSpPr>
        <p:cNvPr id="1" name=""/>
        <p:cNvGrpSpPr/>
        <p:nvPr/>
      </p:nvGrpSpPr>
      <p:grpSpPr>
        <a:xfrm>
          <a:off x="0" y="0"/>
          <a:ext cx="0" cy="0"/>
          <a:chOff x="0" y="0"/>
          <a:chExt cx="0" cy="0"/>
        </a:xfrm>
      </p:grpSpPr>
      <p:sp>
        <p:nvSpPr>
          <p:cNvPr id="2" name="Text 0"/>
          <p:cNvSpPr txBox="1"/>
          <p:nvPr/>
        </p:nvSpPr>
        <p:spPr>
          <a:xfrm>
            <a:off x="502920" y="384048"/>
            <a:ext cx="11185855" cy="274320"/>
          </a:xfrm>
          <a:prstGeom prst="rect">
            <a:avLst/>
          </a:prstGeom>
          <a:noFill/>
          <a:ln/>
        </p:spPr>
        <p:txBody>
          <a:bodyPr wrap="square" lIns="0" tIns="0" rIns="0" bIns="0" rtlCol="0" anchor="ctr"/>
          <a:lstStyle/>
          <a:p>
            <a:pPr indent="0" marL="0">
              <a:buNone/>
            </a:pPr>
            <a:r>
              <a:rPr lang="en-US" sz="1100" b="1" spc="200" kern="0" dirty="0">
                <a:solidFill>
                  <a:srgbClr val="5F6F67"/>
                </a:solidFill>
                <a:latin typeface="Calibri" pitchFamily="34" charset="0"/>
                <a:ea typeface="Calibri" pitchFamily="34" charset="-122"/>
                <a:cs typeface="Calibri" pitchFamily="34" charset="-120"/>
              </a:rPr>
              <a:t>08 · FINANCIAL VISIBILITY</a:t>
            </a:r>
            <a:endParaRPr lang="en-US" sz="1100" dirty="0"/>
          </a:p>
        </p:txBody>
      </p:sp>
      <p:sp>
        <p:nvSpPr>
          <p:cNvPr id="3" name="Text 1"/>
          <p:cNvSpPr txBox="1"/>
          <p:nvPr/>
        </p:nvSpPr>
        <p:spPr>
          <a:xfrm>
            <a:off x="502920" y="658368"/>
            <a:ext cx="11185855" cy="822960"/>
          </a:xfrm>
          <a:prstGeom prst="rect">
            <a:avLst/>
          </a:prstGeom>
          <a:noFill/>
          <a:ln/>
        </p:spPr>
        <p:txBody>
          <a:bodyPr wrap="square" lIns="0" tIns="0" rIns="0" bIns="0" rtlCol="0" anchor="ctr"/>
          <a:lstStyle/>
          <a:p>
            <a:pPr algn="l" indent="0" marL="0">
              <a:lnSpc>
                <a:spcPct val="102000"/>
              </a:lnSpc>
              <a:buNone/>
            </a:pPr>
            <a:r>
              <a:rPr lang="en-US" sz="2600" b="1" dirty="0">
                <a:solidFill>
                  <a:srgbClr val="16221D"/>
                </a:solidFill>
                <a:latin typeface="Cambria" pitchFamily="34" charset="0"/>
                <a:ea typeface="Cambria" pitchFamily="34" charset="-122"/>
                <a:cs typeface="Cambria" pitchFamily="34" charset="-120"/>
              </a:rPr>
              <a:t>From payment workflow to real financial visibility.</a:t>
            </a:r>
            <a:endParaRPr lang="en-US" sz="2600" dirty="0"/>
          </a:p>
        </p:txBody>
      </p:sp>
      <p:sp>
        <p:nvSpPr>
          <p:cNvPr id="4" name="Text 2"/>
          <p:cNvSpPr txBox="1"/>
          <p:nvPr/>
        </p:nvSpPr>
        <p:spPr>
          <a:xfrm>
            <a:off x="502920" y="1298448"/>
            <a:ext cx="11185855" cy="457200"/>
          </a:xfrm>
          <a:prstGeom prst="rect">
            <a:avLst/>
          </a:prstGeom>
          <a:noFill/>
          <a:ln/>
        </p:spPr>
        <p:txBody>
          <a:bodyPr wrap="square" lIns="0" tIns="0" rIns="0" bIns="0" rtlCol="0" anchor="ctr"/>
          <a:lstStyle/>
          <a:p>
            <a:pPr indent="0" marL="0">
              <a:buNone/>
            </a:pPr>
            <a:r>
              <a:rPr lang="en-US" sz="1300" dirty="0">
                <a:solidFill>
                  <a:srgbClr val="5F6F67"/>
                </a:solidFill>
                <a:latin typeface="Calibri" pitchFamily="34" charset="0"/>
                <a:ea typeface="Calibri" pitchFamily="34" charset="-122"/>
                <a:cs typeface="Calibri" pitchFamily="34" charset="-120"/>
              </a:rPr>
              <a:t>Live snapshot after PAY-2026-000041 · all figures system-calculated</a:t>
            </a:r>
            <a:endParaRPr lang="en-US" sz="1300" dirty="0"/>
          </a:p>
        </p:txBody>
      </p:sp>
      <p:sp>
        <p:nvSpPr>
          <p:cNvPr id="5" name="Shape 3"/>
          <p:cNvSpPr/>
          <p:nvPr/>
        </p:nvSpPr>
        <p:spPr>
          <a:xfrm>
            <a:off x="502920" y="1874520"/>
            <a:ext cx="3545738" cy="1417320"/>
          </a:xfrm>
          <a:prstGeom prst="roundRect">
            <a:avLst>
              <a:gd name="adj" fmla="val 5806"/>
            </a:avLst>
          </a:prstGeom>
          <a:solidFill>
            <a:srgbClr val="FFFFFF"/>
          </a:solidFill>
          <a:ln w="9525">
            <a:solidFill>
              <a:srgbClr val="DDE3DE"/>
            </a:solidFill>
            <a:prstDash val="solid"/>
          </a:ln>
          <a:effectLst>
            <a:outerShdw sx="100000" sy="100000" kx="0" ky="0" algn="bl" rotWithShape="0" blurRad="127000" dist="38100" dir="5400000">
              <a:srgbClr val="1B2B22">
                <a:alpha val="12000"/>
              </a:srgbClr>
            </a:outerShdw>
          </a:effectLst>
        </p:spPr>
      </p:sp>
      <p:sp>
        <p:nvSpPr>
          <p:cNvPr id="6" name="Text 4"/>
          <p:cNvSpPr txBox="1"/>
          <p:nvPr/>
        </p:nvSpPr>
        <p:spPr>
          <a:xfrm>
            <a:off x="704088" y="2020824"/>
            <a:ext cx="3143402" cy="256032"/>
          </a:xfrm>
          <a:prstGeom prst="rect">
            <a:avLst/>
          </a:prstGeom>
          <a:noFill/>
          <a:ln/>
        </p:spPr>
        <p:txBody>
          <a:bodyPr wrap="square" lIns="0" tIns="0" rIns="0" bIns="0" rtlCol="0" anchor="ctr"/>
          <a:lstStyle/>
          <a:p>
            <a:pPr indent="0" marL="0">
              <a:buNone/>
            </a:pPr>
            <a:r>
              <a:rPr lang="en-US" sz="1000" b="1" spc="50" kern="0" dirty="0">
                <a:solidFill>
                  <a:srgbClr val="5F6F67"/>
                </a:solidFill>
                <a:latin typeface="Calibri" pitchFamily="34" charset="0"/>
                <a:ea typeface="Calibri" pitchFamily="34" charset="-122"/>
                <a:cs typeface="Calibri" pitchFamily="34" charset="-120"/>
              </a:rPr>
              <a:t>ACTIVE BUDGET</a:t>
            </a:r>
            <a:endParaRPr lang="en-US" sz="1000" dirty="0"/>
          </a:p>
        </p:txBody>
      </p:sp>
      <p:sp>
        <p:nvSpPr>
          <p:cNvPr id="7" name="Text 5"/>
          <p:cNvSpPr txBox="1"/>
          <p:nvPr/>
        </p:nvSpPr>
        <p:spPr>
          <a:xfrm>
            <a:off x="704088" y="2258568"/>
            <a:ext cx="3143402" cy="566928"/>
          </a:xfrm>
          <a:prstGeom prst="rect">
            <a:avLst/>
          </a:prstGeom>
          <a:noFill/>
          <a:ln/>
        </p:spPr>
        <p:txBody>
          <a:bodyPr wrap="square" lIns="0" tIns="0" rIns="0" bIns="0" rtlCol="0" anchor="ctr"/>
          <a:lstStyle/>
          <a:p>
            <a:pPr indent="0" marL="0">
              <a:buNone/>
            </a:pPr>
            <a:r>
              <a:rPr lang="en-US" sz="2400" b="1" dirty="0">
                <a:solidFill>
                  <a:srgbClr val="16221D"/>
                </a:solidFill>
                <a:latin typeface="Cambria" pitchFamily="34" charset="0"/>
                <a:ea typeface="Cambria" pitchFamily="34" charset="-122"/>
                <a:cs typeface="Cambria" pitchFamily="34" charset="-120"/>
              </a:rPr>
              <a:t>MYR 121,000</a:t>
            </a:r>
            <a:endParaRPr lang="en-US" sz="2400" dirty="0"/>
          </a:p>
        </p:txBody>
      </p:sp>
      <p:sp>
        <p:nvSpPr>
          <p:cNvPr id="8" name="Text 6"/>
          <p:cNvSpPr txBox="1"/>
          <p:nvPr/>
        </p:nvSpPr>
        <p:spPr>
          <a:xfrm>
            <a:off x="704088" y="2907792"/>
            <a:ext cx="3143402" cy="310896"/>
          </a:xfrm>
          <a:prstGeom prst="rect">
            <a:avLst/>
          </a:prstGeom>
          <a:noFill/>
          <a:ln/>
        </p:spPr>
        <p:txBody>
          <a:bodyPr wrap="square" lIns="0" tIns="0" rIns="0" bIns="0" rtlCol="0" anchor="ctr"/>
          <a:lstStyle/>
          <a:p>
            <a:pPr indent="0" marL="0">
              <a:buNone/>
            </a:pPr>
            <a:r>
              <a:rPr lang="en-US" sz="950" dirty="0">
                <a:solidFill>
                  <a:srgbClr val="5F6F67"/>
                </a:solidFill>
                <a:latin typeface="Calibri" pitchFamily="34" charset="0"/>
                <a:ea typeface="Calibri" pitchFamily="34" charset="-122"/>
                <a:cs typeface="Calibri" pitchFamily="34" charset="-120"/>
              </a:rPr>
              <a:t>Live approved budget</a:t>
            </a:r>
            <a:endParaRPr lang="en-US" sz="950" dirty="0"/>
          </a:p>
        </p:txBody>
      </p:sp>
      <p:sp>
        <p:nvSpPr>
          <p:cNvPr id="9" name="Shape 7"/>
          <p:cNvSpPr/>
          <p:nvPr/>
        </p:nvSpPr>
        <p:spPr>
          <a:xfrm>
            <a:off x="4322978" y="1874520"/>
            <a:ext cx="3545738" cy="1417320"/>
          </a:xfrm>
          <a:prstGeom prst="roundRect">
            <a:avLst>
              <a:gd name="adj" fmla="val 5806"/>
            </a:avLst>
          </a:prstGeom>
          <a:solidFill>
            <a:srgbClr val="FFFFFF"/>
          </a:solidFill>
          <a:ln w="9525">
            <a:solidFill>
              <a:srgbClr val="DDE3DE"/>
            </a:solidFill>
            <a:prstDash val="solid"/>
          </a:ln>
          <a:effectLst>
            <a:outerShdw sx="100000" sy="100000" kx="0" ky="0" algn="bl" rotWithShape="0" blurRad="127000" dist="38100" dir="5400000">
              <a:srgbClr val="1B2B22">
                <a:alpha val="12000"/>
              </a:srgbClr>
            </a:outerShdw>
          </a:effectLst>
        </p:spPr>
      </p:sp>
      <p:sp>
        <p:nvSpPr>
          <p:cNvPr id="10" name="Text 8"/>
          <p:cNvSpPr txBox="1"/>
          <p:nvPr/>
        </p:nvSpPr>
        <p:spPr>
          <a:xfrm>
            <a:off x="4524146" y="2020824"/>
            <a:ext cx="3143402" cy="256032"/>
          </a:xfrm>
          <a:prstGeom prst="rect">
            <a:avLst/>
          </a:prstGeom>
          <a:noFill/>
          <a:ln/>
        </p:spPr>
        <p:txBody>
          <a:bodyPr wrap="square" lIns="0" tIns="0" rIns="0" bIns="0" rtlCol="0" anchor="ctr"/>
          <a:lstStyle/>
          <a:p>
            <a:pPr indent="0" marL="0">
              <a:buNone/>
            </a:pPr>
            <a:r>
              <a:rPr lang="en-US" sz="1000" b="1" spc="50" kern="0" dirty="0">
                <a:solidFill>
                  <a:srgbClr val="5F6F67"/>
                </a:solidFill>
                <a:latin typeface="Calibri" pitchFamily="34" charset="0"/>
                <a:ea typeface="Calibri" pitchFamily="34" charset="-122"/>
                <a:cs typeface="Calibri" pitchFamily="34" charset="-120"/>
              </a:rPr>
              <a:t>ACTUAL SPENDING</a:t>
            </a:r>
            <a:endParaRPr lang="en-US" sz="1000" dirty="0"/>
          </a:p>
        </p:txBody>
      </p:sp>
      <p:sp>
        <p:nvSpPr>
          <p:cNvPr id="11" name="Text 9"/>
          <p:cNvSpPr txBox="1"/>
          <p:nvPr/>
        </p:nvSpPr>
        <p:spPr>
          <a:xfrm>
            <a:off x="4524146" y="2258568"/>
            <a:ext cx="3143402" cy="566928"/>
          </a:xfrm>
          <a:prstGeom prst="rect">
            <a:avLst/>
          </a:prstGeom>
          <a:noFill/>
          <a:ln/>
        </p:spPr>
        <p:txBody>
          <a:bodyPr wrap="square" lIns="0" tIns="0" rIns="0" bIns="0" rtlCol="0" anchor="ctr"/>
          <a:lstStyle/>
          <a:p>
            <a:pPr indent="0" marL="0">
              <a:buNone/>
            </a:pPr>
            <a:r>
              <a:rPr lang="en-US" sz="2400" b="1" dirty="0">
                <a:solidFill>
                  <a:srgbClr val="16221D"/>
                </a:solidFill>
                <a:latin typeface="Cambria" pitchFamily="34" charset="0"/>
                <a:ea typeface="Cambria" pitchFamily="34" charset="-122"/>
                <a:cs typeface="Cambria" pitchFamily="34" charset="-120"/>
              </a:rPr>
              <a:t>MYR 76,000</a:t>
            </a:r>
            <a:endParaRPr lang="en-US" sz="2400" dirty="0"/>
          </a:p>
        </p:txBody>
      </p:sp>
      <p:sp>
        <p:nvSpPr>
          <p:cNvPr id="12" name="Text 10"/>
          <p:cNvSpPr txBox="1"/>
          <p:nvPr/>
        </p:nvSpPr>
        <p:spPr>
          <a:xfrm>
            <a:off x="4524146" y="2907792"/>
            <a:ext cx="3143402" cy="310896"/>
          </a:xfrm>
          <a:prstGeom prst="rect">
            <a:avLst/>
          </a:prstGeom>
          <a:noFill/>
          <a:ln/>
        </p:spPr>
        <p:txBody>
          <a:bodyPr wrap="square" lIns="0" tIns="0" rIns="0" bIns="0" rtlCol="0" anchor="ctr"/>
          <a:lstStyle/>
          <a:p>
            <a:pPr indent="0" marL="0">
              <a:buNone/>
            </a:pPr>
            <a:r>
              <a:rPr lang="en-US" sz="950" dirty="0">
                <a:solidFill>
                  <a:srgbClr val="5F6F67"/>
                </a:solidFill>
                <a:latin typeface="Calibri" pitchFamily="34" charset="0"/>
                <a:ea typeface="Calibri" pitchFamily="34" charset="-122"/>
                <a:cs typeface="Calibri" pitchFamily="34" charset="-120"/>
              </a:rPr>
              <a:t>Authoritative ledger</a:t>
            </a:r>
            <a:endParaRPr lang="en-US" sz="950" dirty="0"/>
          </a:p>
        </p:txBody>
      </p:sp>
      <p:sp>
        <p:nvSpPr>
          <p:cNvPr id="13" name="Shape 11"/>
          <p:cNvSpPr/>
          <p:nvPr/>
        </p:nvSpPr>
        <p:spPr>
          <a:xfrm>
            <a:off x="8143037" y="1874520"/>
            <a:ext cx="3545738" cy="1417320"/>
          </a:xfrm>
          <a:prstGeom prst="roundRect">
            <a:avLst>
              <a:gd name="adj" fmla="val 5806"/>
            </a:avLst>
          </a:prstGeom>
          <a:solidFill>
            <a:srgbClr val="FFFFFF"/>
          </a:solidFill>
          <a:ln w="9525">
            <a:solidFill>
              <a:srgbClr val="DDE3DE"/>
            </a:solidFill>
            <a:prstDash val="solid"/>
          </a:ln>
          <a:effectLst>
            <a:outerShdw sx="100000" sy="100000" kx="0" ky="0" algn="bl" rotWithShape="0" blurRad="127000" dist="38100" dir="5400000">
              <a:srgbClr val="1B2B22">
                <a:alpha val="12000"/>
              </a:srgbClr>
            </a:outerShdw>
          </a:effectLst>
        </p:spPr>
      </p:sp>
      <p:sp>
        <p:nvSpPr>
          <p:cNvPr id="14" name="Text 12"/>
          <p:cNvSpPr txBox="1"/>
          <p:nvPr/>
        </p:nvSpPr>
        <p:spPr>
          <a:xfrm>
            <a:off x="8344205" y="2020824"/>
            <a:ext cx="3143402" cy="256032"/>
          </a:xfrm>
          <a:prstGeom prst="rect">
            <a:avLst/>
          </a:prstGeom>
          <a:noFill/>
          <a:ln/>
        </p:spPr>
        <p:txBody>
          <a:bodyPr wrap="square" lIns="0" tIns="0" rIns="0" bIns="0" rtlCol="0" anchor="ctr"/>
          <a:lstStyle/>
          <a:p>
            <a:pPr indent="0" marL="0">
              <a:buNone/>
            </a:pPr>
            <a:r>
              <a:rPr lang="en-US" sz="1000" b="1" spc="50" kern="0" dirty="0">
                <a:solidFill>
                  <a:srgbClr val="5F6F67"/>
                </a:solidFill>
                <a:latin typeface="Calibri" pitchFamily="34" charset="0"/>
                <a:ea typeface="Calibri" pitchFamily="34" charset="-122"/>
                <a:cs typeface="Calibri" pitchFamily="34" charset="-120"/>
              </a:rPr>
              <a:t>ACTIVE COMMITMENTS</a:t>
            </a:r>
            <a:endParaRPr lang="en-US" sz="1000" dirty="0"/>
          </a:p>
        </p:txBody>
      </p:sp>
      <p:sp>
        <p:nvSpPr>
          <p:cNvPr id="15" name="Text 13"/>
          <p:cNvSpPr txBox="1"/>
          <p:nvPr/>
        </p:nvSpPr>
        <p:spPr>
          <a:xfrm>
            <a:off x="8344205" y="2258568"/>
            <a:ext cx="3143402" cy="566928"/>
          </a:xfrm>
          <a:prstGeom prst="rect">
            <a:avLst/>
          </a:prstGeom>
          <a:noFill/>
          <a:ln/>
        </p:spPr>
        <p:txBody>
          <a:bodyPr wrap="square" lIns="0" tIns="0" rIns="0" bIns="0" rtlCol="0" anchor="ctr"/>
          <a:lstStyle/>
          <a:p>
            <a:pPr indent="0" marL="0">
              <a:buNone/>
            </a:pPr>
            <a:r>
              <a:rPr lang="en-US" sz="2400" b="1" dirty="0">
                <a:solidFill>
                  <a:srgbClr val="16221D"/>
                </a:solidFill>
                <a:latin typeface="Cambria" pitchFamily="34" charset="0"/>
                <a:ea typeface="Cambria" pitchFamily="34" charset="-122"/>
                <a:cs typeface="Cambria" pitchFamily="34" charset="-120"/>
              </a:rPr>
              <a:t>MYR 109,000</a:t>
            </a:r>
            <a:endParaRPr lang="en-US" sz="2400" dirty="0"/>
          </a:p>
        </p:txBody>
      </p:sp>
      <p:sp>
        <p:nvSpPr>
          <p:cNvPr id="16" name="Text 14"/>
          <p:cNvSpPr txBox="1"/>
          <p:nvPr/>
        </p:nvSpPr>
        <p:spPr>
          <a:xfrm>
            <a:off x="8344205" y="2907792"/>
            <a:ext cx="3143402" cy="310896"/>
          </a:xfrm>
          <a:prstGeom prst="rect">
            <a:avLst/>
          </a:prstGeom>
          <a:noFill/>
          <a:ln/>
        </p:spPr>
        <p:txBody>
          <a:bodyPr wrap="square" lIns="0" tIns="0" rIns="0" bIns="0" rtlCol="0" anchor="ctr"/>
          <a:lstStyle/>
          <a:p>
            <a:pPr indent="0" marL="0">
              <a:buNone/>
            </a:pPr>
            <a:r>
              <a:rPr lang="en-US" sz="950" dirty="0">
                <a:solidFill>
                  <a:srgbClr val="5F6F67"/>
                </a:solidFill>
                <a:latin typeface="Calibri" pitchFamily="34" charset="0"/>
                <a:ea typeface="Calibri" pitchFamily="34" charset="-122"/>
                <a:cs typeface="Calibri" pitchFamily="34" charset="-120"/>
              </a:rPr>
              <a:t>Active reservations</a:t>
            </a:r>
            <a:endParaRPr lang="en-US" sz="950" dirty="0"/>
          </a:p>
        </p:txBody>
      </p:sp>
      <p:sp>
        <p:nvSpPr>
          <p:cNvPr id="17" name="Shape 15"/>
          <p:cNvSpPr/>
          <p:nvPr/>
        </p:nvSpPr>
        <p:spPr>
          <a:xfrm>
            <a:off x="502920" y="3520440"/>
            <a:ext cx="3545738" cy="1417320"/>
          </a:xfrm>
          <a:prstGeom prst="roundRect">
            <a:avLst>
              <a:gd name="adj" fmla="val 5806"/>
            </a:avLst>
          </a:prstGeom>
          <a:solidFill>
            <a:srgbClr val="AD4038"/>
          </a:solidFill>
          <a:ln w="9525">
            <a:solidFill>
              <a:srgbClr val="DDE3DE"/>
            </a:solidFill>
            <a:prstDash val="solid"/>
          </a:ln>
          <a:effectLst>
            <a:outerShdw sx="100000" sy="100000" kx="0" ky="0" algn="bl" rotWithShape="0" blurRad="127000" dist="38100" dir="5400000">
              <a:srgbClr val="1B2B22">
                <a:alpha val="12000"/>
              </a:srgbClr>
            </a:outerShdw>
          </a:effectLst>
        </p:spPr>
      </p:sp>
      <p:sp>
        <p:nvSpPr>
          <p:cNvPr id="18" name="Text 16"/>
          <p:cNvSpPr txBox="1"/>
          <p:nvPr/>
        </p:nvSpPr>
        <p:spPr>
          <a:xfrm>
            <a:off x="704088" y="3666744"/>
            <a:ext cx="3143402" cy="256032"/>
          </a:xfrm>
          <a:prstGeom prst="rect">
            <a:avLst/>
          </a:prstGeom>
          <a:noFill/>
          <a:ln/>
        </p:spPr>
        <p:txBody>
          <a:bodyPr wrap="square" lIns="0" tIns="0" rIns="0" bIns="0" rtlCol="0" anchor="ctr"/>
          <a:lstStyle/>
          <a:p>
            <a:pPr indent="0" marL="0">
              <a:buNone/>
            </a:pPr>
            <a:r>
              <a:rPr lang="en-US" sz="1000" b="1" spc="50" kern="0" dirty="0">
                <a:solidFill>
                  <a:srgbClr val="F6DEDB"/>
                </a:solidFill>
                <a:latin typeface="Calibri" pitchFamily="34" charset="0"/>
                <a:ea typeface="Calibri" pitchFamily="34" charset="-122"/>
                <a:cs typeface="Calibri" pitchFamily="34" charset="-120"/>
              </a:rPr>
              <a:t>AVAILABLE</a:t>
            </a:r>
            <a:endParaRPr lang="en-US" sz="1000" dirty="0"/>
          </a:p>
        </p:txBody>
      </p:sp>
      <p:sp>
        <p:nvSpPr>
          <p:cNvPr id="19" name="Text 17"/>
          <p:cNvSpPr txBox="1"/>
          <p:nvPr/>
        </p:nvSpPr>
        <p:spPr>
          <a:xfrm>
            <a:off x="704088" y="3904488"/>
            <a:ext cx="3143402" cy="566928"/>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-MYR 64,000</a:t>
            </a:r>
            <a:endParaRPr lang="en-US" sz="2400" dirty="0"/>
          </a:p>
        </p:txBody>
      </p:sp>
      <p:sp>
        <p:nvSpPr>
          <p:cNvPr id="20" name="Text 18"/>
          <p:cNvSpPr txBox="1"/>
          <p:nvPr/>
        </p:nvSpPr>
        <p:spPr>
          <a:xfrm>
            <a:off x="704088" y="4553712"/>
            <a:ext cx="3143402" cy="310896"/>
          </a:xfrm>
          <a:prstGeom prst="rect">
            <a:avLst/>
          </a:prstGeom>
          <a:noFill/>
          <a:ln/>
        </p:spPr>
        <p:txBody>
          <a:bodyPr wrap="square" lIns="0" tIns="0" rIns="0" bIns="0" rtlCol="0" anchor="ctr"/>
          <a:lstStyle/>
          <a:p>
            <a:pPr indent="0" marL="0">
              <a:buNone/>
            </a:pPr>
            <a:r>
              <a:rPr lang="en-US" sz="950" dirty="0">
                <a:solidFill>
                  <a:srgbClr val="F6DEDB"/>
                </a:solidFill>
                <a:latin typeface="Calibri" pitchFamily="34" charset="0"/>
                <a:ea typeface="Calibri" pitchFamily="34" charset="-122"/>
                <a:cs typeface="Calibri" pitchFamily="34" charset="-120"/>
              </a:rPr>
              <a:t>Over committed — surfaced, not hidden</a:t>
            </a:r>
            <a:endParaRPr lang="en-US" sz="950" dirty="0"/>
          </a:p>
        </p:txBody>
      </p:sp>
      <p:sp>
        <p:nvSpPr>
          <p:cNvPr id="21" name="Shape 19"/>
          <p:cNvSpPr/>
          <p:nvPr/>
        </p:nvSpPr>
        <p:spPr>
          <a:xfrm>
            <a:off x="4322978" y="3520440"/>
            <a:ext cx="3545738" cy="1417320"/>
          </a:xfrm>
          <a:prstGeom prst="roundRect">
            <a:avLst>
              <a:gd name="adj" fmla="val 5806"/>
            </a:avLst>
          </a:prstGeom>
          <a:solidFill>
            <a:srgbClr val="FFFFFF"/>
          </a:solidFill>
          <a:ln w="9525">
            <a:solidFill>
              <a:srgbClr val="DDE3DE"/>
            </a:solidFill>
            <a:prstDash val="solid"/>
          </a:ln>
          <a:effectLst>
            <a:outerShdw sx="100000" sy="100000" kx="0" ky="0" algn="bl" rotWithShape="0" blurRad="127000" dist="38100" dir="5400000">
              <a:srgbClr val="1B2B22">
                <a:alpha val="12000"/>
              </a:srgbClr>
            </a:outerShdw>
          </a:effectLst>
        </p:spPr>
      </p:sp>
      <p:sp>
        <p:nvSpPr>
          <p:cNvPr id="22" name="Text 20"/>
          <p:cNvSpPr txBox="1"/>
          <p:nvPr/>
        </p:nvSpPr>
        <p:spPr>
          <a:xfrm>
            <a:off x="4524146" y="3666744"/>
            <a:ext cx="3143402" cy="256032"/>
          </a:xfrm>
          <a:prstGeom prst="rect">
            <a:avLst/>
          </a:prstGeom>
          <a:noFill/>
          <a:ln/>
        </p:spPr>
        <p:txBody>
          <a:bodyPr wrap="square" lIns="0" tIns="0" rIns="0" bIns="0" rtlCol="0" anchor="ctr"/>
          <a:lstStyle/>
          <a:p>
            <a:pPr indent="0" marL="0">
              <a:buNone/>
            </a:pPr>
            <a:r>
              <a:rPr lang="en-US" sz="1000" b="1" spc="50" kern="0" dirty="0">
                <a:solidFill>
                  <a:srgbClr val="5F6F67"/>
                </a:solidFill>
                <a:latin typeface="Calibri" pitchFamily="34" charset="0"/>
                <a:ea typeface="Calibri" pitchFamily="34" charset="-122"/>
                <a:cs typeface="Calibri" pitchFamily="34" charset="-120"/>
              </a:rPr>
              <a:t>PAID THIS PERIOD</a:t>
            </a:r>
            <a:endParaRPr lang="en-US" sz="1000" dirty="0"/>
          </a:p>
        </p:txBody>
      </p:sp>
      <p:sp>
        <p:nvSpPr>
          <p:cNvPr id="23" name="Text 21"/>
          <p:cNvSpPr txBox="1"/>
          <p:nvPr/>
        </p:nvSpPr>
        <p:spPr>
          <a:xfrm>
            <a:off x="4524146" y="3904488"/>
            <a:ext cx="3143402" cy="566928"/>
          </a:xfrm>
          <a:prstGeom prst="rect">
            <a:avLst/>
          </a:prstGeom>
          <a:noFill/>
          <a:ln/>
        </p:spPr>
        <p:txBody>
          <a:bodyPr wrap="square" lIns="0" tIns="0" rIns="0" bIns="0" rtlCol="0" anchor="ctr"/>
          <a:lstStyle/>
          <a:p>
            <a:pPr indent="0" marL="0">
              <a:buNone/>
            </a:pPr>
            <a:r>
              <a:rPr lang="en-US" sz="2400" b="1" dirty="0">
                <a:solidFill>
                  <a:srgbClr val="16221D"/>
                </a:solidFill>
                <a:latin typeface="Cambria" pitchFamily="34" charset="0"/>
                <a:ea typeface="Cambria" pitchFamily="34" charset="-122"/>
                <a:cs typeface="Cambria" pitchFamily="34" charset="-120"/>
              </a:rPr>
              <a:t>MYR 56,000</a:t>
            </a:r>
            <a:endParaRPr lang="en-US" sz="2400" dirty="0"/>
          </a:p>
        </p:txBody>
      </p:sp>
      <p:sp>
        <p:nvSpPr>
          <p:cNvPr id="24" name="Text 22"/>
          <p:cNvSpPr txBox="1"/>
          <p:nvPr/>
        </p:nvSpPr>
        <p:spPr>
          <a:xfrm>
            <a:off x="4524146" y="4553712"/>
            <a:ext cx="3143402" cy="310896"/>
          </a:xfrm>
          <a:prstGeom prst="rect">
            <a:avLst/>
          </a:prstGeom>
          <a:noFill/>
          <a:ln/>
        </p:spPr>
        <p:txBody>
          <a:bodyPr wrap="square" lIns="0" tIns="0" rIns="0" bIns="0" rtlCol="0" anchor="ctr"/>
          <a:lstStyle/>
          <a:p>
            <a:pPr indent="0" marL="0">
              <a:buNone/>
            </a:pPr>
            <a:r>
              <a:rPr lang="en-US" sz="950" dirty="0">
                <a:solidFill>
                  <a:srgbClr val="5F6F67"/>
                </a:solidFill>
                <a:latin typeface="Calibri" pitchFamily="34" charset="0"/>
                <a:ea typeface="Calibri" pitchFamily="34" charset="-122"/>
                <a:cs typeface="Calibri" pitchFamily="34" charset="-120"/>
              </a:rPr>
              <a:t>Immutable payment records</a:t>
            </a:r>
            <a:endParaRPr lang="en-US" sz="950" dirty="0"/>
          </a:p>
        </p:txBody>
      </p:sp>
      <p:sp>
        <p:nvSpPr>
          <p:cNvPr id="25" name="Shape 23"/>
          <p:cNvSpPr/>
          <p:nvPr/>
        </p:nvSpPr>
        <p:spPr>
          <a:xfrm>
            <a:off x="8143037" y="3520440"/>
            <a:ext cx="3545738" cy="1417320"/>
          </a:xfrm>
          <a:prstGeom prst="roundRect">
            <a:avLst>
              <a:gd name="adj" fmla="val 5806"/>
            </a:avLst>
          </a:prstGeom>
          <a:solidFill>
            <a:srgbClr val="FFFFFF"/>
          </a:solidFill>
          <a:ln w="9525">
            <a:solidFill>
              <a:srgbClr val="DDE3DE"/>
            </a:solidFill>
            <a:prstDash val="solid"/>
          </a:ln>
          <a:effectLst>
            <a:outerShdw sx="100000" sy="100000" kx="0" ky="0" algn="bl" rotWithShape="0" blurRad="127000" dist="38100" dir="5400000">
              <a:srgbClr val="1B2B22">
                <a:alpha val="12000"/>
              </a:srgbClr>
            </a:outerShdw>
          </a:effectLst>
        </p:spPr>
      </p:sp>
      <p:sp>
        <p:nvSpPr>
          <p:cNvPr id="26" name="Text 24"/>
          <p:cNvSpPr txBox="1"/>
          <p:nvPr/>
        </p:nvSpPr>
        <p:spPr>
          <a:xfrm>
            <a:off x="8344205" y="3666744"/>
            <a:ext cx="3143402" cy="256032"/>
          </a:xfrm>
          <a:prstGeom prst="rect">
            <a:avLst/>
          </a:prstGeom>
          <a:noFill/>
          <a:ln/>
        </p:spPr>
        <p:txBody>
          <a:bodyPr wrap="square" lIns="0" tIns="0" rIns="0" bIns="0" rtlCol="0" anchor="ctr"/>
          <a:lstStyle/>
          <a:p>
            <a:pPr indent="0" marL="0">
              <a:buNone/>
            </a:pPr>
            <a:r>
              <a:rPr lang="en-US" sz="1000" b="1" spc="50" kern="0" dirty="0">
                <a:solidFill>
                  <a:srgbClr val="5F6F67"/>
                </a:solidFill>
                <a:latin typeface="Calibri" pitchFamily="34" charset="0"/>
                <a:ea typeface="Calibri" pitchFamily="34" charset="-122"/>
                <a:cs typeface="Calibri" pitchFamily="34" charset="-120"/>
              </a:rPr>
              <a:t>REQUESTS PROCESSED</a:t>
            </a:r>
            <a:endParaRPr lang="en-US" sz="1000" dirty="0"/>
          </a:p>
        </p:txBody>
      </p:sp>
      <p:sp>
        <p:nvSpPr>
          <p:cNvPr id="27" name="Text 25"/>
          <p:cNvSpPr txBox="1"/>
          <p:nvPr/>
        </p:nvSpPr>
        <p:spPr>
          <a:xfrm>
            <a:off x="8344205" y="3904488"/>
            <a:ext cx="3143402" cy="566928"/>
          </a:xfrm>
          <a:prstGeom prst="rect">
            <a:avLst/>
          </a:prstGeom>
          <a:noFill/>
          <a:ln/>
        </p:spPr>
        <p:txBody>
          <a:bodyPr wrap="square" lIns="0" tIns="0" rIns="0" bIns="0" rtlCol="0" anchor="ctr"/>
          <a:lstStyle/>
          <a:p>
            <a:pPr indent="0" marL="0">
              <a:buNone/>
            </a:pPr>
            <a:r>
              <a:rPr lang="en-US" sz="2400" b="1" dirty="0">
                <a:solidFill>
                  <a:srgbClr val="16221D"/>
                </a:solidFill>
                <a:latin typeface="Cambria" pitchFamily="34" charset="0"/>
                <a:ea typeface="Cambria" pitchFamily="34" charset="-122"/>
                <a:cs typeface="Cambria" pitchFamily="34" charset="-120"/>
              </a:rPr>
              <a:t>4</a:t>
            </a:r>
            <a:endParaRPr lang="en-US" sz="2400" dirty="0"/>
          </a:p>
        </p:txBody>
      </p:sp>
      <p:sp>
        <p:nvSpPr>
          <p:cNvPr id="28" name="Text 26"/>
          <p:cNvSpPr txBox="1"/>
          <p:nvPr/>
        </p:nvSpPr>
        <p:spPr>
          <a:xfrm>
            <a:off x="8344205" y="4553712"/>
            <a:ext cx="3143402" cy="310896"/>
          </a:xfrm>
          <a:prstGeom prst="rect">
            <a:avLst/>
          </a:prstGeom>
          <a:noFill/>
          <a:ln/>
        </p:spPr>
        <p:txBody>
          <a:bodyPr wrap="square" lIns="0" tIns="0" rIns="0" bIns="0" rtlCol="0" anchor="ctr"/>
          <a:lstStyle/>
          <a:p>
            <a:pPr indent="0" marL="0">
              <a:buNone/>
            </a:pPr>
            <a:r>
              <a:rPr lang="en-US" sz="950" dirty="0">
                <a:solidFill>
                  <a:srgbClr val="5F6F67"/>
                </a:solidFill>
                <a:latin typeface="Calibri" pitchFamily="34" charset="0"/>
                <a:ea typeface="Calibri" pitchFamily="34" charset="-122"/>
                <a:cs typeface="Calibri" pitchFamily="34" charset="-120"/>
              </a:rPr>
              <a:t>Completed operational workload</a:t>
            </a:r>
            <a:endParaRPr lang="en-US" sz="950" dirty="0"/>
          </a:p>
        </p:txBody>
      </p:sp>
      <p:sp>
        <p:nvSpPr>
          <p:cNvPr id="29" name="Text 27"/>
          <p:cNvSpPr txBox="1"/>
          <p:nvPr/>
        </p:nvSpPr>
        <p:spPr>
          <a:xfrm>
            <a:off x="502920" y="5239512"/>
            <a:ext cx="11185855" cy="365760"/>
          </a:xfrm>
          <a:prstGeom prst="rect">
            <a:avLst/>
          </a:prstGeom>
          <a:noFill/>
          <a:ln/>
        </p:spPr>
        <p:txBody>
          <a:bodyPr wrap="square" lIns="0" tIns="0" rIns="0" bIns="0" rtlCol="0" anchor="ctr"/>
          <a:lstStyle/>
          <a:p>
            <a:pPr indent="0" marL="0">
              <a:buNone/>
            </a:pPr>
            <a:r>
              <a:rPr lang="en-US" sz="1150" i="1" dirty="0">
                <a:solidFill>
                  <a:srgbClr val="5F6F67"/>
                </a:solidFill>
                <a:latin typeface="Calibri" pitchFamily="34" charset="0"/>
                <a:ea typeface="Calibri" pitchFamily="34" charset="-122"/>
                <a:cs typeface="Calibri" pitchFamily="34" charset="-120"/>
              </a:rPr>
              <a:t>Negative Available is displayed on the live dashboard — AIMS surfaces budget pressure instead of concealing it.</a:t>
            </a:r>
            <a:endParaRPr lang="en-US" sz="1150" dirty="0"/>
          </a:p>
        </p:txBody>
      </p:sp>
      <p:sp>
        <p:nvSpPr>
          <p:cNvPr id="30" name="Text 28"/>
          <p:cNvSpPr txBox="1"/>
          <p:nvPr/>
        </p:nvSpPr>
        <p:spPr>
          <a:xfrm>
            <a:off x="502920" y="6537960"/>
            <a:ext cx="7315200" cy="256032"/>
          </a:xfrm>
          <a:prstGeom prst="rect">
            <a:avLst/>
          </a:prstGeom>
          <a:noFill/>
          <a:ln/>
        </p:spPr>
        <p:txBody>
          <a:bodyPr wrap="square" lIns="0" tIns="0" rIns="0" bIns="0" rtlCol="0" anchor="ctr"/>
          <a:lstStyle/>
          <a:p>
            <a:pPr indent="0" marL="0">
              <a:buNone/>
            </a:pPr>
            <a:r>
              <a:rPr lang="en-US" sz="900" dirty="0">
                <a:solidFill>
                  <a:srgbClr val="5F6F67"/>
                </a:solidFill>
                <a:latin typeface="Calibri" pitchFamily="34" charset="0"/>
                <a:ea typeface="Calibri" pitchFamily="34" charset="-122"/>
                <a:cs typeface="Calibri" pitchFamily="34" charset="-120"/>
              </a:rPr>
              <a:t>AIMS · AI-Powered Payment &amp; Finance Control</a:t>
            </a:r>
            <a:endParaRPr lang="en-US" sz="900" dirty="0"/>
          </a:p>
        </p:txBody>
      </p:sp>
      <p:sp>
        <p:nvSpPr>
          <p:cNvPr id="31" name="Text 29"/>
          <p:cNvSpPr txBox="1"/>
          <p:nvPr/>
        </p:nvSpPr>
        <p:spPr>
          <a:xfrm>
            <a:off x="11140135" y="6537960"/>
            <a:ext cx="548640" cy="256032"/>
          </a:xfrm>
          <a:prstGeom prst="rect">
            <a:avLst/>
          </a:prstGeom>
          <a:noFill/>
          <a:ln/>
        </p:spPr>
        <p:txBody>
          <a:bodyPr wrap="square" lIns="0" tIns="0" rIns="0" bIns="0" rtlCol="0" anchor="ctr"/>
          <a:lstStyle/>
          <a:p>
            <a:pPr algn="r" indent="0" marL="0">
              <a:buNone/>
            </a:pPr>
            <a:r>
              <a:rPr lang="en-US" sz="900" dirty="0">
                <a:solidFill>
                  <a:srgbClr val="5F6F67"/>
                </a:solidFill>
                <a:latin typeface="Calibri" pitchFamily="34" charset="0"/>
                <a:ea typeface="Calibri" pitchFamily="34" charset="-122"/>
                <a:cs typeface="Calibri" pitchFamily="34" charset="-120"/>
              </a:rPr>
              <a:t>09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6F3"/>
        </a:solidFill>
      </p:bgPr>
    </p:bg>
    <p:spTree>
      <p:nvGrpSpPr>
        <p:cNvPr id="1" name=""/>
        <p:cNvGrpSpPr/>
        <p:nvPr/>
      </p:nvGrpSpPr>
      <p:grpSpPr>
        <a:xfrm>
          <a:off x="0" y="0"/>
          <a:ext cx="0" cy="0"/>
          <a:chOff x="0" y="0"/>
          <a:chExt cx="0" cy="0"/>
        </a:xfrm>
      </p:grpSpPr>
      <p:sp>
        <p:nvSpPr>
          <p:cNvPr id="2" name="Text 0"/>
          <p:cNvSpPr txBox="1"/>
          <p:nvPr/>
        </p:nvSpPr>
        <p:spPr>
          <a:xfrm>
            <a:off x="502920" y="384048"/>
            <a:ext cx="11185855" cy="274320"/>
          </a:xfrm>
          <a:prstGeom prst="rect">
            <a:avLst/>
          </a:prstGeom>
          <a:noFill/>
          <a:ln/>
        </p:spPr>
        <p:txBody>
          <a:bodyPr wrap="square" lIns="0" tIns="0" rIns="0" bIns="0" rtlCol="0" anchor="ctr"/>
          <a:lstStyle/>
          <a:p>
            <a:pPr indent="0" marL="0">
              <a:buNone/>
            </a:pPr>
            <a:r>
              <a:rPr lang="en-US" sz="1100" b="1" spc="200" kern="0" dirty="0">
                <a:solidFill>
                  <a:srgbClr val="5F6F67"/>
                </a:solidFill>
                <a:latin typeface="Calibri" pitchFamily="34" charset="0"/>
                <a:ea typeface="Calibri" pitchFamily="34" charset="-122"/>
                <a:cs typeface="Calibri" pitchFamily="34" charset="-120"/>
              </a:rPr>
              <a:t>09 · ASK AIMS</a:t>
            </a:r>
            <a:endParaRPr lang="en-US" sz="1100" dirty="0"/>
          </a:p>
        </p:txBody>
      </p:sp>
      <p:sp>
        <p:nvSpPr>
          <p:cNvPr id="3" name="Text 1"/>
          <p:cNvSpPr txBox="1"/>
          <p:nvPr/>
        </p:nvSpPr>
        <p:spPr>
          <a:xfrm>
            <a:off x="502920" y="658368"/>
            <a:ext cx="11185855" cy="822960"/>
          </a:xfrm>
          <a:prstGeom prst="rect">
            <a:avLst/>
          </a:prstGeom>
          <a:noFill/>
          <a:ln/>
        </p:spPr>
        <p:txBody>
          <a:bodyPr wrap="square" lIns="0" tIns="0" rIns="0" bIns="0" rtlCol="0" anchor="ctr"/>
          <a:lstStyle/>
          <a:p>
            <a:pPr algn="l" indent="0" marL="0">
              <a:lnSpc>
                <a:spcPct val="102000"/>
              </a:lnSpc>
              <a:buNone/>
            </a:pPr>
            <a:r>
              <a:rPr lang="en-US" sz="2700" b="1" dirty="0">
                <a:solidFill>
                  <a:srgbClr val="16221D"/>
                </a:solidFill>
                <a:latin typeface="Cambria" pitchFamily="34" charset="0"/>
                <a:ea typeface="Cambria" pitchFamily="34" charset="-122"/>
                <a:cs typeface="Cambria" pitchFamily="34" charset="-120"/>
              </a:rPr>
              <a:t>Financial truth first. AI explanation second.</a:t>
            </a:r>
            <a:endParaRPr lang="en-US" sz="2700" dirty="0"/>
          </a:p>
        </p:txBody>
      </p:sp>
      <p:sp>
        <p:nvSpPr>
          <p:cNvPr id="4" name="Shape 2"/>
          <p:cNvSpPr/>
          <p:nvPr/>
        </p:nvSpPr>
        <p:spPr>
          <a:xfrm>
            <a:off x="502920" y="1874520"/>
            <a:ext cx="5410048" cy="3200400"/>
          </a:xfrm>
          <a:prstGeom prst="roundRect">
            <a:avLst>
              <a:gd name="adj" fmla="val 2571"/>
            </a:avLst>
          </a:prstGeom>
          <a:solidFill>
            <a:srgbClr val="FFFFFF"/>
          </a:solidFill>
          <a:ln w="9525">
            <a:solidFill>
              <a:srgbClr val="DDE3DE"/>
            </a:solidFill>
            <a:prstDash val="solid"/>
          </a:ln>
        </p:spPr>
      </p:sp>
      <p:sp>
        <p:nvSpPr>
          <p:cNvPr id="5" name="Shape 3"/>
          <p:cNvSpPr/>
          <p:nvPr/>
        </p:nvSpPr>
        <p:spPr>
          <a:xfrm>
            <a:off x="777240" y="2148840"/>
            <a:ext cx="2651760" cy="365760"/>
          </a:xfrm>
          <a:prstGeom prst="roundRect">
            <a:avLst>
              <a:gd name="adj" fmla="val 50000"/>
            </a:avLst>
          </a:prstGeom>
          <a:solidFill>
            <a:srgbClr val="173F2E"/>
          </a:solidFill>
          <a:ln/>
        </p:spPr>
      </p:sp>
      <p:sp>
        <p:nvSpPr>
          <p:cNvPr id="6" name="Text 4"/>
          <p:cNvSpPr txBox="1"/>
          <p:nvPr/>
        </p:nvSpPr>
        <p:spPr>
          <a:xfrm>
            <a:off x="777240" y="2148840"/>
            <a:ext cx="2651760" cy="365760"/>
          </a:xfrm>
          <a:prstGeom prst="rect">
            <a:avLst/>
          </a:prstGeom>
          <a:noFill/>
          <a:ln/>
        </p:spPr>
        <p:txBody>
          <a:bodyPr wrap="square" lIns="0" tIns="0" rIns="0" bIns="0" rtlCol="0" anchor="ctr"/>
          <a:lstStyle/>
          <a:p>
            <a:pPr algn="ctr" indent="0" marL="0">
              <a:buNone/>
            </a:pPr>
            <a:r>
              <a:rPr lang="en-US" sz="1050" b="1" spc="50" kern="0" dirty="0">
                <a:solidFill>
                  <a:srgbClr val="FFFFFF"/>
                </a:solidFill>
                <a:latin typeface="Calibri" pitchFamily="34" charset="0"/>
                <a:ea typeface="Calibri" pitchFamily="34" charset="-122"/>
                <a:cs typeface="Calibri" pitchFamily="34" charset="-120"/>
              </a:rPr>
              <a:t>SYSTEM CALCULATED</a:t>
            </a:r>
            <a:endParaRPr lang="en-US" sz="1050" dirty="0"/>
          </a:p>
        </p:txBody>
      </p:sp>
      <p:sp>
        <p:nvSpPr>
          <p:cNvPr id="7" name="Text 5"/>
          <p:cNvSpPr txBox="1"/>
          <p:nvPr/>
        </p:nvSpPr>
        <p:spPr>
          <a:xfrm>
            <a:off x="777240" y="2743200"/>
            <a:ext cx="4861408" cy="320040"/>
          </a:xfrm>
          <a:prstGeom prst="rect">
            <a:avLst/>
          </a:prstGeom>
          <a:noFill/>
          <a:ln/>
        </p:spPr>
        <p:txBody>
          <a:bodyPr wrap="square" lIns="0" tIns="0" rIns="0" bIns="0" rtlCol="0" anchor="ctr"/>
          <a:lstStyle/>
          <a:p>
            <a:pPr indent="0" marL="0">
              <a:buNone/>
            </a:pPr>
            <a:r>
              <a:rPr lang="en-US" sz="1300" b="1" dirty="0">
                <a:solidFill>
                  <a:srgbClr val="5F6F67"/>
                </a:solidFill>
                <a:latin typeface="Calibri" pitchFamily="34" charset="0"/>
                <a:ea typeface="Calibri" pitchFamily="34" charset="-122"/>
                <a:cs typeface="Calibri" pitchFamily="34" charset="-120"/>
              </a:rPr>
              <a:t>Finance Dashboard</a:t>
            </a:r>
            <a:endParaRPr lang="en-US" sz="1300" dirty="0"/>
          </a:p>
        </p:txBody>
      </p:sp>
      <p:sp>
        <p:nvSpPr>
          <p:cNvPr id="8" name="Text 6"/>
          <p:cNvSpPr txBox="1"/>
          <p:nvPr/>
        </p:nvSpPr>
        <p:spPr>
          <a:xfrm>
            <a:off x="777240" y="3108960"/>
            <a:ext cx="4861408" cy="320040"/>
          </a:xfrm>
          <a:prstGeom prst="rect">
            <a:avLst/>
          </a:prstGeom>
          <a:noFill/>
          <a:ln/>
        </p:spPr>
        <p:txBody>
          <a:bodyPr wrap="square" lIns="0" tIns="0" rIns="0" bIns="0" rtlCol="0" anchor="ctr"/>
          <a:lstStyle/>
          <a:p>
            <a:pPr indent="0" marL="0">
              <a:buNone/>
            </a:pPr>
            <a:r>
              <a:rPr lang="en-US" sz="1400" dirty="0">
                <a:solidFill>
                  <a:srgbClr val="16221D"/>
                </a:solidFill>
                <a:latin typeface="Calibri" pitchFamily="34" charset="0"/>
                <a:ea typeface="Calibri" pitchFamily="34" charset="-122"/>
                <a:cs typeface="Calibri" pitchFamily="34" charset="-120"/>
              </a:rPr>
              <a:t>Paid This Period</a:t>
            </a:r>
            <a:endParaRPr lang="en-US" sz="1400" dirty="0"/>
          </a:p>
        </p:txBody>
      </p:sp>
      <p:sp>
        <p:nvSpPr>
          <p:cNvPr id="9" name="Text 7"/>
          <p:cNvSpPr txBox="1"/>
          <p:nvPr/>
        </p:nvSpPr>
        <p:spPr>
          <a:xfrm>
            <a:off x="777240" y="3429000"/>
            <a:ext cx="4861408" cy="777240"/>
          </a:xfrm>
          <a:prstGeom prst="rect">
            <a:avLst/>
          </a:prstGeom>
          <a:noFill/>
          <a:ln/>
        </p:spPr>
        <p:txBody>
          <a:bodyPr wrap="square" lIns="0" tIns="0" rIns="0" bIns="0" rtlCol="0" anchor="ctr"/>
          <a:lstStyle/>
          <a:p>
            <a:pPr indent="0" marL="0">
              <a:buNone/>
            </a:pPr>
            <a:r>
              <a:rPr lang="en-US" sz="3400" b="1" dirty="0">
                <a:solidFill>
                  <a:srgbClr val="173F2E"/>
                </a:solidFill>
                <a:latin typeface="Cambria" pitchFamily="34" charset="0"/>
                <a:ea typeface="Cambria" pitchFamily="34" charset="-122"/>
                <a:cs typeface="Cambria" pitchFamily="34" charset="-120"/>
              </a:rPr>
              <a:t>MYR 56,000.00</a:t>
            </a:r>
            <a:endParaRPr lang="en-US" sz="3400" dirty="0"/>
          </a:p>
        </p:txBody>
      </p:sp>
      <p:sp>
        <p:nvSpPr>
          <p:cNvPr id="10" name="Text 8"/>
          <p:cNvSpPr txBox="1"/>
          <p:nvPr/>
        </p:nvSpPr>
        <p:spPr>
          <a:xfrm>
            <a:off x="777240" y="4297680"/>
            <a:ext cx="4861408" cy="457200"/>
          </a:xfrm>
          <a:prstGeom prst="rect">
            <a:avLst/>
          </a:prstGeom>
          <a:noFill/>
          <a:ln/>
        </p:spPr>
        <p:txBody>
          <a:bodyPr wrap="square" lIns="0" tIns="0" rIns="0" bIns="0" rtlCol="0" anchor="ctr"/>
          <a:lstStyle/>
          <a:p>
            <a:pPr indent="0" marL="0">
              <a:buNone/>
            </a:pPr>
            <a:r>
              <a:rPr lang="en-US" sz="1100" dirty="0">
                <a:solidFill>
                  <a:srgbClr val="5F6F67"/>
                </a:solidFill>
                <a:latin typeface="Calibri" pitchFamily="34" charset="0"/>
                <a:ea typeface="Calibri" pitchFamily="34" charset="-122"/>
                <a:cs typeface="Calibri" pitchFamily="34" charset="-120"/>
              </a:rPr>
              <a:t>4 requests processed · immutable payment records</a:t>
            </a:r>
            <a:endParaRPr lang="en-US" sz="1100" dirty="0"/>
          </a:p>
        </p:txBody>
      </p:sp>
      <p:sp>
        <p:nvSpPr>
          <p:cNvPr id="11" name="Shape 9"/>
          <p:cNvSpPr/>
          <p:nvPr/>
        </p:nvSpPr>
        <p:spPr>
          <a:xfrm>
            <a:off x="6278728" y="1874520"/>
            <a:ext cx="5410048" cy="3200400"/>
          </a:xfrm>
          <a:prstGeom prst="roundRect">
            <a:avLst>
              <a:gd name="adj" fmla="val 2571"/>
            </a:avLst>
          </a:prstGeom>
          <a:solidFill>
            <a:srgbClr val="F2EEF9"/>
          </a:solidFill>
          <a:ln w="9525">
            <a:solidFill>
              <a:srgbClr val="F2EEF9"/>
            </a:solidFill>
            <a:prstDash val="solid"/>
          </a:ln>
        </p:spPr>
      </p:sp>
      <p:sp>
        <p:nvSpPr>
          <p:cNvPr id="12" name="Shape 10"/>
          <p:cNvSpPr/>
          <p:nvPr/>
        </p:nvSpPr>
        <p:spPr>
          <a:xfrm>
            <a:off x="6553048" y="2148840"/>
            <a:ext cx="2651760" cy="365760"/>
          </a:xfrm>
          <a:prstGeom prst="roundRect">
            <a:avLst>
              <a:gd name="adj" fmla="val 50000"/>
            </a:avLst>
          </a:prstGeom>
          <a:solidFill>
            <a:srgbClr val="6D51A8"/>
          </a:solidFill>
          <a:ln/>
        </p:spPr>
      </p:sp>
      <p:sp>
        <p:nvSpPr>
          <p:cNvPr id="13" name="Text 11"/>
          <p:cNvSpPr txBox="1"/>
          <p:nvPr/>
        </p:nvSpPr>
        <p:spPr>
          <a:xfrm>
            <a:off x="6553048" y="2148840"/>
            <a:ext cx="2651760" cy="365760"/>
          </a:xfrm>
          <a:prstGeom prst="rect">
            <a:avLst/>
          </a:prstGeom>
          <a:noFill/>
          <a:ln/>
        </p:spPr>
        <p:txBody>
          <a:bodyPr wrap="square" lIns="0" tIns="0" rIns="0" bIns="0" rtlCol="0" anchor="ctr"/>
          <a:lstStyle/>
          <a:p>
            <a:pPr algn="ctr" indent="0" marL="0">
              <a:buNone/>
            </a:pPr>
            <a:r>
              <a:rPr lang="en-US" sz="1050" b="1" spc="50" kern="0" dirty="0">
                <a:solidFill>
                  <a:srgbClr val="FFFFFF"/>
                </a:solidFill>
                <a:latin typeface="Calibri" pitchFamily="34" charset="0"/>
                <a:ea typeface="Calibri" pitchFamily="34" charset="-122"/>
                <a:cs typeface="Calibri" pitchFamily="34" charset="-120"/>
              </a:rPr>
              <a:t>EVIDENCE-BOUNDED AI</a:t>
            </a:r>
            <a:endParaRPr lang="en-US" sz="1050" dirty="0"/>
          </a:p>
        </p:txBody>
      </p:sp>
      <p:sp>
        <p:nvSpPr>
          <p:cNvPr id="14" name="Text 12"/>
          <p:cNvSpPr txBox="1"/>
          <p:nvPr/>
        </p:nvSpPr>
        <p:spPr>
          <a:xfrm>
            <a:off x="6553048" y="2743200"/>
            <a:ext cx="4861408" cy="685800"/>
          </a:xfrm>
          <a:prstGeom prst="rect">
            <a:avLst/>
          </a:prstGeom>
          <a:noFill/>
          <a:ln/>
        </p:spPr>
        <p:txBody>
          <a:bodyPr wrap="square" lIns="0" tIns="0" rIns="0" bIns="0" rtlCol="0" anchor="ctr"/>
          <a:lstStyle/>
          <a:p>
            <a:pPr indent="0" marL="0">
              <a:lnSpc>
                <a:spcPct val="115000"/>
              </a:lnSpc>
              <a:buNone/>
            </a:pPr>
            <a:r>
              <a:rPr lang="en-US" sz="1300" i="1" dirty="0">
                <a:solidFill>
                  <a:srgbClr val="16221D"/>
                </a:solidFill>
                <a:latin typeface="Calibri" pitchFamily="34" charset="0"/>
                <a:ea typeface="Calibri" pitchFamily="34" charset="-122"/>
                <a:cs typeface="Calibri" pitchFamily="34" charset="-120"/>
              </a:rPr>
              <a:t>“What is the total financial impact of</a:t>
            </a:r>
            <a:endParaRPr lang="en-US" sz="1300" dirty="0"/>
          </a:p>
          <a:p>
            <a:pPr indent="0" marL="0">
              <a:lnSpc>
                <a:spcPct val="115000"/>
              </a:lnSpc>
              <a:buNone/>
            </a:pPr>
            <a:r>
              <a:rPr lang="en-US" sz="1300" i="1" dirty="0">
                <a:solidFill>
                  <a:srgbClr val="16221D"/>
                </a:solidFill>
                <a:latin typeface="Calibri" pitchFamily="34" charset="0"/>
                <a:ea typeface="Calibri" pitchFamily="34" charset="-122"/>
                <a:cs typeface="Calibri" pitchFamily="34" charset="-120"/>
              </a:rPr>
              <a:t>payments made this period?”</a:t>
            </a:r>
            <a:endParaRPr lang="en-US" sz="1300" dirty="0"/>
          </a:p>
        </p:txBody>
      </p:sp>
      <p:sp>
        <p:nvSpPr>
          <p:cNvPr id="15" name="Shape 13"/>
          <p:cNvSpPr/>
          <p:nvPr/>
        </p:nvSpPr>
        <p:spPr>
          <a:xfrm>
            <a:off x="6553048" y="3520440"/>
            <a:ext cx="4861408" cy="1371600"/>
          </a:xfrm>
          <a:prstGeom prst="roundRect">
            <a:avLst>
              <a:gd name="adj" fmla="val 6000"/>
            </a:avLst>
          </a:prstGeom>
          <a:solidFill>
            <a:srgbClr val="FFFFFF"/>
          </a:solidFill>
          <a:ln w="9525">
            <a:solidFill>
              <a:srgbClr val="E3DAF0"/>
            </a:solidFill>
            <a:prstDash val="solid"/>
          </a:ln>
        </p:spPr>
      </p:sp>
      <p:sp>
        <p:nvSpPr>
          <p:cNvPr id="16" name="Text 14"/>
          <p:cNvSpPr txBox="1"/>
          <p:nvPr/>
        </p:nvSpPr>
        <p:spPr>
          <a:xfrm>
            <a:off x="6735928" y="3657600"/>
            <a:ext cx="4495648" cy="1097280"/>
          </a:xfrm>
          <a:prstGeom prst="rect">
            <a:avLst/>
          </a:prstGeom>
          <a:noFill/>
          <a:ln/>
        </p:spPr>
        <p:txBody>
          <a:bodyPr wrap="square" lIns="0" tIns="0" rIns="0" bIns="0" rtlCol="0" anchor="ctr"/>
          <a:lstStyle/>
          <a:p>
            <a:pPr indent="0" marL="0">
              <a:lnSpc>
                <a:spcPct val="120000"/>
              </a:lnSpc>
              <a:buNone/>
            </a:pPr>
            <a:r>
              <a:rPr lang="en-US" sz="1300" dirty="0">
                <a:solidFill>
                  <a:srgbClr val="16221D"/>
                </a:solidFill>
                <a:latin typeface="Calibri" pitchFamily="34" charset="0"/>
                <a:ea typeface="Calibri" pitchFamily="34" charset="-122"/>
                <a:cs typeface="Calibri" pitchFamily="34" charset="-120"/>
              </a:rPr>
              <a:t>“Total financial impact (sum of provided paid amounts) for the selected period is MYR 56000.00.”</a:t>
            </a:r>
            <a:endParaRPr lang="en-US" sz="1300" dirty="0"/>
          </a:p>
        </p:txBody>
      </p:sp>
      <p:sp>
        <p:nvSpPr>
          <p:cNvPr id="17" name="Text 15"/>
          <p:cNvSpPr txBox="1"/>
          <p:nvPr/>
        </p:nvSpPr>
        <p:spPr>
          <a:xfrm>
            <a:off x="502920" y="5303520"/>
            <a:ext cx="11185855" cy="502920"/>
          </a:xfrm>
          <a:prstGeom prst="rect">
            <a:avLst/>
          </a:prstGeom>
          <a:noFill/>
          <a:ln/>
        </p:spPr>
        <p:txBody>
          <a:bodyPr wrap="square" lIns="0" tIns="0" rIns="0" bIns="0" rtlCol="0" anchor="ctr"/>
          <a:lstStyle/>
          <a:p>
            <a:pPr indent="0" marL="0">
              <a:buNone/>
            </a:pPr>
            <a:r>
              <a:rPr lang="en-US" sz="1200" dirty="0">
                <a:solidFill>
                  <a:srgbClr val="5F6F67"/>
                </a:solidFill>
                <a:latin typeface="Calibri" pitchFamily="34" charset="0"/>
                <a:ea typeface="Calibri" pitchFamily="34" charset="-122"/>
                <a:cs typeface="Calibri" pitchFamily="34" charset="-120"/>
              </a:rPr>
              <a:t>Ask AIMS answered from bounded, authorized evidence — the same figure the deterministic dashboard already showed. It is not a general chatbot and cannot run arbitrary queries.</a:t>
            </a:r>
            <a:endParaRPr lang="en-US" sz="1200" dirty="0"/>
          </a:p>
        </p:txBody>
      </p:sp>
      <p:sp>
        <p:nvSpPr>
          <p:cNvPr id="18" name="Text 16"/>
          <p:cNvSpPr txBox="1"/>
          <p:nvPr/>
        </p:nvSpPr>
        <p:spPr>
          <a:xfrm>
            <a:off x="502920" y="6537960"/>
            <a:ext cx="7315200" cy="256032"/>
          </a:xfrm>
          <a:prstGeom prst="rect">
            <a:avLst/>
          </a:prstGeom>
          <a:noFill/>
          <a:ln/>
        </p:spPr>
        <p:txBody>
          <a:bodyPr wrap="square" lIns="0" tIns="0" rIns="0" bIns="0" rtlCol="0" anchor="ctr"/>
          <a:lstStyle/>
          <a:p>
            <a:pPr indent="0" marL="0">
              <a:buNone/>
            </a:pPr>
            <a:r>
              <a:rPr lang="en-US" sz="900" dirty="0">
                <a:solidFill>
                  <a:srgbClr val="5F6F67"/>
                </a:solidFill>
                <a:latin typeface="Calibri" pitchFamily="34" charset="0"/>
                <a:ea typeface="Calibri" pitchFamily="34" charset="-122"/>
                <a:cs typeface="Calibri" pitchFamily="34" charset="-120"/>
              </a:rPr>
              <a:t>AIMS · AI-Powered Payment &amp; Finance Control</a:t>
            </a:r>
            <a:endParaRPr lang="en-US" sz="900" dirty="0"/>
          </a:p>
        </p:txBody>
      </p:sp>
      <p:sp>
        <p:nvSpPr>
          <p:cNvPr id="19" name="Text 17"/>
          <p:cNvSpPr txBox="1"/>
          <p:nvPr/>
        </p:nvSpPr>
        <p:spPr>
          <a:xfrm>
            <a:off x="11140135" y="6537960"/>
            <a:ext cx="548640" cy="256032"/>
          </a:xfrm>
          <a:prstGeom prst="rect">
            <a:avLst/>
          </a:prstGeom>
          <a:noFill/>
          <a:ln/>
        </p:spPr>
        <p:txBody>
          <a:bodyPr wrap="square" lIns="0" tIns="0" rIns="0" bIns="0" rtlCol="0" anchor="ctr"/>
          <a:lstStyle/>
          <a:p>
            <a:pPr algn="r" indent="0" marL="0">
              <a:buNone/>
            </a:pPr>
            <a:r>
              <a:rPr lang="en-US" sz="900" dirty="0">
                <a:solidFill>
                  <a:srgbClr val="5F6F67"/>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0231B"/>
        </a:solidFill>
      </p:bgPr>
    </p:bg>
    <p:spTree>
      <p:nvGrpSpPr>
        <p:cNvPr id="1" name=""/>
        <p:cNvGrpSpPr/>
        <p:nvPr/>
      </p:nvGrpSpPr>
      <p:grpSpPr>
        <a:xfrm>
          <a:off x="0" y="0"/>
          <a:ext cx="0" cy="0"/>
          <a:chOff x="0" y="0"/>
          <a:chExt cx="0" cy="0"/>
        </a:xfrm>
      </p:grpSpPr>
      <p:sp>
        <p:nvSpPr>
          <p:cNvPr id="2" name="Text 0"/>
          <p:cNvSpPr txBox="1"/>
          <p:nvPr/>
        </p:nvSpPr>
        <p:spPr>
          <a:xfrm>
            <a:off x="502920" y="384048"/>
            <a:ext cx="11185855" cy="274320"/>
          </a:xfrm>
          <a:prstGeom prst="rect">
            <a:avLst/>
          </a:prstGeom>
          <a:noFill/>
          <a:ln/>
        </p:spPr>
        <p:txBody>
          <a:bodyPr wrap="square" lIns="0" tIns="0" rIns="0" bIns="0" rtlCol="0" anchor="ctr"/>
          <a:lstStyle/>
          <a:p>
            <a:pPr indent="0" marL="0">
              <a:buNone/>
            </a:pPr>
            <a:r>
              <a:rPr lang="en-US" sz="1100" b="1" spc="200" kern="0" dirty="0">
                <a:solidFill>
                  <a:srgbClr val="9FB3A6"/>
                </a:solidFill>
                <a:latin typeface="Calibri" pitchFamily="34" charset="0"/>
                <a:ea typeface="Calibri" pitchFamily="34" charset="-122"/>
                <a:cs typeface="Calibri" pitchFamily="34" charset="-120"/>
              </a:rPr>
              <a:t>10 · WHY AIMS MATTERS</a:t>
            </a:r>
            <a:endParaRPr lang="en-US" sz="1100" dirty="0"/>
          </a:p>
        </p:txBody>
      </p:sp>
      <p:sp>
        <p:nvSpPr>
          <p:cNvPr id="3" name="Text 1"/>
          <p:cNvSpPr txBox="1"/>
          <p:nvPr/>
        </p:nvSpPr>
        <p:spPr>
          <a:xfrm>
            <a:off x="502920" y="685800"/>
            <a:ext cx="11185855" cy="64008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Intelligent control, not maximum automation.</a:t>
            </a:r>
            <a:endParaRPr lang="en-US" sz="2800" dirty="0"/>
          </a:p>
        </p:txBody>
      </p:sp>
      <p:sp>
        <p:nvSpPr>
          <p:cNvPr id="4" name="Shape 2"/>
          <p:cNvSpPr/>
          <p:nvPr/>
        </p:nvSpPr>
        <p:spPr>
          <a:xfrm>
            <a:off x="502920" y="1600200"/>
            <a:ext cx="2090867" cy="2331720"/>
          </a:xfrm>
          <a:prstGeom prst="roundRect">
            <a:avLst>
              <a:gd name="adj" fmla="val 3936"/>
            </a:avLst>
          </a:prstGeom>
          <a:solidFill>
            <a:srgbClr val="17301F"/>
          </a:solidFill>
          <a:ln w="12700">
            <a:solidFill>
              <a:srgbClr val="26402C"/>
            </a:solidFill>
            <a:prstDash val="solid"/>
          </a:ln>
        </p:spPr>
      </p:sp>
      <p:sp>
        <p:nvSpPr>
          <p:cNvPr id="5" name="Shape 3"/>
          <p:cNvSpPr/>
          <p:nvPr/>
        </p:nvSpPr>
        <p:spPr>
          <a:xfrm>
            <a:off x="731520" y="1856232"/>
            <a:ext cx="146304" cy="146304"/>
          </a:xfrm>
          <a:prstGeom prst="ellipse">
            <a:avLst/>
          </a:prstGeom>
          <a:solidFill>
            <a:srgbClr val="6D51A8"/>
          </a:solidFill>
          <a:ln/>
        </p:spPr>
      </p:sp>
      <p:sp>
        <p:nvSpPr>
          <p:cNvPr id="6" name="Text 4"/>
          <p:cNvSpPr txBox="1"/>
          <p:nvPr/>
        </p:nvSpPr>
        <p:spPr>
          <a:xfrm>
            <a:off x="685800" y="2103120"/>
            <a:ext cx="1725107" cy="457200"/>
          </a:xfrm>
          <a:prstGeom prst="rect">
            <a:avLst/>
          </a:prstGeom>
          <a:noFill/>
          <a:ln/>
        </p:spPr>
        <p:txBody>
          <a:bodyPr wrap="square" lIns="0" tIns="0" rIns="0" bIns="0" rtlCol="0" anchor="ctr"/>
          <a:lstStyle/>
          <a:p>
            <a:pPr indent="0" marL="0">
              <a:buNone/>
            </a:pPr>
            <a:r>
              <a:rPr lang="en-US" sz="1300" b="1" spc="50" kern="0" dirty="0">
                <a:solidFill>
                  <a:srgbClr val="FFFFFF"/>
                </a:solidFill>
                <a:latin typeface="Calibri" pitchFamily="34" charset="0"/>
                <a:ea typeface="Calibri" pitchFamily="34" charset="-122"/>
                <a:cs typeface="Calibri" pitchFamily="34" charset="-120"/>
              </a:rPr>
              <a:t>CONTROL</a:t>
            </a:r>
            <a:endParaRPr lang="en-US" sz="1300" dirty="0"/>
          </a:p>
        </p:txBody>
      </p:sp>
      <p:sp>
        <p:nvSpPr>
          <p:cNvPr id="7" name="Text 5"/>
          <p:cNvSpPr txBox="1"/>
          <p:nvPr/>
        </p:nvSpPr>
        <p:spPr>
          <a:xfrm>
            <a:off x="685800" y="2560320"/>
            <a:ext cx="1725107" cy="960120"/>
          </a:xfrm>
          <a:prstGeom prst="rect">
            <a:avLst/>
          </a:prstGeom>
          <a:noFill/>
          <a:ln/>
        </p:spPr>
        <p:txBody>
          <a:bodyPr wrap="square" lIns="0" tIns="0" rIns="0" bIns="0" rtlCol="0" anchor="ctr"/>
          <a:lstStyle/>
          <a:p>
            <a:pPr indent="0" marL="0">
              <a:lnSpc>
                <a:spcPct val="120000"/>
              </a:lnSpc>
              <a:buNone/>
            </a:pPr>
            <a:r>
              <a:rPr lang="en-US" sz="1100" dirty="0">
                <a:solidFill>
                  <a:srgbClr val="CFE0D5"/>
                </a:solidFill>
                <a:latin typeface="Calibri" pitchFamily="34" charset="0"/>
                <a:ea typeface="Calibri" pitchFamily="34" charset="-122"/>
                <a:cs typeface="Calibri" pitchFamily="34" charset="-120"/>
              </a:rPr>
              <a:t>Financial truth before payment</a:t>
            </a:r>
            <a:endParaRPr lang="en-US" sz="1100" dirty="0"/>
          </a:p>
        </p:txBody>
      </p:sp>
      <p:sp>
        <p:nvSpPr>
          <p:cNvPr id="8" name="Shape 6"/>
          <p:cNvSpPr/>
          <p:nvPr/>
        </p:nvSpPr>
        <p:spPr>
          <a:xfrm>
            <a:off x="685800" y="3429000"/>
            <a:ext cx="1725107" cy="0"/>
          </a:xfrm>
          <a:prstGeom prst="line">
            <a:avLst/>
          </a:prstGeom>
          <a:noFill/>
          <a:ln w="12700">
            <a:solidFill>
              <a:srgbClr val="2E4A36"/>
            </a:solidFill>
            <a:prstDash val="solid"/>
          </a:ln>
        </p:spPr>
      </p:sp>
      <p:sp>
        <p:nvSpPr>
          <p:cNvPr id="9" name="Text 7"/>
          <p:cNvSpPr txBox="1"/>
          <p:nvPr/>
        </p:nvSpPr>
        <p:spPr>
          <a:xfrm>
            <a:off x="685800" y="3520440"/>
            <a:ext cx="1725107" cy="320040"/>
          </a:xfrm>
          <a:prstGeom prst="rect">
            <a:avLst/>
          </a:prstGeom>
          <a:noFill/>
          <a:ln/>
        </p:spPr>
        <p:txBody>
          <a:bodyPr wrap="square" lIns="0" tIns="0" rIns="0" bIns="0" rtlCol="0" anchor="ctr"/>
          <a:lstStyle/>
          <a:p>
            <a:pPr indent="0" marL="0">
              <a:buNone/>
            </a:pPr>
            <a:r>
              <a:rPr lang="en-US" sz="900" i="1" dirty="0">
                <a:solidFill>
                  <a:srgbClr val="8FA898"/>
                </a:solidFill>
                <a:latin typeface="Calibri" pitchFamily="34" charset="0"/>
                <a:ea typeface="Calibri" pitchFamily="34" charset="-122"/>
                <a:cs typeface="Calibri" pitchFamily="34" charset="-120"/>
              </a:rPr>
              <a:t>诚信 Integrity</a:t>
            </a:r>
            <a:endParaRPr lang="en-US" sz="900" dirty="0"/>
          </a:p>
        </p:txBody>
      </p:sp>
      <p:sp>
        <p:nvSpPr>
          <p:cNvPr id="10" name="Shape 8"/>
          <p:cNvSpPr/>
          <p:nvPr/>
        </p:nvSpPr>
        <p:spPr>
          <a:xfrm>
            <a:off x="2776667" y="1600200"/>
            <a:ext cx="2090867" cy="2331720"/>
          </a:xfrm>
          <a:prstGeom prst="roundRect">
            <a:avLst>
              <a:gd name="adj" fmla="val 3936"/>
            </a:avLst>
          </a:prstGeom>
          <a:solidFill>
            <a:srgbClr val="17301F"/>
          </a:solidFill>
          <a:ln w="12700">
            <a:solidFill>
              <a:srgbClr val="26402C"/>
            </a:solidFill>
            <a:prstDash val="solid"/>
          </a:ln>
        </p:spPr>
      </p:sp>
      <p:sp>
        <p:nvSpPr>
          <p:cNvPr id="11" name="Shape 9"/>
          <p:cNvSpPr/>
          <p:nvPr/>
        </p:nvSpPr>
        <p:spPr>
          <a:xfrm>
            <a:off x="3005267" y="1856232"/>
            <a:ext cx="146304" cy="146304"/>
          </a:xfrm>
          <a:prstGeom prst="ellipse">
            <a:avLst/>
          </a:prstGeom>
          <a:solidFill>
            <a:srgbClr val="6D51A8"/>
          </a:solidFill>
          <a:ln/>
        </p:spPr>
      </p:sp>
      <p:sp>
        <p:nvSpPr>
          <p:cNvPr id="12" name="Text 10"/>
          <p:cNvSpPr txBox="1"/>
          <p:nvPr/>
        </p:nvSpPr>
        <p:spPr>
          <a:xfrm>
            <a:off x="2959547" y="2103120"/>
            <a:ext cx="1725107" cy="457200"/>
          </a:xfrm>
          <a:prstGeom prst="rect">
            <a:avLst/>
          </a:prstGeom>
          <a:noFill/>
          <a:ln/>
        </p:spPr>
        <p:txBody>
          <a:bodyPr wrap="square" lIns="0" tIns="0" rIns="0" bIns="0" rtlCol="0" anchor="ctr"/>
          <a:lstStyle/>
          <a:p>
            <a:pPr indent="0" marL="0">
              <a:buNone/>
            </a:pPr>
            <a:r>
              <a:rPr lang="en-US" sz="1300" b="1" spc="50" kern="0" dirty="0">
                <a:solidFill>
                  <a:srgbClr val="FFFFFF"/>
                </a:solidFill>
                <a:latin typeface="Calibri" pitchFamily="34" charset="0"/>
                <a:ea typeface="Calibri" pitchFamily="34" charset="-122"/>
                <a:cs typeface="Calibri" pitchFamily="34" charset="-120"/>
              </a:rPr>
              <a:t>EFFICIENCY</a:t>
            </a:r>
            <a:endParaRPr lang="en-US" sz="1300" dirty="0"/>
          </a:p>
        </p:txBody>
      </p:sp>
      <p:sp>
        <p:nvSpPr>
          <p:cNvPr id="13" name="Text 11"/>
          <p:cNvSpPr txBox="1"/>
          <p:nvPr/>
        </p:nvSpPr>
        <p:spPr>
          <a:xfrm>
            <a:off x="2959547" y="2560320"/>
            <a:ext cx="1725107" cy="960120"/>
          </a:xfrm>
          <a:prstGeom prst="rect">
            <a:avLst/>
          </a:prstGeom>
          <a:noFill/>
          <a:ln/>
        </p:spPr>
        <p:txBody>
          <a:bodyPr wrap="square" lIns="0" tIns="0" rIns="0" bIns="0" rtlCol="0" anchor="ctr"/>
          <a:lstStyle/>
          <a:p>
            <a:pPr indent="0" marL="0">
              <a:lnSpc>
                <a:spcPct val="120000"/>
              </a:lnSpc>
              <a:buNone/>
            </a:pPr>
            <a:r>
              <a:rPr lang="en-US" sz="1100" dirty="0">
                <a:solidFill>
                  <a:srgbClr val="CFE0D5"/>
                </a:solidFill>
                <a:latin typeface="Calibri" pitchFamily="34" charset="0"/>
                <a:ea typeface="Calibri" pitchFamily="34" charset="-122"/>
                <a:cs typeface="Calibri" pitchFamily="34" charset="-120"/>
              </a:rPr>
              <a:t>One workflow, not fragmented checking</a:t>
            </a:r>
            <a:endParaRPr lang="en-US" sz="1100" dirty="0"/>
          </a:p>
        </p:txBody>
      </p:sp>
      <p:sp>
        <p:nvSpPr>
          <p:cNvPr id="14" name="Shape 12"/>
          <p:cNvSpPr/>
          <p:nvPr/>
        </p:nvSpPr>
        <p:spPr>
          <a:xfrm>
            <a:off x="2959547" y="3429000"/>
            <a:ext cx="1725107" cy="0"/>
          </a:xfrm>
          <a:prstGeom prst="line">
            <a:avLst/>
          </a:prstGeom>
          <a:noFill/>
          <a:ln w="12700">
            <a:solidFill>
              <a:srgbClr val="2E4A36"/>
            </a:solidFill>
            <a:prstDash val="solid"/>
          </a:ln>
        </p:spPr>
      </p:sp>
      <p:sp>
        <p:nvSpPr>
          <p:cNvPr id="15" name="Text 13"/>
          <p:cNvSpPr txBox="1"/>
          <p:nvPr/>
        </p:nvSpPr>
        <p:spPr>
          <a:xfrm>
            <a:off x="2959547" y="3520440"/>
            <a:ext cx="1725107" cy="320040"/>
          </a:xfrm>
          <a:prstGeom prst="rect">
            <a:avLst/>
          </a:prstGeom>
          <a:noFill/>
          <a:ln/>
        </p:spPr>
        <p:txBody>
          <a:bodyPr wrap="square" lIns="0" tIns="0" rIns="0" bIns="0" rtlCol="0" anchor="ctr"/>
          <a:lstStyle/>
          <a:p>
            <a:pPr indent="0" marL="0">
              <a:buNone/>
            </a:pPr>
            <a:r>
              <a:rPr lang="en-US" sz="900" i="1" dirty="0">
                <a:solidFill>
                  <a:srgbClr val="8FA898"/>
                </a:solidFill>
                <a:latin typeface="Calibri" pitchFamily="34" charset="0"/>
                <a:ea typeface="Calibri" pitchFamily="34" charset="-122"/>
                <a:cs typeface="Calibri" pitchFamily="34" charset="-120"/>
              </a:rPr>
              <a:t>效率 Efficiency</a:t>
            </a:r>
            <a:endParaRPr lang="en-US" sz="900" dirty="0"/>
          </a:p>
        </p:txBody>
      </p:sp>
      <p:sp>
        <p:nvSpPr>
          <p:cNvPr id="16" name="Shape 14"/>
          <p:cNvSpPr/>
          <p:nvPr/>
        </p:nvSpPr>
        <p:spPr>
          <a:xfrm>
            <a:off x="5050414" y="1600200"/>
            <a:ext cx="2090867" cy="2331720"/>
          </a:xfrm>
          <a:prstGeom prst="roundRect">
            <a:avLst>
              <a:gd name="adj" fmla="val 3936"/>
            </a:avLst>
          </a:prstGeom>
          <a:solidFill>
            <a:srgbClr val="17301F"/>
          </a:solidFill>
          <a:ln w="12700">
            <a:solidFill>
              <a:srgbClr val="26402C"/>
            </a:solidFill>
            <a:prstDash val="solid"/>
          </a:ln>
        </p:spPr>
      </p:sp>
      <p:sp>
        <p:nvSpPr>
          <p:cNvPr id="17" name="Shape 15"/>
          <p:cNvSpPr/>
          <p:nvPr/>
        </p:nvSpPr>
        <p:spPr>
          <a:xfrm>
            <a:off x="5279014" y="1856232"/>
            <a:ext cx="146304" cy="146304"/>
          </a:xfrm>
          <a:prstGeom prst="ellipse">
            <a:avLst/>
          </a:prstGeom>
          <a:solidFill>
            <a:srgbClr val="6D51A8"/>
          </a:solidFill>
          <a:ln/>
        </p:spPr>
      </p:sp>
      <p:sp>
        <p:nvSpPr>
          <p:cNvPr id="18" name="Text 16"/>
          <p:cNvSpPr txBox="1"/>
          <p:nvPr/>
        </p:nvSpPr>
        <p:spPr>
          <a:xfrm>
            <a:off x="5233294" y="2103120"/>
            <a:ext cx="1725107" cy="457200"/>
          </a:xfrm>
          <a:prstGeom prst="rect">
            <a:avLst/>
          </a:prstGeom>
          <a:noFill/>
          <a:ln/>
        </p:spPr>
        <p:txBody>
          <a:bodyPr wrap="square" lIns="0" tIns="0" rIns="0" bIns="0" rtlCol="0" anchor="ctr"/>
          <a:lstStyle/>
          <a:p>
            <a:pPr indent="0" marL="0">
              <a:buNone/>
            </a:pPr>
            <a:r>
              <a:rPr lang="en-US" sz="1300" b="1" spc="50" kern="0" dirty="0">
                <a:solidFill>
                  <a:srgbClr val="FFFFFF"/>
                </a:solidFill>
                <a:latin typeface="Calibri" pitchFamily="34" charset="0"/>
                <a:ea typeface="Calibri" pitchFamily="34" charset="-122"/>
                <a:cs typeface="Calibri" pitchFamily="34" charset="-120"/>
              </a:rPr>
              <a:t>INTELLIGENCE</a:t>
            </a:r>
            <a:endParaRPr lang="en-US" sz="1300" dirty="0"/>
          </a:p>
        </p:txBody>
      </p:sp>
      <p:sp>
        <p:nvSpPr>
          <p:cNvPr id="19" name="Text 17"/>
          <p:cNvSpPr txBox="1"/>
          <p:nvPr/>
        </p:nvSpPr>
        <p:spPr>
          <a:xfrm>
            <a:off x="5233294" y="2560320"/>
            <a:ext cx="1725107" cy="960120"/>
          </a:xfrm>
          <a:prstGeom prst="rect">
            <a:avLst/>
          </a:prstGeom>
          <a:noFill/>
          <a:ln/>
        </p:spPr>
        <p:txBody>
          <a:bodyPr wrap="square" lIns="0" tIns="0" rIns="0" bIns="0" rtlCol="0" anchor="ctr"/>
          <a:lstStyle/>
          <a:p>
            <a:pPr indent="0" marL="0">
              <a:lnSpc>
                <a:spcPct val="120000"/>
              </a:lnSpc>
              <a:buNone/>
            </a:pPr>
            <a:r>
              <a:rPr lang="en-US" sz="1100" dirty="0">
                <a:solidFill>
                  <a:srgbClr val="CFE0D5"/>
                </a:solidFill>
                <a:latin typeface="Calibri" pitchFamily="34" charset="0"/>
                <a:ea typeface="Calibri" pitchFamily="34" charset="-122"/>
                <a:cs typeface="Calibri" pitchFamily="34" charset="-120"/>
              </a:rPr>
              <a:t>AI turns evidence into decision support</a:t>
            </a:r>
            <a:endParaRPr lang="en-US" sz="1100" dirty="0"/>
          </a:p>
        </p:txBody>
      </p:sp>
      <p:sp>
        <p:nvSpPr>
          <p:cNvPr id="20" name="Shape 18"/>
          <p:cNvSpPr/>
          <p:nvPr/>
        </p:nvSpPr>
        <p:spPr>
          <a:xfrm>
            <a:off x="5233294" y="3429000"/>
            <a:ext cx="1725107" cy="0"/>
          </a:xfrm>
          <a:prstGeom prst="line">
            <a:avLst/>
          </a:prstGeom>
          <a:noFill/>
          <a:ln w="12700">
            <a:solidFill>
              <a:srgbClr val="2E4A36"/>
            </a:solidFill>
            <a:prstDash val="solid"/>
          </a:ln>
        </p:spPr>
      </p:sp>
      <p:sp>
        <p:nvSpPr>
          <p:cNvPr id="21" name="Text 19"/>
          <p:cNvSpPr txBox="1"/>
          <p:nvPr/>
        </p:nvSpPr>
        <p:spPr>
          <a:xfrm>
            <a:off x="5233294" y="3520440"/>
            <a:ext cx="1725107" cy="320040"/>
          </a:xfrm>
          <a:prstGeom prst="rect">
            <a:avLst/>
          </a:prstGeom>
          <a:noFill/>
          <a:ln/>
        </p:spPr>
        <p:txBody>
          <a:bodyPr wrap="square" lIns="0" tIns="0" rIns="0" bIns="0" rtlCol="0" anchor="ctr"/>
          <a:lstStyle/>
          <a:p>
            <a:pPr indent="0" marL="0">
              <a:buNone/>
            </a:pPr>
            <a:r>
              <a:rPr lang="en-US" sz="900" i="1" dirty="0">
                <a:solidFill>
                  <a:srgbClr val="8FA898"/>
                </a:solidFill>
                <a:latin typeface="Calibri" pitchFamily="34" charset="0"/>
                <a:ea typeface="Calibri" pitchFamily="34" charset="-122"/>
                <a:cs typeface="Calibri" pitchFamily="34" charset="-120"/>
              </a:rPr>
              <a:t>学无止境 Continuous Learning</a:t>
            </a:r>
            <a:endParaRPr lang="en-US" sz="900" dirty="0"/>
          </a:p>
        </p:txBody>
      </p:sp>
      <p:sp>
        <p:nvSpPr>
          <p:cNvPr id="22" name="Shape 20"/>
          <p:cNvSpPr/>
          <p:nvPr/>
        </p:nvSpPr>
        <p:spPr>
          <a:xfrm>
            <a:off x="7324161" y="1600200"/>
            <a:ext cx="2090867" cy="2331720"/>
          </a:xfrm>
          <a:prstGeom prst="roundRect">
            <a:avLst>
              <a:gd name="adj" fmla="val 3936"/>
            </a:avLst>
          </a:prstGeom>
          <a:solidFill>
            <a:srgbClr val="17301F"/>
          </a:solidFill>
          <a:ln w="12700">
            <a:solidFill>
              <a:srgbClr val="26402C"/>
            </a:solidFill>
            <a:prstDash val="solid"/>
          </a:ln>
        </p:spPr>
      </p:sp>
      <p:sp>
        <p:nvSpPr>
          <p:cNvPr id="23" name="Shape 21"/>
          <p:cNvSpPr/>
          <p:nvPr/>
        </p:nvSpPr>
        <p:spPr>
          <a:xfrm>
            <a:off x="7552761" y="1856232"/>
            <a:ext cx="146304" cy="146304"/>
          </a:xfrm>
          <a:prstGeom prst="ellipse">
            <a:avLst/>
          </a:prstGeom>
          <a:solidFill>
            <a:srgbClr val="6D51A8"/>
          </a:solidFill>
          <a:ln/>
        </p:spPr>
      </p:sp>
      <p:sp>
        <p:nvSpPr>
          <p:cNvPr id="24" name="Text 22"/>
          <p:cNvSpPr txBox="1"/>
          <p:nvPr/>
        </p:nvSpPr>
        <p:spPr>
          <a:xfrm>
            <a:off x="7507041" y="2103120"/>
            <a:ext cx="1725107" cy="457200"/>
          </a:xfrm>
          <a:prstGeom prst="rect">
            <a:avLst/>
          </a:prstGeom>
          <a:noFill/>
          <a:ln/>
        </p:spPr>
        <p:txBody>
          <a:bodyPr wrap="square" lIns="0" tIns="0" rIns="0" bIns="0" rtlCol="0" anchor="ctr"/>
          <a:lstStyle/>
          <a:p>
            <a:pPr indent="0" marL="0">
              <a:buNone/>
            </a:pPr>
            <a:r>
              <a:rPr lang="en-US" sz="1300" b="1" spc="50" kern="0" dirty="0">
                <a:solidFill>
                  <a:srgbClr val="FFFFFF"/>
                </a:solidFill>
                <a:latin typeface="Calibri" pitchFamily="34" charset="0"/>
                <a:ea typeface="Calibri" pitchFamily="34" charset="-122"/>
                <a:cs typeface="Calibri" pitchFamily="34" charset="-120"/>
              </a:rPr>
              <a:t>GOVERNANCE</a:t>
            </a:r>
            <a:endParaRPr lang="en-US" sz="1300" dirty="0"/>
          </a:p>
        </p:txBody>
      </p:sp>
      <p:sp>
        <p:nvSpPr>
          <p:cNvPr id="25" name="Text 23"/>
          <p:cNvSpPr txBox="1"/>
          <p:nvPr/>
        </p:nvSpPr>
        <p:spPr>
          <a:xfrm>
            <a:off x="7507041" y="2560320"/>
            <a:ext cx="1725107" cy="960120"/>
          </a:xfrm>
          <a:prstGeom prst="rect">
            <a:avLst/>
          </a:prstGeom>
          <a:noFill/>
          <a:ln/>
        </p:spPr>
        <p:txBody>
          <a:bodyPr wrap="square" lIns="0" tIns="0" rIns="0" bIns="0" rtlCol="0" anchor="ctr"/>
          <a:lstStyle/>
          <a:p>
            <a:pPr indent="0" marL="0">
              <a:lnSpc>
                <a:spcPct val="120000"/>
              </a:lnSpc>
              <a:buNone/>
            </a:pPr>
            <a:r>
              <a:rPr lang="en-US" sz="1100" dirty="0">
                <a:solidFill>
                  <a:srgbClr val="CFE0D5"/>
                </a:solidFill>
                <a:latin typeface="Calibri" pitchFamily="34" charset="0"/>
                <a:ea typeface="Calibri" pitchFamily="34" charset="-122"/>
                <a:cs typeface="Calibri" pitchFamily="34" charset="-120"/>
              </a:rPr>
              <a:t>Humans and Finance retain authority</a:t>
            </a:r>
            <a:endParaRPr lang="en-US" sz="1100" dirty="0"/>
          </a:p>
        </p:txBody>
      </p:sp>
      <p:sp>
        <p:nvSpPr>
          <p:cNvPr id="26" name="Shape 24"/>
          <p:cNvSpPr/>
          <p:nvPr/>
        </p:nvSpPr>
        <p:spPr>
          <a:xfrm>
            <a:off x="7507041" y="3429000"/>
            <a:ext cx="1725107" cy="0"/>
          </a:xfrm>
          <a:prstGeom prst="line">
            <a:avLst/>
          </a:prstGeom>
          <a:noFill/>
          <a:ln w="12700">
            <a:solidFill>
              <a:srgbClr val="2E4A36"/>
            </a:solidFill>
            <a:prstDash val="solid"/>
          </a:ln>
        </p:spPr>
      </p:sp>
      <p:sp>
        <p:nvSpPr>
          <p:cNvPr id="27" name="Text 25"/>
          <p:cNvSpPr txBox="1"/>
          <p:nvPr/>
        </p:nvSpPr>
        <p:spPr>
          <a:xfrm>
            <a:off x="7507041" y="3520440"/>
            <a:ext cx="1725107" cy="320040"/>
          </a:xfrm>
          <a:prstGeom prst="rect">
            <a:avLst/>
          </a:prstGeom>
          <a:noFill/>
          <a:ln/>
        </p:spPr>
        <p:txBody>
          <a:bodyPr wrap="square" lIns="0" tIns="0" rIns="0" bIns="0" rtlCol="0" anchor="ctr"/>
          <a:lstStyle/>
          <a:p>
            <a:pPr indent="0" marL="0">
              <a:buNone/>
            </a:pPr>
            <a:r>
              <a:rPr lang="en-US" sz="900" i="1" dirty="0">
                <a:solidFill>
                  <a:srgbClr val="8FA898"/>
                </a:solidFill>
                <a:latin typeface="Calibri" pitchFamily="34" charset="0"/>
                <a:ea typeface="Calibri" pitchFamily="34" charset="-122"/>
                <a:cs typeface="Calibri" pitchFamily="34" charset="-120"/>
              </a:rPr>
              <a:t>团队精神 Teamwork</a:t>
            </a:r>
            <a:endParaRPr lang="en-US" sz="900" dirty="0"/>
          </a:p>
        </p:txBody>
      </p:sp>
      <p:sp>
        <p:nvSpPr>
          <p:cNvPr id="28" name="Shape 26"/>
          <p:cNvSpPr/>
          <p:nvPr/>
        </p:nvSpPr>
        <p:spPr>
          <a:xfrm>
            <a:off x="9597908" y="1600200"/>
            <a:ext cx="2090867" cy="2331720"/>
          </a:xfrm>
          <a:prstGeom prst="roundRect">
            <a:avLst>
              <a:gd name="adj" fmla="val 3936"/>
            </a:avLst>
          </a:prstGeom>
          <a:solidFill>
            <a:srgbClr val="17301F"/>
          </a:solidFill>
          <a:ln w="12700">
            <a:solidFill>
              <a:srgbClr val="26402C"/>
            </a:solidFill>
            <a:prstDash val="solid"/>
          </a:ln>
        </p:spPr>
      </p:sp>
      <p:sp>
        <p:nvSpPr>
          <p:cNvPr id="29" name="Shape 27"/>
          <p:cNvSpPr/>
          <p:nvPr/>
        </p:nvSpPr>
        <p:spPr>
          <a:xfrm>
            <a:off x="9826508" y="1856232"/>
            <a:ext cx="146304" cy="146304"/>
          </a:xfrm>
          <a:prstGeom prst="ellipse">
            <a:avLst/>
          </a:prstGeom>
          <a:solidFill>
            <a:srgbClr val="6D51A8"/>
          </a:solidFill>
          <a:ln/>
        </p:spPr>
      </p:sp>
      <p:sp>
        <p:nvSpPr>
          <p:cNvPr id="30" name="Text 28"/>
          <p:cNvSpPr txBox="1"/>
          <p:nvPr/>
        </p:nvSpPr>
        <p:spPr>
          <a:xfrm>
            <a:off x="9780788" y="2103120"/>
            <a:ext cx="1725107" cy="457200"/>
          </a:xfrm>
          <a:prstGeom prst="rect">
            <a:avLst/>
          </a:prstGeom>
          <a:noFill/>
          <a:ln/>
        </p:spPr>
        <p:txBody>
          <a:bodyPr wrap="square" lIns="0" tIns="0" rIns="0" bIns="0" rtlCol="0" anchor="ctr"/>
          <a:lstStyle/>
          <a:p>
            <a:pPr indent="0" marL="0">
              <a:buNone/>
            </a:pPr>
            <a:r>
              <a:rPr lang="en-US" sz="1300" b="1" spc="50" kern="0" dirty="0">
                <a:solidFill>
                  <a:srgbClr val="FFFFFF"/>
                </a:solidFill>
                <a:latin typeface="Calibri" pitchFamily="34" charset="0"/>
                <a:ea typeface="Calibri" pitchFamily="34" charset="-122"/>
                <a:cs typeface="Calibri" pitchFamily="34" charset="-120"/>
              </a:rPr>
              <a:t>VISIBILITY</a:t>
            </a:r>
            <a:endParaRPr lang="en-US" sz="1300" dirty="0"/>
          </a:p>
        </p:txBody>
      </p:sp>
      <p:sp>
        <p:nvSpPr>
          <p:cNvPr id="31" name="Text 29"/>
          <p:cNvSpPr txBox="1"/>
          <p:nvPr/>
        </p:nvSpPr>
        <p:spPr>
          <a:xfrm>
            <a:off x="9780788" y="2560320"/>
            <a:ext cx="1725107" cy="960120"/>
          </a:xfrm>
          <a:prstGeom prst="rect">
            <a:avLst/>
          </a:prstGeom>
          <a:noFill/>
          <a:ln/>
        </p:spPr>
        <p:txBody>
          <a:bodyPr wrap="square" lIns="0" tIns="0" rIns="0" bIns="0" rtlCol="0" anchor="ctr"/>
          <a:lstStyle/>
          <a:p>
            <a:pPr indent="0" marL="0">
              <a:lnSpc>
                <a:spcPct val="120000"/>
              </a:lnSpc>
              <a:buNone/>
            </a:pPr>
            <a:r>
              <a:rPr lang="en-US" sz="1100" dirty="0">
                <a:solidFill>
                  <a:srgbClr val="CFE0D5"/>
                </a:solidFill>
                <a:latin typeface="Calibri" pitchFamily="34" charset="0"/>
                <a:ea typeface="Calibri" pitchFamily="34" charset="-122"/>
                <a:cs typeface="Calibri" pitchFamily="34" charset="-120"/>
              </a:rPr>
              <a:t>Every payment updates the financial picture</a:t>
            </a:r>
            <a:endParaRPr lang="en-US" sz="1100" dirty="0"/>
          </a:p>
        </p:txBody>
      </p:sp>
      <p:sp>
        <p:nvSpPr>
          <p:cNvPr id="32" name="Shape 30"/>
          <p:cNvSpPr/>
          <p:nvPr/>
        </p:nvSpPr>
        <p:spPr>
          <a:xfrm>
            <a:off x="9780788" y="3429000"/>
            <a:ext cx="1725107" cy="0"/>
          </a:xfrm>
          <a:prstGeom prst="line">
            <a:avLst/>
          </a:prstGeom>
          <a:noFill/>
          <a:ln w="12700">
            <a:solidFill>
              <a:srgbClr val="2E4A36"/>
            </a:solidFill>
            <a:prstDash val="solid"/>
          </a:ln>
        </p:spPr>
      </p:sp>
      <p:sp>
        <p:nvSpPr>
          <p:cNvPr id="33" name="Text 31"/>
          <p:cNvSpPr txBox="1"/>
          <p:nvPr/>
        </p:nvSpPr>
        <p:spPr>
          <a:xfrm>
            <a:off x="9780788" y="3520440"/>
            <a:ext cx="1725107" cy="320040"/>
          </a:xfrm>
          <a:prstGeom prst="rect">
            <a:avLst/>
          </a:prstGeom>
          <a:noFill/>
          <a:ln/>
        </p:spPr>
        <p:txBody>
          <a:bodyPr wrap="square" lIns="0" tIns="0" rIns="0" bIns="0" rtlCol="0" anchor="ctr"/>
          <a:lstStyle/>
          <a:p>
            <a:pPr indent="0" marL="0">
              <a:buNone/>
            </a:pPr>
            <a:r>
              <a:rPr lang="en-US" sz="900" i="1" dirty="0">
                <a:solidFill>
                  <a:srgbClr val="8FA898"/>
                </a:solidFill>
                <a:latin typeface="Calibri" pitchFamily="34" charset="0"/>
                <a:ea typeface="Calibri" pitchFamily="34" charset="-122"/>
                <a:cs typeface="Calibri" pitchFamily="34" charset="-120"/>
              </a:rPr>
              <a:t>用户第一 Customer First</a:t>
            </a:r>
            <a:endParaRPr lang="en-US" sz="900" dirty="0"/>
          </a:p>
        </p:txBody>
      </p:sp>
      <p:sp>
        <p:nvSpPr>
          <p:cNvPr id="34" name="Text 32"/>
          <p:cNvSpPr txBox="1"/>
          <p:nvPr/>
        </p:nvSpPr>
        <p:spPr>
          <a:xfrm>
            <a:off x="502920" y="4343400"/>
            <a:ext cx="11185855" cy="502920"/>
          </a:xfrm>
          <a:prstGeom prst="rect">
            <a:avLst/>
          </a:prstGeom>
          <a:noFill/>
          <a:ln/>
        </p:spPr>
        <p:txBody>
          <a:bodyPr wrap="square" lIns="0" tIns="0" rIns="0" bIns="0" rtlCol="0" anchor="ctr"/>
          <a:lstStyle/>
          <a:p>
            <a:pPr algn="ctr" indent="0" marL="0">
              <a:buNone/>
            </a:pPr>
            <a:r>
              <a:rPr lang="en-US" sz="2000" i="1" dirty="0">
                <a:solidFill>
                  <a:srgbClr val="FFFFFF"/>
                </a:solidFill>
                <a:latin typeface="Cambria" pitchFamily="34" charset="0"/>
                <a:ea typeface="Cambria" pitchFamily="34" charset="-122"/>
                <a:cs typeface="Cambria" pitchFamily="34" charset="-120"/>
              </a:rPr>
              <a:t>From Request. To Control. To Financial Intelligence.</a:t>
            </a:r>
            <a:endParaRPr lang="en-US" sz="2000" dirty="0"/>
          </a:p>
        </p:txBody>
      </p:sp>
      <p:sp>
        <p:nvSpPr>
          <p:cNvPr id="35" name="Shape 33"/>
          <p:cNvSpPr/>
          <p:nvPr/>
        </p:nvSpPr>
        <p:spPr>
          <a:xfrm>
            <a:off x="5775808" y="5029200"/>
            <a:ext cx="640080" cy="640080"/>
          </a:xfrm>
          <a:prstGeom prst="roundRect">
            <a:avLst>
              <a:gd name="adj" fmla="val 20000"/>
            </a:avLst>
          </a:prstGeom>
          <a:solidFill>
            <a:srgbClr val="6D51A8"/>
          </a:solidFill>
          <a:ln/>
        </p:spPr>
      </p:sp>
      <p:sp>
        <p:nvSpPr>
          <p:cNvPr id="36" name="Text 34"/>
          <p:cNvSpPr txBox="1"/>
          <p:nvPr/>
        </p:nvSpPr>
        <p:spPr>
          <a:xfrm>
            <a:off x="5775808" y="5029200"/>
            <a:ext cx="640080" cy="640080"/>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A</a:t>
            </a:r>
            <a:endParaRPr lang="en-US" sz="2400" dirty="0"/>
          </a:p>
        </p:txBody>
      </p:sp>
      <p:sp>
        <p:nvSpPr>
          <p:cNvPr id="37" name="Text 35"/>
          <p:cNvSpPr txBox="1"/>
          <p:nvPr/>
        </p:nvSpPr>
        <p:spPr>
          <a:xfrm>
            <a:off x="502920" y="5806440"/>
            <a:ext cx="11185855" cy="502920"/>
          </a:xfrm>
          <a:prstGeom prst="rect">
            <a:avLst/>
          </a:prstGeom>
          <a:noFill/>
          <a:ln/>
        </p:spPr>
        <p:txBody>
          <a:bodyPr wrap="square" lIns="0" tIns="0" rIns="0" bIns="0" rtlCol="0" anchor="ctr"/>
          <a:lstStyle/>
          <a:p>
            <a:pPr algn="ctr" indent="0" marL="0">
              <a:buNone/>
            </a:pPr>
            <a:r>
              <a:rPr lang="en-US" sz="2200" b="1" spc="300" kern="0" dirty="0">
                <a:solidFill>
                  <a:srgbClr val="FFFFFF"/>
                </a:solidFill>
                <a:latin typeface="Cambria" pitchFamily="34" charset="0"/>
                <a:ea typeface="Cambria" pitchFamily="34" charset="-122"/>
                <a:cs typeface="Cambria" pitchFamily="34" charset="-120"/>
              </a:rPr>
              <a:t>AIMS</a:t>
            </a:r>
            <a:endParaRPr lang="en-US" sz="2200" dirty="0"/>
          </a:p>
        </p:txBody>
      </p:sp>
      <p:sp>
        <p:nvSpPr>
          <p:cNvPr id="38" name="Text 36"/>
          <p:cNvSpPr txBox="1"/>
          <p:nvPr/>
        </p:nvSpPr>
        <p:spPr>
          <a:xfrm>
            <a:off x="502920" y="6537960"/>
            <a:ext cx="7315200" cy="256032"/>
          </a:xfrm>
          <a:prstGeom prst="rect">
            <a:avLst/>
          </a:prstGeom>
          <a:noFill/>
          <a:ln/>
        </p:spPr>
        <p:txBody>
          <a:bodyPr wrap="square" lIns="0" tIns="0" rIns="0" bIns="0" rtlCol="0" anchor="ctr"/>
          <a:lstStyle/>
          <a:p>
            <a:pPr indent="0" marL="0">
              <a:buNone/>
            </a:pPr>
            <a:r>
              <a:rPr lang="en-US" sz="900" dirty="0">
                <a:solidFill>
                  <a:srgbClr val="5F6F67"/>
                </a:solidFill>
                <a:latin typeface="Calibri" pitchFamily="34" charset="0"/>
                <a:ea typeface="Calibri" pitchFamily="34" charset="-122"/>
                <a:cs typeface="Calibri" pitchFamily="34" charset="-120"/>
              </a:rPr>
              <a:t>AIMS · AI-Powered Payment &amp; Finance Control</a:t>
            </a:r>
            <a:endParaRPr lang="en-US" sz="900" dirty="0"/>
          </a:p>
        </p:txBody>
      </p:sp>
      <p:sp>
        <p:nvSpPr>
          <p:cNvPr id="39" name="Text 37"/>
          <p:cNvSpPr txBox="1"/>
          <p:nvPr/>
        </p:nvSpPr>
        <p:spPr>
          <a:xfrm>
            <a:off x="11140135" y="6537960"/>
            <a:ext cx="548640" cy="256032"/>
          </a:xfrm>
          <a:prstGeom prst="rect">
            <a:avLst/>
          </a:prstGeom>
          <a:noFill/>
          <a:ln/>
        </p:spPr>
        <p:txBody>
          <a:bodyPr wrap="square" lIns="0" tIns="0" rIns="0" bIns="0" rtlCol="0" anchor="ctr"/>
          <a:lstStyle/>
          <a:p>
            <a:pPr algn="r" indent="0" marL="0">
              <a:buNone/>
            </a:pPr>
            <a:r>
              <a:rPr lang="en-US" sz="900" dirty="0">
                <a:solidFill>
                  <a:srgbClr val="5F6F67"/>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6F3"/>
        </a:solidFill>
      </p:bgPr>
    </p:bg>
    <p:spTree>
      <p:nvGrpSpPr>
        <p:cNvPr id="1" name=""/>
        <p:cNvGrpSpPr/>
        <p:nvPr/>
      </p:nvGrpSpPr>
      <p:grpSpPr>
        <a:xfrm>
          <a:off x="0" y="0"/>
          <a:ext cx="0" cy="0"/>
          <a:chOff x="0" y="0"/>
          <a:chExt cx="0" cy="0"/>
        </a:xfrm>
      </p:grpSpPr>
      <p:sp>
        <p:nvSpPr>
          <p:cNvPr id="2" name="Text 0"/>
          <p:cNvSpPr txBox="1"/>
          <p:nvPr/>
        </p:nvSpPr>
        <p:spPr>
          <a:xfrm>
            <a:off x="502920" y="384048"/>
            <a:ext cx="11185855" cy="274320"/>
          </a:xfrm>
          <a:prstGeom prst="rect">
            <a:avLst/>
          </a:prstGeom>
          <a:noFill/>
          <a:ln/>
        </p:spPr>
        <p:txBody>
          <a:bodyPr wrap="square" lIns="0" tIns="0" rIns="0" bIns="0" rtlCol="0" anchor="ctr"/>
          <a:lstStyle/>
          <a:p>
            <a:pPr indent="0" marL="0">
              <a:buNone/>
            </a:pPr>
            <a:r>
              <a:rPr lang="en-US" sz="1100" b="1" spc="200" kern="0" dirty="0">
                <a:solidFill>
                  <a:srgbClr val="5F6F67"/>
                </a:solidFill>
                <a:latin typeface="Calibri" pitchFamily="34" charset="0"/>
                <a:ea typeface="Calibri" pitchFamily="34" charset="-122"/>
                <a:cs typeface="Calibri" pitchFamily="34" charset="-120"/>
              </a:rPr>
              <a:t>APPENDIX A1 · ARCHITECTURE</a:t>
            </a:r>
            <a:endParaRPr lang="en-US" sz="1100" dirty="0"/>
          </a:p>
        </p:txBody>
      </p:sp>
      <p:sp>
        <p:nvSpPr>
          <p:cNvPr id="3" name="Text 1"/>
          <p:cNvSpPr txBox="1"/>
          <p:nvPr/>
        </p:nvSpPr>
        <p:spPr>
          <a:xfrm>
            <a:off x="502920" y="658368"/>
            <a:ext cx="11185855" cy="822960"/>
          </a:xfrm>
          <a:prstGeom prst="rect">
            <a:avLst/>
          </a:prstGeom>
          <a:noFill/>
          <a:ln/>
        </p:spPr>
        <p:txBody>
          <a:bodyPr wrap="square" lIns="0" tIns="0" rIns="0" bIns="0" rtlCol="0" anchor="ctr"/>
          <a:lstStyle/>
          <a:p>
            <a:pPr algn="l" indent="0" marL="0">
              <a:lnSpc>
                <a:spcPct val="102000"/>
              </a:lnSpc>
              <a:buNone/>
            </a:pPr>
            <a:r>
              <a:rPr lang="en-US" sz="2700" b="1" dirty="0">
                <a:solidFill>
                  <a:srgbClr val="16221D"/>
                </a:solidFill>
                <a:latin typeface="Cambria" pitchFamily="34" charset="0"/>
                <a:ea typeface="Cambria" pitchFamily="34" charset="-122"/>
                <a:cs typeface="Cambria" pitchFamily="34" charset="-120"/>
              </a:rPr>
              <a:t>What AIMS is actually built on.</a:t>
            </a:r>
            <a:endParaRPr lang="en-US" sz="2700" dirty="0"/>
          </a:p>
        </p:txBody>
      </p:sp>
      <p:sp>
        <p:nvSpPr>
          <p:cNvPr id="4" name="Text 2"/>
          <p:cNvSpPr txBox="1"/>
          <p:nvPr/>
        </p:nvSpPr>
        <p:spPr>
          <a:xfrm>
            <a:off x="502920" y="1874520"/>
            <a:ext cx="2377440" cy="566928"/>
          </a:xfrm>
          <a:prstGeom prst="rect">
            <a:avLst/>
          </a:prstGeom>
          <a:noFill/>
          <a:ln/>
        </p:spPr>
        <p:txBody>
          <a:bodyPr wrap="square" lIns="0" tIns="0" rIns="0" bIns="0" rtlCol="0" anchor="ctr"/>
          <a:lstStyle/>
          <a:p>
            <a:pPr indent="0" marL="0">
              <a:buNone/>
            </a:pPr>
            <a:r>
              <a:rPr lang="en-US" sz="1300" b="1" dirty="0">
                <a:solidFill>
                  <a:srgbClr val="173F2E"/>
                </a:solidFill>
                <a:latin typeface="Calibri" pitchFamily="34" charset="0"/>
                <a:ea typeface="Calibri" pitchFamily="34" charset="-122"/>
                <a:cs typeface="Calibri" pitchFamily="34" charset="-120"/>
              </a:rPr>
              <a:t>Frontend</a:t>
            </a:r>
            <a:endParaRPr lang="en-US" sz="1300" dirty="0"/>
          </a:p>
        </p:txBody>
      </p:sp>
      <p:sp>
        <p:nvSpPr>
          <p:cNvPr id="5" name="Text 3"/>
          <p:cNvSpPr txBox="1"/>
          <p:nvPr/>
        </p:nvSpPr>
        <p:spPr>
          <a:xfrm>
            <a:off x="3017520" y="1874520"/>
            <a:ext cx="8671255" cy="566928"/>
          </a:xfrm>
          <a:prstGeom prst="rect">
            <a:avLst/>
          </a:prstGeom>
          <a:noFill/>
          <a:ln/>
        </p:spPr>
        <p:txBody>
          <a:bodyPr wrap="square" lIns="0" tIns="0" rIns="0" bIns="0" rtlCol="0" anchor="ctr"/>
          <a:lstStyle/>
          <a:p>
            <a:pPr indent="0" marL="0">
              <a:buNone/>
            </a:pPr>
            <a:r>
              <a:rPr lang="en-US" sz="1250" dirty="0">
                <a:solidFill>
                  <a:srgbClr val="16221D"/>
                </a:solidFill>
                <a:latin typeface="Calibri" pitchFamily="34" charset="0"/>
                <a:ea typeface="Calibri" pitchFamily="34" charset="-122"/>
                <a:cs typeface="Calibri" pitchFamily="34" charset="-120"/>
              </a:rPr>
              <a:t>Next.js / React</a:t>
            </a:r>
            <a:endParaRPr lang="en-US" sz="1250" dirty="0"/>
          </a:p>
        </p:txBody>
      </p:sp>
      <p:sp>
        <p:nvSpPr>
          <p:cNvPr id="6" name="Shape 4"/>
          <p:cNvSpPr/>
          <p:nvPr/>
        </p:nvSpPr>
        <p:spPr>
          <a:xfrm>
            <a:off x="502920" y="2441448"/>
            <a:ext cx="11185855" cy="0"/>
          </a:xfrm>
          <a:prstGeom prst="line">
            <a:avLst/>
          </a:prstGeom>
          <a:noFill/>
          <a:ln w="9525">
            <a:solidFill>
              <a:srgbClr val="DDE3DE"/>
            </a:solidFill>
            <a:prstDash val="solid"/>
          </a:ln>
        </p:spPr>
      </p:sp>
      <p:sp>
        <p:nvSpPr>
          <p:cNvPr id="7" name="Text 5"/>
          <p:cNvSpPr txBox="1"/>
          <p:nvPr/>
        </p:nvSpPr>
        <p:spPr>
          <a:xfrm>
            <a:off x="502920" y="2441448"/>
            <a:ext cx="2377440" cy="566928"/>
          </a:xfrm>
          <a:prstGeom prst="rect">
            <a:avLst/>
          </a:prstGeom>
          <a:noFill/>
          <a:ln/>
        </p:spPr>
        <p:txBody>
          <a:bodyPr wrap="square" lIns="0" tIns="0" rIns="0" bIns="0" rtlCol="0" anchor="ctr"/>
          <a:lstStyle/>
          <a:p>
            <a:pPr indent="0" marL="0">
              <a:buNone/>
            </a:pPr>
            <a:r>
              <a:rPr lang="en-US" sz="1300" b="1" dirty="0">
                <a:solidFill>
                  <a:srgbClr val="173F2E"/>
                </a:solidFill>
                <a:latin typeface="Calibri" pitchFamily="34" charset="0"/>
                <a:ea typeface="Calibri" pitchFamily="34" charset="-122"/>
                <a:cs typeface="Calibri" pitchFamily="34" charset="-120"/>
              </a:rPr>
              <a:t>API</a:t>
            </a:r>
            <a:endParaRPr lang="en-US" sz="1300" dirty="0"/>
          </a:p>
        </p:txBody>
      </p:sp>
      <p:sp>
        <p:nvSpPr>
          <p:cNvPr id="8" name="Text 6"/>
          <p:cNvSpPr txBox="1"/>
          <p:nvPr/>
        </p:nvSpPr>
        <p:spPr>
          <a:xfrm>
            <a:off x="3017520" y="2441448"/>
            <a:ext cx="8671255" cy="566928"/>
          </a:xfrm>
          <a:prstGeom prst="rect">
            <a:avLst/>
          </a:prstGeom>
          <a:noFill/>
          <a:ln/>
        </p:spPr>
        <p:txBody>
          <a:bodyPr wrap="square" lIns="0" tIns="0" rIns="0" bIns="0" rtlCol="0" anchor="ctr"/>
          <a:lstStyle/>
          <a:p>
            <a:pPr indent="0" marL="0">
              <a:buNone/>
            </a:pPr>
            <a:r>
              <a:rPr lang="en-US" sz="1250" dirty="0">
                <a:solidFill>
                  <a:srgbClr val="16221D"/>
                </a:solidFill>
                <a:latin typeface="Calibri" pitchFamily="34" charset="0"/>
                <a:ea typeface="Calibri" pitchFamily="34" charset="-122"/>
                <a:cs typeface="Calibri" pitchFamily="34" charset="-120"/>
              </a:rPr>
              <a:t>NestJS · REST · strict DTO validation</a:t>
            </a:r>
            <a:endParaRPr lang="en-US" sz="1250" dirty="0"/>
          </a:p>
        </p:txBody>
      </p:sp>
      <p:sp>
        <p:nvSpPr>
          <p:cNvPr id="9" name="Shape 7"/>
          <p:cNvSpPr/>
          <p:nvPr/>
        </p:nvSpPr>
        <p:spPr>
          <a:xfrm>
            <a:off x="502920" y="3008376"/>
            <a:ext cx="11185855" cy="0"/>
          </a:xfrm>
          <a:prstGeom prst="line">
            <a:avLst/>
          </a:prstGeom>
          <a:noFill/>
          <a:ln w="9525">
            <a:solidFill>
              <a:srgbClr val="DDE3DE"/>
            </a:solidFill>
            <a:prstDash val="solid"/>
          </a:ln>
        </p:spPr>
      </p:sp>
      <p:sp>
        <p:nvSpPr>
          <p:cNvPr id="10" name="Text 8"/>
          <p:cNvSpPr txBox="1"/>
          <p:nvPr/>
        </p:nvSpPr>
        <p:spPr>
          <a:xfrm>
            <a:off x="502920" y="3008376"/>
            <a:ext cx="2377440" cy="566928"/>
          </a:xfrm>
          <a:prstGeom prst="rect">
            <a:avLst/>
          </a:prstGeom>
          <a:noFill/>
          <a:ln/>
        </p:spPr>
        <p:txBody>
          <a:bodyPr wrap="square" lIns="0" tIns="0" rIns="0" bIns="0" rtlCol="0" anchor="ctr"/>
          <a:lstStyle/>
          <a:p>
            <a:pPr indent="0" marL="0">
              <a:buNone/>
            </a:pPr>
            <a:r>
              <a:rPr lang="en-US" sz="1300" b="1" dirty="0">
                <a:solidFill>
                  <a:srgbClr val="173F2E"/>
                </a:solidFill>
                <a:latin typeface="Calibri" pitchFamily="34" charset="0"/>
                <a:ea typeface="Calibri" pitchFamily="34" charset="-122"/>
                <a:cs typeface="Calibri" pitchFamily="34" charset="-120"/>
              </a:rPr>
              <a:t>Database</a:t>
            </a:r>
            <a:endParaRPr lang="en-US" sz="1300" dirty="0"/>
          </a:p>
        </p:txBody>
      </p:sp>
      <p:sp>
        <p:nvSpPr>
          <p:cNvPr id="11" name="Text 9"/>
          <p:cNvSpPr txBox="1"/>
          <p:nvPr/>
        </p:nvSpPr>
        <p:spPr>
          <a:xfrm>
            <a:off x="3017520" y="3008376"/>
            <a:ext cx="8671255" cy="566928"/>
          </a:xfrm>
          <a:prstGeom prst="rect">
            <a:avLst/>
          </a:prstGeom>
          <a:noFill/>
          <a:ln/>
        </p:spPr>
        <p:txBody>
          <a:bodyPr wrap="square" lIns="0" tIns="0" rIns="0" bIns="0" rtlCol="0" anchor="ctr"/>
          <a:lstStyle/>
          <a:p>
            <a:pPr indent="0" marL="0">
              <a:buNone/>
            </a:pPr>
            <a:r>
              <a:rPr lang="en-US" sz="1250" dirty="0">
                <a:solidFill>
                  <a:srgbClr val="16221D"/>
                </a:solidFill>
                <a:latin typeface="Calibri" pitchFamily="34" charset="0"/>
                <a:ea typeface="Calibri" pitchFamily="34" charset="-122"/>
                <a:cs typeface="Calibri" pitchFamily="34" charset="-120"/>
              </a:rPr>
              <a:t>PostgreSQL · append-only history · lifecycle triggers</a:t>
            </a:r>
            <a:endParaRPr lang="en-US" sz="1250" dirty="0"/>
          </a:p>
        </p:txBody>
      </p:sp>
      <p:sp>
        <p:nvSpPr>
          <p:cNvPr id="12" name="Shape 10"/>
          <p:cNvSpPr/>
          <p:nvPr/>
        </p:nvSpPr>
        <p:spPr>
          <a:xfrm>
            <a:off x="502920" y="3575304"/>
            <a:ext cx="11185855" cy="0"/>
          </a:xfrm>
          <a:prstGeom prst="line">
            <a:avLst/>
          </a:prstGeom>
          <a:noFill/>
          <a:ln w="9525">
            <a:solidFill>
              <a:srgbClr val="DDE3DE"/>
            </a:solidFill>
            <a:prstDash val="solid"/>
          </a:ln>
        </p:spPr>
      </p:sp>
      <p:sp>
        <p:nvSpPr>
          <p:cNvPr id="13" name="Text 11"/>
          <p:cNvSpPr txBox="1"/>
          <p:nvPr/>
        </p:nvSpPr>
        <p:spPr>
          <a:xfrm>
            <a:off x="502920" y="3575304"/>
            <a:ext cx="2377440" cy="566928"/>
          </a:xfrm>
          <a:prstGeom prst="rect">
            <a:avLst/>
          </a:prstGeom>
          <a:noFill/>
          <a:ln/>
        </p:spPr>
        <p:txBody>
          <a:bodyPr wrap="square" lIns="0" tIns="0" rIns="0" bIns="0" rtlCol="0" anchor="ctr"/>
          <a:lstStyle/>
          <a:p>
            <a:pPr indent="0" marL="0">
              <a:buNone/>
            </a:pPr>
            <a:r>
              <a:rPr lang="en-US" sz="1300" b="1" dirty="0">
                <a:solidFill>
                  <a:srgbClr val="173F2E"/>
                </a:solidFill>
                <a:latin typeface="Calibri" pitchFamily="34" charset="0"/>
                <a:ea typeface="Calibri" pitchFamily="34" charset="-122"/>
                <a:cs typeface="Calibri" pitchFamily="34" charset="-120"/>
              </a:rPr>
              <a:t>Worker</a:t>
            </a:r>
            <a:endParaRPr lang="en-US" sz="1300" dirty="0"/>
          </a:p>
        </p:txBody>
      </p:sp>
      <p:sp>
        <p:nvSpPr>
          <p:cNvPr id="14" name="Text 12"/>
          <p:cNvSpPr txBox="1"/>
          <p:nvPr/>
        </p:nvSpPr>
        <p:spPr>
          <a:xfrm>
            <a:off x="3017520" y="3575304"/>
            <a:ext cx="8671255" cy="566928"/>
          </a:xfrm>
          <a:prstGeom prst="rect">
            <a:avLst/>
          </a:prstGeom>
          <a:noFill/>
          <a:ln/>
        </p:spPr>
        <p:txBody>
          <a:bodyPr wrap="square" lIns="0" tIns="0" rIns="0" bIns="0" rtlCol="0" anchor="ctr"/>
          <a:lstStyle/>
          <a:p>
            <a:pPr indent="0" marL="0">
              <a:buNone/>
            </a:pPr>
            <a:r>
              <a:rPr lang="en-US" sz="1250" dirty="0">
                <a:solidFill>
                  <a:srgbClr val="16221D"/>
                </a:solidFill>
                <a:latin typeface="Calibri" pitchFamily="34" charset="0"/>
                <a:ea typeface="Calibri" pitchFamily="34" charset="-122"/>
                <a:cs typeface="Calibri" pitchFamily="34" charset="-120"/>
              </a:rPr>
              <a:t>PostgreSQL-backed outbox worker (no Redis/BullMQ runtime dependency)</a:t>
            </a:r>
            <a:endParaRPr lang="en-US" sz="1250" dirty="0"/>
          </a:p>
        </p:txBody>
      </p:sp>
      <p:sp>
        <p:nvSpPr>
          <p:cNvPr id="15" name="Shape 13"/>
          <p:cNvSpPr/>
          <p:nvPr/>
        </p:nvSpPr>
        <p:spPr>
          <a:xfrm>
            <a:off x="502920" y="4142232"/>
            <a:ext cx="11185855" cy="0"/>
          </a:xfrm>
          <a:prstGeom prst="line">
            <a:avLst/>
          </a:prstGeom>
          <a:noFill/>
          <a:ln w="9525">
            <a:solidFill>
              <a:srgbClr val="DDE3DE"/>
            </a:solidFill>
            <a:prstDash val="solid"/>
          </a:ln>
        </p:spPr>
      </p:sp>
      <p:sp>
        <p:nvSpPr>
          <p:cNvPr id="16" name="Text 14"/>
          <p:cNvSpPr txBox="1"/>
          <p:nvPr/>
        </p:nvSpPr>
        <p:spPr>
          <a:xfrm>
            <a:off x="502920" y="4142232"/>
            <a:ext cx="2377440" cy="566928"/>
          </a:xfrm>
          <a:prstGeom prst="rect">
            <a:avLst/>
          </a:prstGeom>
          <a:noFill/>
          <a:ln/>
        </p:spPr>
        <p:txBody>
          <a:bodyPr wrap="square" lIns="0" tIns="0" rIns="0" bIns="0" rtlCol="0" anchor="ctr"/>
          <a:lstStyle/>
          <a:p>
            <a:pPr indent="0" marL="0">
              <a:buNone/>
            </a:pPr>
            <a:r>
              <a:rPr lang="en-US" sz="1300" b="1" dirty="0">
                <a:solidFill>
                  <a:srgbClr val="173F2E"/>
                </a:solidFill>
                <a:latin typeface="Calibri" pitchFamily="34" charset="0"/>
                <a:ea typeface="Calibri" pitchFamily="34" charset="-122"/>
                <a:cs typeface="Calibri" pitchFamily="34" charset="-120"/>
              </a:rPr>
              <a:t>AI Provider</a:t>
            </a:r>
            <a:endParaRPr lang="en-US" sz="1300" dirty="0"/>
          </a:p>
        </p:txBody>
      </p:sp>
      <p:sp>
        <p:nvSpPr>
          <p:cNvPr id="17" name="Text 15"/>
          <p:cNvSpPr txBox="1"/>
          <p:nvPr/>
        </p:nvSpPr>
        <p:spPr>
          <a:xfrm>
            <a:off x="3017520" y="4142232"/>
            <a:ext cx="8671255" cy="566928"/>
          </a:xfrm>
          <a:prstGeom prst="rect">
            <a:avLst/>
          </a:prstGeom>
          <a:noFill/>
          <a:ln/>
        </p:spPr>
        <p:txBody>
          <a:bodyPr wrap="square" lIns="0" tIns="0" rIns="0" bIns="0" rtlCol="0" anchor="ctr"/>
          <a:lstStyle/>
          <a:p>
            <a:pPr indent="0" marL="0">
              <a:buNone/>
            </a:pPr>
            <a:r>
              <a:rPr lang="en-US" sz="1250" dirty="0">
                <a:solidFill>
                  <a:srgbClr val="16221D"/>
                </a:solidFill>
                <a:latin typeface="Calibri" pitchFamily="34" charset="0"/>
                <a:ea typeface="Calibri" pitchFamily="34" charset="-122"/>
                <a:cs typeface="Calibri" pitchFamily="34" charset="-120"/>
              </a:rPr>
              <a:t>OpenAI-compatible · schema-validated structured outputs (Zod)</a:t>
            </a:r>
            <a:endParaRPr lang="en-US" sz="1250" dirty="0"/>
          </a:p>
        </p:txBody>
      </p:sp>
      <p:sp>
        <p:nvSpPr>
          <p:cNvPr id="18" name="Shape 16"/>
          <p:cNvSpPr/>
          <p:nvPr/>
        </p:nvSpPr>
        <p:spPr>
          <a:xfrm>
            <a:off x="502920" y="4709160"/>
            <a:ext cx="11185855" cy="0"/>
          </a:xfrm>
          <a:prstGeom prst="line">
            <a:avLst/>
          </a:prstGeom>
          <a:noFill/>
          <a:ln w="9525">
            <a:solidFill>
              <a:srgbClr val="DDE3DE"/>
            </a:solidFill>
            <a:prstDash val="solid"/>
          </a:ln>
        </p:spPr>
      </p:sp>
      <p:sp>
        <p:nvSpPr>
          <p:cNvPr id="19" name="Text 17"/>
          <p:cNvSpPr txBox="1"/>
          <p:nvPr/>
        </p:nvSpPr>
        <p:spPr>
          <a:xfrm>
            <a:off x="502920" y="4709160"/>
            <a:ext cx="2377440" cy="566928"/>
          </a:xfrm>
          <a:prstGeom prst="rect">
            <a:avLst/>
          </a:prstGeom>
          <a:noFill/>
          <a:ln/>
        </p:spPr>
        <p:txBody>
          <a:bodyPr wrap="square" lIns="0" tIns="0" rIns="0" bIns="0" rtlCol="0" anchor="ctr"/>
          <a:lstStyle/>
          <a:p>
            <a:pPr indent="0" marL="0">
              <a:buNone/>
            </a:pPr>
            <a:r>
              <a:rPr lang="en-US" sz="1300" b="1" dirty="0">
                <a:solidFill>
                  <a:srgbClr val="173F2E"/>
                </a:solidFill>
                <a:latin typeface="Calibri" pitchFamily="34" charset="0"/>
                <a:ea typeface="Calibri" pitchFamily="34" charset="-122"/>
                <a:cs typeface="Calibri" pitchFamily="34" charset="-120"/>
              </a:rPr>
              <a:t>Document Storage</a:t>
            </a:r>
            <a:endParaRPr lang="en-US" sz="1300" dirty="0"/>
          </a:p>
        </p:txBody>
      </p:sp>
      <p:sp>
        <p:nvSpPr>
          <p:cNvPr id="20" name="Text 18"/>
          <p:cNvSpPr txBox="1"/>
          <p:nvPr/>
        </p:nvSpPr>
        <p:spPr>
          <a:xfrm>
            <a:off x="3017520" y="4709160"/>
            <a:ext cx="8671255" cy="566928"/>
          </a:xfrm>
          <a:prstGeom prst="rect">
            <a:avLst/>
          </a:prstGeom>
          <a:noFill/>
          <a:ln/>
        </p:spPr>
        <p:txBody>
          <a:bodyPr wrap="square" lIns="0" tIns="0" rIns="0" bIns="0" rtlCol="0" anchor="ctr"/>
          <a:lstStyle/>
          <a:p>
            <a:pPr indent="0" marL="0">
              <a:buNone/>
            </a:pPr>
            <a:r>
              <a:rPr lang="en-US" sz="1250" dirty="0">
                <a:solidFill>
                  <a:srgbClr val="16221D"/>
                </a:solidFill>
                <a:latin typeface="Calibri" pitchFamily="34" charset="0"/>
                <a:ea typeface="Calibri" pitchFamily="34" charset="-122"/>
                <a:cs typeface="Calibri" pitchFamily="34" charset="-120"/>
              </a:rPr>
              <a:t>Local adapter for development/demo — production S3-class storage is a stated prerequisite</a:t>
            </a:r>
            <a:endParaRPr lang="en-US" sz="1250" dirty="0"/>
          </a:p>
        </p:txBody>
      </p:sp>
      <p:sp>
        <p:nvSpPr>
          <p:cNvPr id="21" name="Shape 19"/>
          <p:cNvSpPr/>
          <p:nvPr/>
        </p:nvSpPr>
        <p:spPr>
          <a:xfrm>
            <a:off x="502920" y="5276088"/>
            <a:ext cx="11185855" cy="0"/>
          </a:xfrm>
          <a:prstGeom prst="line">
            <a:avLst/>
          </a:prstGeom>
          <a:noFill/>
          <a:ln w="9525">
            <a:solidFill>
              <a:srgbClr val="DDE3DE"/>
            </a:solidFill>
            <a:prstDash val="solid"/>
          </a:ln>
        </p:spPr>
      </p:sp>
      <p:sp>
        <p:nvSpPr>
          <p:cNvPr id="22" name="Text 20"/>
          <p:cNvSpPr txBox="1"/>
          <p:nvPr/>
        </p:nvSpPr>
        <p:spPr>
          <a:xfrm>
            <a:off x="502920" y="5276088"/>
            <a:ext cx="2377440" cy="566928"/>
          </a:xfrm>
          <a:prstGeom prst="rect">
            <a:avLst/>
          </a:prstGeom>
          <a:noFill/>
          <a:ln/>
        </p:spPr>
        <p:txBody>
          <a:bodyPr wrap="square" lIns="0" tIns="0" rIns="0" bIns="0" rtlCol="0" anchor="ctr"/>
          <a:lstStyle/>
          <a:p>
            <a:pPr indent="0" marL="0">
              <a:buNone/>
            </a:pPr>
            <a:r>
              <a:rPr lang="en-US" sz="1300" b="1" dirty="0">
                <a:solidFill>
                  <a:srgbClr val="173F2E"/>
                </a:solidFill>
                <a:latin typeface="Calibri" pitchFamily="34" charset="0"/>
                <a:ea typeface="Calibri" pitchFamily="34" charset="-122"/>
                <a:cs typeface="Calibri" pitchFamily="34" charset="-120"/>
              </a:rPr>
              <a:t>Notifications</a:t>
            </a:r>
            <a:endParaRPr lang="en-US" sz="1300" dirty="0"/>
          </a:p>
        </p:txBody>
      </p:sp>
      <p:sp>
        <p:nvSpPr>
          <p:cNvPr id="23" name="Text 21"/>
          <p:cNvSpPr txBox="1"/>
          <p:nvPr/>
        </p:nvSpPr>
        <p:spPr>
          <a:xfrm>
            <a:off x="3017520" y="5276088"/>
            <a:ext cx="8671255" cy="566928"/>
          </a:xfrm>
          <a:prstGeom prst="rect">
            <a:avLst/>
          </a:prstGeom>
          <a:noFill/>
          <a:ln/>
        </p:spPr>
        <p:txBody>
          <a:bodyPr wrap="square" lIns="0" tIns="0" rIns="0" bIns="0" rtlCol="0" anchor="ctr"/>
          <a:lstStyle/>
          <a:p>
            <a:pPr indent="0" marL="0">
              <a:buNone/>
            </a:pPr>
            <a:r>
              <a:rPr lang="en-US" sz="1250" dirty="0">
                <a:solidFill>
                  <a:srgbClr val="16221D"/>
                </a:solidFill>
                <a:latin typeface="Calibri" pitchFamily="34" charset="0"/>
                <a:ea typeface="Calibri" pitchFamily="34" charset="-122"/>
                <a:cs typeface="Calibri" pitchFamily="34" charset="-120"/>
              </a:rPr>
              <a:t>Web domain commands + optional Telegram adapter — Telegram never owns approval logic</a:t>
            </a:r>
            <a:endParaRPr lang="en-US" sz="1250" dirty="0"/>
          </a:p>
        </p:txBody>
      </p:sp>
      <p:sp>
        <p:nvSpPr>
          <p:cNvPr id="24" name="Text 22"/>
          <p:cNvSpPr txBox="1"/>
          <p:nvPr/>
        </p:nvSpPr>
        <p:spPr>
          <a:xfrm>
            <a:off x="502920" y="6025896"/>
            <a:ext cx="11185855" cy="548640"/>
          </a:xfrm>
          <a:prstGeom prst="rect">
            <a:avLst/>
          </a:prstGeom>
          <a:noFill/>
          <a:ln/>
        </p:spPr>
        <p:txBody>
          <a:bodyPr wrap="square" lIns="0" tIns="0" rIns="0" bIns="0" rtlCol="0" anchor="ctr"/>
          <a:lstStyle/>
          <a:p>
            <a:pPr indent="0" marL="0">
              <a:buNone/>
            </a:pPr>
            <a:r>
              <a:rPr lang="en-US" sz="1050" i="1" dirty="0">
                <a:solidFill>
                  <a:srgbClr val="5F6F67"/>
                </a:solidFill>
                <a:latin typeface="Calibri" pitchFamily="34" charset="0"/>
                <a:ea typeface="Calibri" pitchFamily="34" charset="-122"/>
                <a:cs typeface="Calibri" pitchFamily="34" charset="-120"/>
              </a:rPr>
              <a:t>Note: an early architecture plan specified Nuxt/Vue and Redis+BullMQ. The team deliberately revised this during implementation — a documented trade-off, not an inconsistency.</a:t>
            </a:r>
            <a:endParaRPr lang="en-US" sz="1050" dirty="0"/>
          </a:p>
        </p:txBody>
      </p:sp>
      <p:sp>
        <p:nvSpPr>
          <p:cNvPr id="25" name="Text 23"/>
          <p:cNvSpPr txBox="1"/>
          <p:nvPr/>
        </p:nvSpPr>
        <p:spPr>
          <a:xfrm>
            <a:off x="502920" y="6537960"/>
            <a:ext cx="7315200" cy="256032"/>
          </a:xfrm>
          <a:prstGeom prst="rect">
            <a:avLst/>
          </a:prstGeom>
          <a:noFill/>
          <a:ln/>
        </p:spPr>
        <p:txBody>
          <a:bodyPr wrap="square" lIns="0" tIns="0" rIns="0" bIns="0" rtlCol="0" anchor="ctr"/>
          <a:lstStyle/>
          <a:p>
            <a:pPr indent="0" marL="0">
              <a:buNone/>
            </a:pPr>
            <a:r>
              <a:rPr lang="en-US" sz="900" dirty="0">
                <a:solidFill>
                  <a:srgbClr val="5F6F67"/>
                </a:solidFill>
                <a:latin typeface="Calibri" pitchFamily="34" charset="0"/>
                <a:ea typeface="Calibri" pitchFamily="34" charset="-122"/>
                <a:cs typeface="Calibri" pitchFamily="34" charset="-120"/>
              </a:rPr>
              <a:t>AIMS · AI-Powered Payment &amp; Finance Control</a:t>
            </a:r>
            <a:endParaRPr lang="en-US" sz="900" dirty="0"/>
          </a:p>
        </p:txBody>
      </p:sp>
      <p:sp>
        <p:nvSpPr>
          <p:cNvPr id="26" name="Text 24"/>
          <p:cNvSpPr txBox="1"/>
          <p:nvPr/>
        </p:nvSpPr>
        <p:spPr>
          <a:xfrm>
            <a:off x="11140135" y="6537960"/>
            <a:ext cx="548640" cy="256032"/>
          </a:xfrm>
          <a:prstGeom prst="rect">
            <a:avLst/>
          </a:prstGeom>
          <a:noFill/>
          <a:ln/>
        </p:spPr>
        <p:txBody>
          <a:bodyPr wrap="square" lIns="0" tIns="0" rIns="0" bIns="0" rtlCol="0" anchor="ctr"/>
          <a:lstStyle/>
          <a:p>
            <a:pPr algn="r" indent="0" marL="0">
              <a:buNone/>
            </a:pPr>
            <a:r>
              <a:rPr lang="en-US" sz="900" dirty="0">
                <a:solidFill>
                  <a:srgbClr val="5F6F67"/>
                </a:solidFill>
                <a:latin typeface="Calibri" pitchFamily="34" charset="0"/>
                <a:ea typeface="Calibri" pitchFamily="34" charset="-122"/>
                <a:cs typeface="Calibri" pitchFamily="34" charset="-120"/>
              </a:rPr>
              <a:t>A1</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6F3"/>
        </a:solidFill>
      </p:bgPr>
    </p:bg>
    <p:spTree>
      <p:nvGrpSpPr>
        <p:cNvPr id="1" name=""/>
        <p:cNvGrpSpPr/>
        <p:nvPr/>
      </p:nvGrpSpPr>
      <p:grpSpPr>
        <a:xfrm>
          <a:off x="0" y="0"/>
          <a:ext cx="0" cy="0"/>
          <a:chOff x="0" y="0"/>
          <a:chExt cx="0" cy="0"/>
        </a:xfrm>
      </p:grpSpPr>
      <p:sp>
        <p:nvSpPr>
          <p:cNvPr id="2" name="Text 0"/>
          <p:cNvSpPr txBox="1"/>
          <p:nvPr/>
        </p:nvSpPr>
        <p:spPr>
          <a:xfrm>
            <a:off x="502920" y="384048"/>
            <a:ext cx="11185855" cy="274320"/>
          </a:xfrm>
          <a:prstGeom prst="rect">
            <a:avLst/>
          </a:prstGeom>
          <a:noFill/>
          <a:ln/>
        </p:spPr>
        <p:txBody>
          <a:bodyPr wrap="square" lIns="0" tIns="0" rIns="0" bIns="0" rtlCol="0" anchor="ctr"/>
          <a:lstStyle/>
          <a:p>
            <a:pPr indent="0" marL="0">
              <a:buNone/>
            </a:pPr>
            <a:r>
              <a:rPr lang="en-US" sz="1100" b="1" spc="200" kern="0" dirty="0">
                <a:solidFill>
                  <a:srgbClr val="5F6F67"/>
                </a:solidFill>
                <a:latin typeface="Calibri" pitchFamily="34" charset="0"/>
                <a:ea typeface="Calibri" pitchFamily="34" charset="-122"/>
                <a:cs typeface="Calibri" pitchFamily="34" charset="-120"/>
              </a:rPr>
              <a:t>APPENDIX A2 · AI GOVERNANCE</a:t>
            </a:r>
            <a:endParaRPr lang="en-US" sz="1100" dirty="0"/>
          </a:p>
        </p:txBody>
      </p:sp>
      <p:sp>
        <p:nvSpPr>
          <p:cNvPr id="3" name="Text 1"/>
          <p:cNvSpPr txBox="1"/>
          <p:nvPr/>
        </p:nvSpPr>
        <p:spPr>
          <a:xfrm>
            <a:off x="502920" y="658368"/>
            <a:ext cx="11185855" cy="822960"/>
          </a:xfrm>
          <a:prstGeom prst="rect">
            <a:avLst/>
          </a:prstGeom>
          <a:noFill/>
          <a:ln/>
        </p:spPr>
        <p:txBody>
          <a:bodyPr wrap="square" lIns="0" tIns="0" rIns="0" bIns="0" rtlCol="0" anchor="ctr"/>
          <a:lstStyle/>
          <a:p>
            <a:pPr algn="l" indent="0" marL="0">
              <a:lnSpc>
                <a:spcPct val="102000"/>
              </a:lnSpc>
              <a:buNone/>
            </a:pPr>
            <a:r>
              <a:rPr lang="en-US" sz="2500" b="1" dirty="0">
                <a:solidFill>
                  <a:srgbClr val="16221D"/>
                </a:solidFill>
                <a:latin typeface="Cambria" pitchFamily="34" charset="0"/>
                <a:ea typeface="Cambria" pitchFamily="34" charset="-122"/>
                <a:cs typeface="Cambria" pitchFamily="34" charset="-120"/>
              </a:rPr>
              <a:t>AI is optional. The workflow never depends on it.</a:t>
            </a:r>
            <a:endParaRPr lang="en-US" sz="2500" dirty="0"/>
          </a:p>
        </p:txBody>
      </p:sp>
      <p:sp>
        <p:nvSpPr>
          <p:cNvPr id="4" name="Shape 2"/>
          <p:cNvSpPr/>
          <p:nvPr/>
        </p:nvSpPr>
        <p:spPr>
          <a:xfrm>
            <a:off x="502920" y="1874520"/>
            <a:ext cx="3545738" cy="3291840"/>
          </a:xfrm>
          <a:prstGeom prst="roundRect">
            <a:avLst>
              <a:gd name="adj" fmla="val 2500"/>
            </a:avLst>
          </a:prstGeom>
          <a:solidFill>
            <a:srgbClr val="FFFFFF"/>
          </a:solidFill>
          <a:ln w="9525">
            <a:solidFill>
              <a:srgbClr val="DDE3DE"/>
            </a:solidFill>
            <a:prstDash val="solid"/>
          </a:ln>
        </p:spPr>
      </p:sp>
      <p:sp>
        <p:nvSpPr>
          <p:cNvPr id="5" name="Text 3"/>
          <p:cNvSpPr txBox="1"/>
          <p:nvPr/>
        </p:nvSpPr>
        <p:spPr>
          <a:xfrm>
            <a:off x="731520" y="2103120"/>
            <a:ext cx="3088538" cy="457200"/>
          </a:xfrm>
          <a:prstGeom prst="rect">
            <a:avLst/>
          </a:prstGeom>
          <a:noFill/>
          <a:ln/>
        </p:spPr>
        <p:txBody>
          <a:bodyPr wrap="square" lIns="0" tIns="0" rIns="0" bIns="0" rtlCol="0" anchor="ctr"/>
          <a:lstStyle/>
          <a:p>
            <a:pPr indent="0" marL="0">
              <a:buNone/>
            </a:pPr>
            <a:r>
              <a:rPr lang="en-US" sz="1400" b="1" dirty="0">
                <a:solidFill>
                  <a:srgbClr val="6D51A8"/>
                </a:solidFill>
                <a:latin typeface="Calibri" pitchFamily="34" charset="0"/>
                <a:ea typeface="Calibri" pitchFamily="34" charset="-122"/>
                <a:cs typeface="Calibri" pitchFamily="34" charset="-120"/>
              </a:rPr>
              <a:t>AI ON / OFF</a:t>
            </a:r>
            <a:endParaRPr lang="en-US" sz="1400" dirty="0"/>
          </a:p>
        </p:txBody>
      </p:sp>
      <p:sp>
        <p:nvSpPr>
          <p:cNvPr id="6" name="Text 4"/>
          <p:cNvSpPr txBox="1"/>
          <p:nvPr/>
        </p:nvSpPr>
        <p:spPr>
          <a:xfrm>
            <a:off x="731520" y="2651760"/>
            <a:ext cx="3088538" cy="2377440"/>
          </a:xfrm>
          <a:prstGeom prst="rect">
            <a:avLst/>
          </a:prstGeom>
          <a:noFill/>
          <a:ln/>
        </p:spPr>
        <p:txBody>
          <a:bodyPr wrap="square" lIns="0" tIns="0" rIns="0" bIns="0" rtlCol="0" anchor="ctr"/>
          <a:lstStyle/>
          <a:p>
            <a:pPr indent="0" marL="0">
              <a:lnSpc>
                <a:spcPct val="135000"/>
              </a:lnSpc>
              <a:buNone/>
            </a:pPr>
            <a:r>
              <a:rPr lang="en-US" sz="1150" dirty="0">
                <a:solidFill>
                  <a:srgbClr val="16221D"/>
                </a:solidFill>
                <a:latin typeface="Calibri" pitchFamily="34" charset="0"/>
                <a:ea typeface="Calibri" pitchFamily="34" charset="-122"/>
                <a:cs typeface="Calibri" pitchFamily="34" charset="-120"/>
              </a:rPr>
              <a:t>Master switch + per-capability flags</a:t>
            </a:r>
            <a:endParaRPr lang="en-US" sz="1150" dirty="0"/>
          </a:p>
          <a:p>
            <a:pPr indent="0" marL="0">
              <a:lnSpc>
                <a:spcPct val="135000"/>
              </a:lnSpc>
              <a:buNone/>
            </a:pPr>
            <a:r>
              <a:rPr lang="en-US" sz="1150" dirty="0">
                <a:solidFill>
                  <a:srgbClr val="16221D"/>
                </a:solidFill>
                <a:latin typeface="Calibri" pitchFamily="34" charset="0"/>
                <a:ea typeface="Calibri" pitchFamily="34" charset="-122"/>
                <a:cs typeface="Calibri" pitchFamily="34" charset="-120"/>
              </a:rPr>
              <a:t>Document Validation, Financial Risk,</a:t>
            </a:r>
            <a:endParaRPr lang="en-US" sz="1150" dirty="0"/>
          </a:p>
          <a:p>
            <a:pPr indent="0" marL="0">
              <a:lnSpc>
                <a:spcPct val="135000"/>
              </a:lnSpc>
              <a:buNone/>
            </a:pPr>
            <a:r>
              <a:rPr lang="en-US" sz="1150" dirty="0">
                <a:solidFill>
                  <a:srgbClr val="16221D"/>
                </a:solidFill>
                <a:latin typeface="Calibri" pitchFamily="34" charset="0"/>
                <a:ea typeface="Calibri" pitchFamily="34" charset="-122"/>
                <a:cs typeface="Calibri" pitchFamily="34" charset="-120"/>
              </a:rPr>
              <a:t>Spending Pattern, Compliance,</a:t>
            </a:r>
            <a:endParaRPr lang="en-US" sz="1150" dirty="0"/>
          </a:p>
          <a:p>
            <a:pPr indent="0" marL="0">
              <a:lnSpc>
                <a:spcPct val="135000"/>
              </a:lnSpc>
              <a:buNone/>
            </a:pPr>
            <a:r>
              <a:rPr lang="en-US" sz="1150" dirty="0">
                <a:solidFill>
                  <a:srgbClr val="16221D"/>
                </a:solidFill>
                <a:latin typeface="Calibri" pitchFamily="34" charset="0"/>
                <a:ea typeface="Calibri" pitchFamily="34" charset="-122"/>
                <a:cs typeface="Calibri" pitchFamily="34" charset="-120"/>
              </a:rPr>
              <a:t>Finance Watch, Ask AIMS — each toggled independently</a:t>
            </a:r>
            <a:endParaRPr lang="en-US" sz="1150" dirty="0"/>
          </a:p>
        </p:txBody>
      </p:sp>
      <p:sp>
        <p:nvSpPr>
          <p:cNvPr id="7" name="Shape 5"/>
          <p:cNvSpPr/>
          <p:nvPr/>
        </p:nvSpPr>
        <p:spPr>
          <a:xfrm>
            <a:off x="4322978" y="1874520"/>
            <a:ext cx="3545738" cy="3291840"/>
          </a:xfrm>
          <a:prstGeom prst="roundRect">
            <a:avLst>
              <a:gd name="adj" fmla="val 2500"/>
            </a:avLst>
          </a:prstGeom>
          <a:solidFill>
            <a:srgbClr val="FFFFFF"/>
          </a:solidFill>
          <a:ln w="9525">
            <a:solidFill>
              <a:srgbClr val="DDE3DE"/>
            </a:solidFill>
            <a:prstDash val="solid"/>
          </a:ln>
        </p:spPr>
      </p:sp>
      <p:sp>
        <p:nvSpPr>
          <p:cNvPr id="8" name="Text 6"/>
          <p:cNvSpPr txBox="1"/>
          <p:nvPr/>
        </p:nvSpPr>
        <p:spPr>
          <a:xfrm>
            <a:off x="4551578" y="2103120"/>
            <a:ext cx="3088538" cy="457200"/>
          </a:xfrm>
          <a:prstGeom prst="rect">
            <a:avLst/>
          </a:prstGeom>
          <a:noFill/>
          <a:ln/>
        </p:spPr>
        <p:txBody>
          <a:bodyPr wrap="square" lIns="0" tIns="0" rIns="0" bIns="0" rtlCol="0" anchor="ctr"/>
          <a:lstStyle/>
          <a:p>
            <a:pPr indent="0" marL="0">
              <a:buNone/>
            </a:pPr>
            <a:r>
              <a:rPr lang="en-US" sz="1400" b="1" dirty="0">
                <a:solidFill>
                  <a:srgbClr val="6D51A8"/>
                </a:solidFill>
                <a:latin typeface="Calibri" pitchFamily="34" charset="0"/>
                <a:ea typeface="Calibri" pitchFamily="34" charset="-122"/>
                <a:cs typeface="Calibri" pitchFamily="34" charset="-120"/>
              </a:rPr>
              <a:t>Manual Fallback</a:t>
            </a:r>
            <a:endParaRPr lang="en-US" sz="1400" dirty="0"/>
          </a:p>
        </p:txBody>
      </p:sp>
      <p:sp>
        <p:nvSpPr>
          <p:cNvPr id="9" name="Text 7"/>
          <p:cNvSpPr txBox="1"/>
          <p:nvPr/>
        </p:nvSpPr>
        <p:spPr>
          <a:xfrm>
            <a:off x="4551578" y="2651760"/>
            <a:ext cx="3088538" cy="2377440"/>
          </a:xfrm>
          <a:prstGeom prst="rect">
            <a:avLst/>
          </a:prstGeom>
          <a:noFill/>
          <a:ln/>
        </p:spPr>
        <p:txBody>
          <a:bodyPr wrap="square" lIns="0" tIns="0" rIns="0" bIns="0" rtlCol="0" anchor="ctr"/>
          <a:lstStyle/>
          <a:p>
            <a:pPr indent="0" marL="0">
              <a:lnSpc>
                <a:spcPct val="135000"/>
              </a:lnSpc>
              <a:buNone/>
            </a:pPr>
            <a:r>
              <a:rPr lang="en-US" sz="1150" dirty="0">
                <a:solidFill>
                  <a:srgbClr val="16221D"/>
                </a:solidFill>
                <a:latin typeface="Calibri" pitchFamily="34" charset="0"/>
                <a:ea typeface="Calibri" pitchFamily="34" charset="-122"/>
                <a:cs typeface="Calibri" pitchFamily="34" charset="-120"/>
              </a:rPr>
              <a:t>Three modes: AI-Assisted, Manual,</a:t>
            </a:r>
            <a:endParaRPr lang="en-US" sz="1150" dirty="0"/>
          </a:p>
          <a:p>
            <a:pPr indent="0" marL="0">
              <a:lnSpc>
                <a:spcPct val="135000"/>
              </a:lnSpc>
              <a:buNone/>
            </a:pPr>
            <a:r>
              <a:rPr lang="en-US" sz="1150" dirty="0">
                <a:solidFill>
                  <a:srgbClr val="16221D"/>
                </a:solidFill>
                <a:latin typeface="Calibri" pitchFamily="34" charset="0"/>
                <a:ea typeface="Calibri" pitchFamily="34" charset="-122"/>
                <a:cs typeface="Calibri" pitchFamily="34" charset="-120"/>
              </a:rPr>
              <a:t>AI-Unavailable Fallback</a:t>
            </a:r>
            <a:endParaRPr lang="en-US" sz="1150" dirty="0"/>
          </a:p>
          <a:p>
            <a:pPr indent="0" marL="0">
              <a:lnSpc>
                <a:spcPct val="135000"/>
              </a:lnSpc>
              <a:buNone/>
            </a:pPr>
            <a:r>
              <a:rPr lang="en-US" sz="1150" dirty="0">
                <a:solidFill>
                  <a:srgbClr val="16221D"/>
                </a:solidFill>
                <a:latin typeface="Calibri" pitchFamily="34" charset="0"/>
                <a:ea typeface="Calibri" pitchFamily="34" charset="-122"/>
                <a:cs typeface="Calibri" pitchFamily="34" charset="-120"/>
              </a:rPr>
              <a:t>Deterministic Finance Dashboard</a:t>
            </a:r>
            <a:endParaRPr lang="en-US" sz="1150" dirty="0"/>
          </a:p>
          <a:p>
            <a:pPr indent="0" marL="0">
              <a:lnSpc>
                <a:spcPct val="135000"/>
              </a:lnSpc>
              <a:buNone/>
            </a:pPr>
            <a:r>
              <a:rPr lang="en-US" sz="1150" dirty="0">
                <a:solidFill>
                  <a:srgbClr val="16221D"/>
                </a:solidFill>
                <a:latin typeface="Calibri" pitchFamily="34" charset="0"/>
                <a:ea typeface="Calibri" pitchFamily="34" charset="-122"/>
                <a:cs typeface="Calibri" pitchFamily="34" charset="-120"/>
              </a:rPr>
              <a:t>always remains available</a:t>
            </a:r>
            <a:endParaRPr lang="en-US" sz="1150" dirty="0"/>
          </a:p>
        </p:txBody>
      </p:sp>
      <p:sp>
        <p:nvSpPr>
          <p:cNvPr id="10" name="Shape 8"/>
          <p:cNvSpPr/>
          <p:nvPr/>
        </p:nvSpPr>
        <p:spPr>
          <a:xfrm>
            <a:off x="8143037" y="1874520"/>
            <a:ext cx="3545738" cy="3291840"/>
          </a:xfrm>
          <a:prstGeom prst="roundRect">
            <a:avLst>
              <a:gd name="adj" fmla="val 2500"/>
            </a:avLst>
          </a:prstGeom>
          <a:solidFill>
            <a:srgbClr val="FFFFFF"/>
          </a:solidFill>
          <a:ln w="9525">
            <a:solidFill>
              <a:srgbClr val="DDE3DE"/>
            </a:solidFill>
            <a:prstDash val="solid"/>
          </a:ln>
        </p:spPr>
      </p:sp>
      <p:sp>
        <p:nvSpPr>
          <p:cNvPr id="11" name="Text 9"/>
          <p:cNvSpPr txBox="1"/>
          <p:nvPr/>
        </p:nvSpPr>
        <p:spPr>
          <a:xfrm>
            <a:off x="8371637" y="2103120"/>
            <a:ext cx="3088538" cy="457200"/>
          </a:xfrm>
          <a:prstGeom prst="rect">
            <a:avLst/>
          </a:prstGeom>
          <a:noFill/>
          <a:ln/>
        </p:spPr>
        <p:txBody>
          <a:bodyPr wrap="square" lIns="0" tIns="0" rIns="0" bIns="0" rtlCol="0" anchor="ctr"/>
          <a:lstStyle/>
          <a:p>
            <a:pPr indent="0" marL="0">
              <a:buNone/>
            </a:pPr>
            <a:r>
              <a:rPr lang="en-US" sz="1400" b="1" dirty="0">
                <a:solidFill>
                  <a:srgbClr val="6D51A8"/>
                </a:solidFill>
                <a:latin typeface="Calibri" pitchFamily="34" charset="0"/>
                <a:ea typeface="Calibri" pitchFamily="34" charset="-122"/>
                <a:cs typeface="Calibri" pitchFamily="34" charset="-120"/>
              </a:rPr>
              <a:t>Evidence &amp; Authority</a:t>
            </a:r>
            <a:endParaRPr lang="en-US" sz="1400" dirty="0"/>
          </a:p>
        </p:txBody>
      </p:sp>
      <p:sp>
        <p:nvSpPr>
          <p:cNvPr id="12" name="Text 10"/>
          <p:cNvSpPr txBox="1"/>
          <p:nvPr/>
        </p:nvSpPr>
        <p:spPr>
          <a:xfrm>
            <a:off x="8371637" y="2651760"/>
            <a:ext cx="3088538" cy="2377440"/>
          </a:xfrm>
          <a:prstGeom prst="rect">
            <a:avLst/>
          </a:prstGeom>
          <a:noFill/>
          <a:ln/>
        </p:spPr>
        <p:txBody>
          <a:bodyPr wrap="square" lIns="0" tIns="0" rIns="0" bIns="0" rtlCol="0" anchor="ctr"/>
          <a:lstStyle/>
          <a:p>
            <a:pPr indent="0" marL="0">
              <a:lnSpc>
                <a:spcPct val="135000"/>
              </a:lnSpc>
              <a:buNone/>
            </a:pPr>
            <a:r>
              <a:rPr lang="en-US" sz="1150" dirty="0">
                <a:solidFill>
                  <a:srgbClr val="16221D"/>
                </a:solidFill>
                <a:latin typeface="Calibri" pitchFamily="34" charset="0"/>
                <a:ea typeface="Calibri" pitchFamily="34" charset="-122"/>
                <a:cs typeface="Calibri" pitchFamily="34" charset="-120"/>
              </a:rPr>
              <a:t>Every AI result is schema-validated</a:t>
            </a:r>
            <a:endParaRPr lang="en-US" sz="1150" dirty="0"/>
          </a:p>
          <a:p>
            <a:pPr indent="0" marL="0">
              <a:lnSpc>
                <a:spcPct val="135000"/>
              </a:lnSpc>
              <a:buNone/>
            </a:pPr>
            <a:r>
              <a:rPr lang="en-US" sz="1150" dirty="0">
                <a:solidFill>
                  <a:srgbClr val="16221D"/>
                </a:solidFill>
                <a:latin typeface="Calibri" pitchFamily="34" charset="0"/>
                <a:ea typeface="Calibri" pitchFamily="34" charset="-122"/>
                <a:cs typeface="Calibri" pitchFamily="34" charset="-120"/>
              </a:rPr>
              <a:t>Human assessment always preserved</a:t>
            </a:r>
            <a:endParaRPr lang="en-US" sz="1150" dirty="0"/>
          </a:p>
          <a:p>
            <a:pPr indent="0" marL="0">
              <a:lnSpc>
                <a:spcPct val="135000"/>
              </a:lnSpc>
              <a:buNone/>
            </a:pPr>
            <a:r>
              <a:rPr lang="en-US" sz="1150" dirty="0">
                <a:solidFill>
                  <a:srgbClr val="16221D"/>
                </a:solidFill>
                <a:latin typeface="Calibri" pitchFamily="34" charset="0"/>
                <a:ea typeface="Calibri" pitchFamily="34" charset="-122"/>
                <a:cs typeface="Calibri" pitchFamily="34" charset="-120"/>
              </a:rPr>
              <a:t>Source tagged AI / MANUAL / RULE_BASED</a:t>
            </a:r>
            <a:endParaRPr lang="en-US" sz="1150" dirty="0"/>
          </a:p>
          <a:p>
            <a:pPr indent="0" marL="0">
              <a:lnSpc>
                <a:spcPct val="135000"/>
              </a:lnSpc>
              <a:buNone/>
            </a:pPr>
            <a:r>
              <a:rPr lang="en-US" sz="1150" dirty="0">
                <a:solidFill>
                  <a:srgbClr val="16221D"/>
                </a:solidFill>
                <a:latin typeface="Calibri" pitchFamily="34" charset="0"/>
                <a:ea typeface="Calibri" pitchFamily="34" charset="-122"/>
                <a:cs typeface="Calibri" pitchFamily="34" charset="-120"/>
              </a:rPr>
              <a:t>AI never gains autonomous authority</a:t>
            </a:r>
            <a:endParaRPr lang="en-US" sz="1150" dirty="0"/>
          </a:p>
        </p:txBody>
      </p:sp>
      <p:sp>
        <p:nvSpPr>
          <p:cNvPr id="13" name="Text 11"/>
          <p:cNvSpPr txBox="1"/>
          <p:nvPr/>
        </p:nvSpPr>
        <p:spPr>
          <a:xfrm>
            <a:off x="502920" y="5349240"/>
            <a:ext cx="11185855" cy="640080"/>
          </a:xfrm>
          <a:prstGeom prst="rect">
            <a:avLst/>
          </a:prstGeom>
          <a:noFill/>
          <a:ln/>
        </p:spPr>
        <p:txBody>
          <a:bodyPr wrap="square" lIns="0" tIns="0" rIns="0" bIns="0" rtlCol="0" anchor="ctr"/>
          <a:lstStyle/>
          <a:p>
            <a:pPr indent="0" marL="0">
              <a:buNone/>
            </a:pPr>
            <a:r>
              <a:rPr lang="en-US" sz="1100" i="1" dirty="0">
                <a:solidFill>
                  <a:srgbClr val="5F6F67"/>
                </a:solidFill>
                <a:latin typeface="Calibri" pitchFamily="34" charset="0"/>
                <a:ea typeface="Calibri" pitchFamily="34" charset="-122"/>
                <a:cs typeface="Calibri" pitchFamily="34" charset="-120"/>
              </a:rPr>
              <a:t>Observed in this environment: several AI sub-agents experienced provider timeouts during rehearsal. The product is designed to fail safely — deterministic paths and human review remain available when AI does not respond.</a:t>
            </a:r>
            <a:endParaRPr lang="en-US" sz="1100" dirty="0"/>
          </a:p>
        </p:txBody>
      </p:sp>
      <p:sp>
        <p:nvSpPr>
          <p:cNvPr id="14" name="Text 12"/>
          <p:cNvSpPr txBox="1"/>
          <p:nvPr/>
        </p:nvSpPr>
        <p:spPr>
          <a:xfrm>
            <a:off x="502920" y="6537960"/>
            <a:ext cx="7315200" cy="256032"/>
          </a:xfrm>
          <a:prstGeom prst="rect">
            <a:avLst/>
          </a:prstGeom>
          <a:noFill/>
          <a:ln/>
        </p:spPr>
        <p:txBody>
          <a:bodyPr wrap="square" lIns="0" tIns="0" rIns="0" bIns="0" rtlCol="0" anchor="ctr"/>
          <a:lstStyle/>
          <a:p>
            <a:pPr indent="0" marL="0">
              <a:buNone/>
            </a:pPr>
            <a:r>
              <a:rPr lang="en-US" sz="900" dirty="0">
                <a:solidFill>
                  <a:srgbClr val="5F6F67"/>
                </a:solidFill>
                <a:latin typeface="Calibri" pitchFamily="34" charset="0"/>
                <a:ea typeface="Calibri" pitchFamily="34" charset="-122"/>
                <a:cs typeface="Calibri" pitchFamily="34" charset="-120"/>
              </a:rPr>
              <a:t>AIMS · AI-Powered Payment &amp; Finance Control</a:t>
            </a:r>
            <a:endParaRPr lang="en-US" sz="900" dirty="0"/>
          </a:p>
        </p:txBody>
      </p:sp>
      <p:sp>
        <p:nvSpPr>
          <p:cNvPr id="15" name="Text 13"/>
          <p:cNvSpPr txBox="1"/>
          <p:nvPr/>
        </p:nvSpPr>
        <p:spPr>
          <a:xfrm>
            <a:off x="11140135" y="6537960"/>
            <a:ext cx="548640" cy="256032"/>
          </a:xfrm>
          <a:prstGeom prst="rect">
            <a:avLst/>
          </a:prstGeom>
          <a:noFill/>
          <a:ln/>
        </p:spPr>
        <p:txBody>
          <a:bodyPr wrap="square" lIns="0" tIns="0" rIns="0" bIns="0" rtlCol="0" anchor="ctr"/>
          <a:lstStyle/>
          <a:p>
            <a:pPr algn="r" indent="0" marL="0">
              <a:buNone/>
            </a:pPr>
            <a:r>
              <a:rPr lang="en-US" sz="900" dirty="0">
                <a:solidFill>
                  <a:srgbClr val="5F6F67"/>
                </a:solidFill>
                <a:latin typeface="Calibri" pitchFamily="34" charset="0"/>
                <a:ea typeface="Calibri" pitchFamily="34" charset="-122"/>
                <a:cs typeface="Calibri" pitchFamily="34" charset="-120"/>
              </a:rPr>
              <a:t>A2</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6F3"/>
        </a:solidFill>
      </p:bgPr>
    </p:bg>
    <p:spTree>
      <p:nvGrpSpPr>
        <p:cNvPr id="1" name=""/>
        <p:cNvGrpSpPr/>
        <p:nvPr/>
      </p:nvGrpSpPr>
      <p:grpSpPr>
        <a:xfrm>
          <a:off x="0" y="0"/>
          <a:ext cx="0" cy="0"/>
          <a:chOff x="0" y="0"/>
          <a:chExt cx="0" cy="0"/>
        </a:xfrm>
      </p:grpSpPr>
      <p:sp>
        <p:nvSpPr>
          <p:cNvPr id="2" name="Text 0"/>
          <p:cNvSpPr txBox="1"/>
          <p:nvPr/>
        </p:nvSpPr>
        <p:spPr>
          <a:xfrm>
            <a:off x="502920" y="384048"/>
            <a:ext cx="11185855" cy="274320"/>
          </a:xfrm>
          <a:prstGeom prst="rect">
            <a:avLst/>
          </a:prstGeom>
          <a:noFill/>
          <a:ln/>
        </p:spPr>
        <p:txBody>
          <a:bodyPr wrap="square" lIns="0" tIns="0" rIns="0" bIns="0" rtlCol="0" anchor="ctr"/>
          <a:lstStyle/>
          <a:p>
            <a:pPr indent="0" marL="0">
              <a:buNone/>
            </a:pPr>
            <a:r>
              <a:rPr lang="en-US" sz="1100" b="1" spc="200" kern="0" dirty="0">
                <a:solidFill>
                  <a:srgbClr val="5F6F67"/>
                </a:solidFill>
                <a:latin typeface="Calibri" pitchFamily="34" charset="0"/>
                <a:ea typeface="Calibri" pitchFamily="34" charset="-122"/>
                <a:cs typeface="Calibri" pitchFamily="34" charset="-120"/>
              </a:rPr>
              <a:t>APPENDIX A3 · ENTERPRISE CONTROLS</a:t>
            </a:r>
            <a:endParaRPr lang="en-US" sz="1100" dirty="0"/>
          </a:p>
        </p:txBody>
      </p:sp>
      <p:sp>
        <p:nvSpPr>
          <p:cNvPr id="3" name="Text 1"/>
          <p:cNvSpPr txBox="1"/>
          <p:nvPr/>
        </p:nvSpPr>
        <p:spPr>
          <a:xfrm>
            <a:off x="502920" y="658368"/>
            <a:ext cx="11185855" cy="822960"/>
          </a:xfrm>
          <a:prstGeom prst="rect">
            <a:avLst/>
          </a:prstGeom>
          <a:noFill/>
          <a:ln/>
        </p:spPr>
        <p:txBody>
          <a:bodyPr wrap="square" lIns="0" tIns="0" rIns="0" bIns="0" rtlCol="0" anchor="ctr"/>
          <a:lstStyle/>
          <a:p>
            <a:pPr algn="l" indent="0" marL="0">
              <a:lnSpc>
                <a:spcPct val="102000"/>
              </a:lnSpc>
              <a:buNone/>
            </a:pPr>
            <a:r>
              <a:rPr lang="en-US" sz="2700" b="1" dirty="0">
                <a:solidFill>
                  <a:srgbClr val="16221D"/>
                </a:solidFill>
                <a:latin typeface="Cambria" pitchFamily="34" charset="0"/>
                <a:ea typeface="Cambria" pitchFamily="34" charset="-122"/>
                <a:cs typeface="Cambria" pitchFamily="34" charset="-120"/>
              </a:rPr>
              <a:t>Controls that make AIMS auditable.</a:t>
            </a:r>
            <a:endParaRPr lang="en-US" sz="2700" dirty="0"/>
          </a:p>
        </p:txBody>
      </p:sp>
      <p:sp>
        <p:nvSpPr>
          <p:cNvPr id="4" name="Shape 2"/>
          <p:cNvSpPr/>
          <p:nvPr/>
        </p:nvSpPr>
        <p:spPr>
          <a:xfrm>
            <a:off x="502920" y="1874520"/>
            <a:ext cx="5410048" cy="1417320"/>
          </a:xfrm>
          <a:prstGeom prst="roundRect">
            <a:avLst>
              <a:gd name="adj" fmla="val 5806"/>
            </a:avLst>
          </a:prstGeom>
          <a:solidFill>
            <a:srgbClr val="FFFFFF"/>
          </a:solidFill>
          <a:ln w="9525">
            <a:solidFill>
              <a:srgbClr val="DDE3DE"/>
            </a:solidFill>
            <a:prstDash val="solid"/>
          </a:ln>
        </p:spPr>
      </p:sp>
      <p:sp>
        <p:nvSpPr>
          <p:cNvPr id="5" name="Text 3"/>
          <p:cNvSpPr txBox="1"/>
          <p:nvPr/>
        </p:nvSpPr>
        <p:spPr>
          <a:xfrm>
            <a:off x="731520" y="2057400"/>
            <a:ext cx="4952848" cy="365760"/>
          </a:xfrm>
          <a:prstGeom prst="rect">
            <a:avLst/>
          </a:prstGeom>
          <a:noFill/>
          <a:ln/>
        </p:spPr>
        <p:txBody>
          <a:bodyPr wrap="square" lIns="0" tIns="0" rIns="0" bIns="0" rtlCol="0" anchor="ctr"/>
          <a:lstStyle/>
          <a:p>
            <a:pPr indent="0" marL="0">
              <a:buNone/>
            </a:pPr>
            <a:r>
              <a:rPr lang="en-US" sz="1350" b="1" dirty="0">
                <a:solidFill>
                  <a:srgbClr val="173F2E"/>
                </a:solidFill>
                <a:latin typeface="Calibri" pitchFamily="34" charset="0"/>
                <a:ea typeface="Calibri" pitchFamily="34" charset="-122"/>
                <a:cs typeface="Calibri" pitchFamily="34" charset="-120"/>
              </a:rPr>
              <a:t>Role / Permission Matrix</a:t>
            </a:r>
            <a:endParaRPr lang="en-US" sz="1350" dirty="0"/>
          </a:p>
        </p:txBody>
      </p:sp>
      <p:sp>
        <p:nvSpPr>
          <p:cNvPr id="6" name="Text 4"/>
          <p:cNvSpPr txBox="1"/>
          <p:nvPr/>
        </p:nvSpPr>
        <p:spPr>
          <a:xfrm>
            <a:off x="731520" y="2441448"/>
            <a:ext cx="4952848" cy="685800"/>
          </a:xfrm>
          <a:prstGeom prst="rect">
            <a:avLst/>
          </a:prstGeom>
          <a:noFill/>
          <a:ln/>
        </p:spPr>
        <p:txBody>
          <a:bodyPr wrap="square" lIns="0" tIns="0" rIns="0" bIns="0" rtlCol="0" anchor="ctr"/>
          <a:lstStyle/>
          <a:p>
            <a:pPr indent="0" marL="0">
              <a:lnSpc>
                <a:spcPct val="120000"/>
              </a:lnSpc>
              <a:buNone/>
            </a:pPr>
            <a:r>
              <a:rPr lang="en-US" sz="1150" dirty="0">
                <a:solidFill>
                  <a:srgbClr val="16221D"/>
                </a:solidFill>
                <a:latin typeface="Calibri" pitchFamily="34" charset="0"/>
                <a:ea typeface="Calibri" pitchFamily="34" charset="-122"/>
                <a:cs typeface="Calibri" pitchFamily="34" charset="-120"/>
              </a:rPr>
              <a:t>Database-backed RBAC across Dashboard, Request, Validation, Finance, Approval, Payment, Reporting</a:t>
            </a:r>
            <a:endParaRPr lang="en-US" sz="1150" dirty="0"/>
          </a:p>
        </p:txBody>
      </p:sp>
      <p:sp>
        <p:nvSpPr>
          <p:cNvPr id="7" name="Shape 5"/>
          <p:cNvSpPr/>
          <p:nvPr/>
        </p:nvSpPr>
        <p:spPr>
          <a:xfrm>
            <a:off x="6278728" y="1874520"/>
            <a:ext cx="5410048" cy="1417320"/>
          </a:xfrm>
          <a:prstGeom prst="roundRect">
            <a:avLst>
              <a:gd name="adj" fmla="val 5806"/>
            </a:avLst>
          </a:prstGeom>
          <a:solidFill>
            <a:srgbClr val="FFFFFF"/>
          </a:solidFill>
          <a:ln w="9525">
            <a:solidFill>
              <a:srgbClr val="DDE3DE"/>
            </a:solidFill>
            <a:prstDash val="solid"/>
          </a:ln>
        </p:spPr>
      </p:sp>
      <p:sp>
        <p:nvSpPr>
          <p:cNvPr id="8" name="Text 6"/>
          <p:cNvSpPr txBox="1"/>
          <p:nvPr/>
        </p:nvSpPr>
        <p:spPr>
          <a:xfrm>
            <a:off x="6507328" y="2057400"/>
            <a:ext cx="4952848" cy="365760"/>
          </a:xfrm>
          <a:prstGeom prst="rect">
            <a:avLst/>
          </a:prstGeom>
          <a:noFill/>
          <a:ln/>
        </p:spPr>
        <p:txBody>
          <a:bodyPr wrap="square" lIns="0" tIns="0" rIns="0" bIns="0" rtlCol="0" anchor="ctr"/>
          <a:lstStyle/>
          <a:p>
            <a:pPr indent="0" marL="0">
              <a:buNone/>
            </a:pPr>
            <a:r>
              <a:rPr lang="en-US" sz="1350" b="1" dirty="0">
                <a:solidFill>
                  <a:srgbClr val="173F2E"/>
                </a:solidFill>
                <a:latin typeface="Calibri" pitchFamily="34" charset="0"/>
                <a:ea typeface="Calibri" pitchFamily="34" charset="-122"/>
                <a:cs typeface="Calibri" pitchFamily="34" charset="-120"/>
              </a:rPr>
              <a:t>Approval Matrix &amp; Delegation</a:t>
            </a:r>
            <a:endParaRPr lang="en-US" sz="1350" dirty="0"/>
          </a:p>
        </p:txBody>
      </p:sp>
      <p:sp>
        <p:nvSpPr>
          <p:cNvPr id="9" name="Text 7"/>
          <p:cNvSpPr txBox="1"/>
          <p:nvPr/>
        </p:nvSpPr>
        <p:spPr>
          <a:xfrm>
            <a:off x="6507328" y="2441448"/>
            <a:ext cx="4952848" cy="685800"/>
          </a:xfrm>
          <a:prstGeom prst="rect">
            <a:avLst/>
          </a:prstGeom>
          <a:noFill/>
          <a:ln/>
        </p:spPr>
        <p:txBody>
          <a:bodyPr wrap="square" lIns="0" tIns="0" rIns="0" bIns="0" rtlCol="0" anchor="ctr"/>
          <a:lstStyle/>
          <a:p>
            <a:pPr indent="0" marL="0">
              <a:lnSpc>
                <a:spcPct val="120000"/>
              </a:lnSpc>
              <a:buNone/>
            </a:pPr>
            <a:r>
              <a:rPr lang="en-US" sz="1150" dirty="0">
                <a:solidFill>
                  <a:srgbClr val="16221D"/>
                </a:solidFill>
                <a:latin typeface="Calibri" pitchFamily="34" charset="0"/>
                <a:ea typeface="Calibri" pitchFamily="34" charset="-122"/>
                <a:cs typeface="Calibri" pitchFamily="34" charset="-120"/>
              </a:rPr>
              <a:t>Configurable approval routing with delegation support</a:t>
            </a:r>
            <a:endParaRPr lang="en-US" sz="1150" dirty="0"/>
          </a:p>
        </p:txBody>
      </p:sp>
      <p:sp>
        <p:nvSpPr>
          <p:cNvPr id="10" name="Shape 8"/>
          <p:cNvSpPr/>
          <p:nvPr/>
        </p:nvSpPr>
        <p:spPr>
          <a:xfrm>
            <a:off x="502920" y="3493008"/>
            <a:ext cx="5410048" cy="1417320"/>
          </a:xfrm>
          <a:prstGeom prst="roundRect">
            <a:avLst>
              <a:gd name="adj" fmla="val 5806"/>
            </a:avLst>
          </a:prstGeom>
          <a:solidFill>
            <a:srgbClr val="FFFFFF"/>
          </a:solidFill>
          <a:ln w="9525">
            <a:solidFill>
              <a:srgbClr val="DDE3DE"/>
            </a:solidFill>
            <a:prstDash val="solid"/>
          </a:ln>
        </p:spPr>
      </p:sp>
      <p:sp>
        <p:nvSpPr>
          <p:cNvPr id="11" name="Text 9"/>
          <p:cNvSpPr txBox="1"/>
          <p:nvPr/>
        </p:nvSpPr>
        <p:spPr>
          <a:xfrm>
            <a:off x="731520" y="3675888"/>
            <a:ext cx="4952848" cy="365760"/>
          </a:xfrm>
          <a:prstGeom prst="rect">
            <a:avLst/>
          </a:prstGeom>
          <a:noFill/>
          <a:ln/>
        </p:spPr>
        <p:txBody>
          <a:bodyPr wrap="square" lIns="0" tIns="0" rIns="0" bIns="0" rtlCol="0" anchor="ctr"/>
          <a:lstStyle/>
          <a:p>
            <a:pPr indent="0" marL="0">
              <a:buNone/>
            </a:pPr>
            <a:r>
              <a:rPr lang="en-US" sz="1350" b="1" dirty="0">
                <a:solidFill>
                  <a:srgbClr val="173F2E"/>
                </a:solidFill>
                <a:latin typeface="Calibri" pitchFamily="34" charset="0"/>
                <a:ea typeface="Calibri" pitchFamily="34" charset="-122"/>
                <a:cs typeface="Calibri" pitchFamily="34" charset="-120"/>
              </a:rPr>
              <a:t>Final Finance Control</a:t>
            </a:r>
            <a:endParaRPr lang="en-US" sz="1350" dirty="0"/>
          </a:p>
        </p:txBody>
      </p:sp>
      <p:sp>
        <p:nvSpPr>
          <p:cNvPr id="12" name="Text 10"/>
          <p:cNvSpPr txBox="1"/>
          <p:nvPr/>
        </p:nvSpPr>
        <p:spPr>
          <a:xfrm>
            <a:off x="731520" y="4059936"/>
            <a:ext cx="4952848" cy="685800"/>
          </a:xfrm>
          <a:prstGeom prst="rect">
            <a:avLst/>
          </a:prstGeom>
          <a:noFill/>
          <a:ln/>
        </p:spPr>
        <p:txBody>
          <a:bodyPr wrap="square" lIns="0" tIns="0" rIns="0" bIns="0" rtlCol="0" anchor="ctr"/>
          <a:lstStyle/>
          <a:p>
            <a:pPr indent="0" marL="0">
              <a:lnSpc>
                <a:spcPct val="120000"/>
              </a:lnSpc>
              <a:buNone/>
            </a:pPr>
            <a:r>
              <a:rPr lang="en-US" sz="1150" dirty="0">
                <a:solidFill>
                  <a:srgbClr val="16221D"/>
                </a:solidFill>
                <a:latin typeface="Calibri" pitchFamily="34" charset="0"/>
                <a:ea typeface="Calibri" pitchFamily="34" charset="-122"/>
                <a:cs typeface="Calibri" pitchFamily="34" charset="-120"/>
              </a:rPr>
              <a:t>A separate deterministic gate after Approval — checks authority, evidence, amount, duplicates</a:t>
            </a:r>
            <a:endParaRPr lang="en-US" sz="1150" dirty="0"/>
          </a:p>
        </p:txBody>
      </p:sp>
      <p:sp>
        <p:nvSpPr>
          <p:cNvPr id="13" name="Shape 11"/>
          <p:cNvSpPr/>
          <p:nvPr/>
        </p:nvSpPr>
        <p:spPr>
          <a:xfrm>
            <a:off x="6278728" y="3493008"/>
            <a:ext cx="5410048" cy="1417320"/>
          </a:xfrm>
          <a:prstGeom prst="roundRect">
            <a:avLst>
              <a:gd name="adj" fmla="val 5806"/>
            </a:avLst>
          </a:prstGeom>
          <a:solidFill>
            <a:srgbClr val="FFFFFF"/>
          </a:solidFill>
          <a:ln w="9525">
            <a:solidFill>
              <a:srgbClr val="DDE3DE"/>
            </a:solidFill>
            <a:prstDash val="solid"/>
          </a:ln>
        </p:spPr>
      </p:sp>
      <p:sp>
        <p:nvSpPr>
          <p:cNvPr id="14" name="Text 12"/>
          <p:cNvSpPr txBox="1"/>
          <p:nvPr/>
        </p:nvSpPr>
        <p:spPr>
          <a:xfrm>
            <a:off x="6507328" y="3675888"/>
            <a:ext cx="4952848" cy="365760"/>
          </a:xfrm>
          <a:prstGeom prst="rect">
            <a:avLst/>
          </a:prstGeom>
          <a:noFill/>
          <a:ln/>
        </p:spPr>
        <p:txBody>
          <a:bodyPr wrap="square" lIns="0" tIns="0" rIns="0" bIns="0" rtlCol="0" anchor="ctr"/>
          <a:lstStyle/>
          <a:p>
            <a:pPr indent="0" marL="0">
              <a:buNone/>
            </a:pPr>
            <a:r>
              <a:rPr lang="en-US" sz="1350" b="1" dirty="0">
                <a:solidFill>
                  <a:srgbClr val="173F2E"/>
                </a:solidFill>
                <a:latin typeface="Calibri" pitchFamily="34" charset="0"/>
                <a:ea typeface="Calibri" pitchFamily="34" charset="-122"/>
                <a:cs typeface="Calibri" pitchFamily="34" charset="-120"/>
              </a:rPr>
              <a:t>Immutable Audit Trail</a:t>
            </a:r>
            <a:endParaRPr lang="en-US" sz="1350" dirty="0"/>
          </a:p>
        </p:txBody>
      </p:sp>
      <p:sp>
        <p:nvSpPr>
          <p:cNvPr id="15" name="Text 13"/>
          <p:cNvSpPr txBox="1"/>
          <p:nvPr/>
        </p:nvSpPr>
        <p:spPr>
          <a:xfrm>
            <a:off x="6507328" y="4059936"/>
            <a:ext cx="4952848" cy="685800"/>
          </a:xfrm>
          <a:prstGeom prst="rect">
            <a:avLst/>
          </a:prstGeom>
          <a:noFill/>
          <a:ln/>
        </p:spPr>
        <p:txBody>
          <a:bodyPr wrap="square" lIns="0" tIns="0" rIns="0" bIns="0" rtlCol="0" anchor="ctr"/>
          <a:lstStyle/>
          <a:p>
            <a:pPr indent="0" marL="0">
              <a:lnSpc>
                <a:spcPct val="120000"/>
              </a:lnSpc>
              <a:buNone/>
            </a:pPr>
            <a:r>
              <a:rPr lang="en-US" sz="1150" dirty="0">
                <a:solidFill>
                  <a:srgbClr val="16221D"/>
                </a:solidFill>
                <a:latin typeface="Calibri" pitchFamily="34" charset="0"/>
                <a:ea typeface="Calibri" pitchFamily="34" charset="-122"/>
                <a:cs typeface="Calibri" pitchFamily="34" charset="-120"/>
              </a:rPr>
              <a:t>Append-only history with lifecycle triggers</a:t>
            </a:r>
            <a:endParaRPr lang="en-US" sz="1150" dirty="0"/>
          </a:p>
        </p:txBody>
      </p:sp>
      <p:sp>
        <p:nvSpPr>
          <p:cNvPr id="16" name="Shape 14"/>
          <p:cNvSpPr/>
          <p:nvPr/>
        </p:nvSpPr>
        <p:spPr>
          <a:xfrm>
            <a:off x="502920" y="5111496"/>
            <a:ext cx="5410048" cy="1417320"/>
          </a:xfrm>
          <a:prstGeom prst="roundRect">
            <a:avLst>
              <a:gd name="adj" fmla="val 5806"/>
            </a:avLst>
          </a:prstGeom>
          <a:solidFill>
            <a:srgbClr val="FFFFFF"/>
          </a:solidFill>
          <a:ln w="9525">
            <a:solidFill>
              <a:srgbClr val="DDE3DE"/>
            </a:solidFill>
            <a:prstDash val="solid"/>
          </a:ln>
        </p:spPr>
      </p:sp>
      <p:sp>
        <p:nvSpPr>
          <p:cNvPr id="17" name="Text 15"/>
          <p:cNvSpPr txBox="1"/>
          <p:nvPr/>
        </p:nvSpPr>
        <p:spPr>
          <a:xfrm>
            <a:off x="731520" y="5294376"/>
            <a:ext cx="4952848" cy="365760"/>
          </a:xfrm>
          <a:prstGeom prst="rect">
            <a:avLst/>
          </a:prstGeom>
          <a:noFill/>
          <a:ln/>
        </p:spPr>
        <p:txBody>
          <a:bodyPr wrap="square" lIns="0" tIns="0" rIns="0" bIns="0" rtlCol="0" anchor="ctr"/>
          <a:lstStyle/>
          <a:p>
            <a:pPr indent="0" marL="0">
              <a:buNone/>
            </a:pPr>
            <a:r>
              <a:rPr lang="en-US" sz="1350" b="1" dirty="0">
                <a:solidFill>
                  <a:srgbClr val="173F2E"/>
                </a:solidFill>
                <a:latin typeface="Calibri" pitchFamily="34" charset="0"/>
                <a:ea typeface="Calibri" pitchFamily="34" charset="-122"/>
                <a:cs typeface="Calibri" pitchFamily="34" charset="-120"/>
              </a:rPr>
              <a:t>Payment Idempotency</a:t>
            </a:r>
            <a:endParaRPr lang="en-US" sz="1350" dirty="0"/>
          </a:p>
        </p:txBody>
      </p:sp>
      <p:sp>
        <p:nvSpPr>
          <p:cNvPr id="18" name="Text 16"/>
          <p:cNvSpPr txBox="1"/>
          <p:nvPr/>
        </p:nvSpPr>
        <p:spPr>
          <a:xfrm>
            <a:off x="731520" y="5678424"/>
            <a:ext cx="4952848" cy="685800"/>
          </a:xfrm>
          <a:prstGeom prst="rect">
            <a:avLst/>
          </a:prstGeom>
          <a:noFill/>
          <a:ln/>
        </p:spPr>
        <p:txBody>
          <a:bodyPr wrap="square" lIns="0" tIns="0" rIns="0" bIns="0" rtlCol="0" anchor="ctr"/>
          <a:lstStyle/>
          <a:p>
            <a:pPr indent="0" marL="0">
              <a:lnSpc>
                <a:spcPct val="120000"/>
              </a:lnSpc>
              <a:buNone/>
            </a:pPr>
            <a:r>
              <a:rPr lang="en-US" sz="1150" dirty="0">
                <a:solidFill>
                  <a:srgbClr val="16221D"/>
                </a:solidFill>
                <a:latin typeface="Calibri" pitchFamily="34" charset="0"/>
                <a:ea typeface="Calibri" pitchFamily="34" charset="-122"/>
                <a:cs typeface="Calibri" pitchFamily="34" charset="-120"/>
              </a:rPr>
              <a:t>Duplicate-payment detection blocks silent re-execution</a:t>
            </a:r>
            <a:endParaRPr lang="en-US" sz="1150" dirty="0"/>
          </a:p>
        </p:txBody>
      </p:sp>
      <p:sp>
        <p:nvSpPr>
          <p:cNvPr id="19" name="Shape 17"/>
          <p:cNvSpPr/>
          <p:nvPr/>
        </p:nvSpPr>
        <p:spPr>
          <a:xfrm>
            <a:off x="6278728" y="5111496"/>
            <a:ext cx="5410048" cy="1417320"/>
          </a:xfrm>
          <a:prstGeom prst="roundRect">
            <a:avLst>
              <a:gd name="adj" fmla="val 5806"/>
            </a:avLst>
          </a:prstGeom>
          <a:solidFill>
            <a:srgbClr val="FFFFFF"/>
          </a:solidFill>
          <a:ln w="9525">
            <a:solidFill>
              <a:srgbClr val="DDE3DE"/>
            </a:solidFill>
            <a:prstDash val="solid"/>
          </a:ln>
        </p:spPr>
      </p:sp>
      <p:sp>
        <p:nvSpPr>
          <p:cNvPr id="20" name="Text 18"/>
          <p:cNvSpPr txBox="1"/>
          <p:nvPr/>
        </p:nvSpPr>
        <p:spPr>
          <a:xfrm>
            <a:off x="6507328" y="5294376"/>
            <a:ext cx="4952848" cy="365760"/>
          </a:xfrm>
          <a:prstGeom prst="rect">
            <a:avLst/>
          </a:prstGeom>
          <a:noFill/>
          <a:ln/>
        </p:spPr>
        <p:txBody>
          <a:bodyPr wrap="square" lIns="0" tIns="0" rIns="0" bIns="0" rtlCol="0" anchor="ctr"/>
          <a:lstStyle/>
          <a:p>
            <a:pPr indent="0" marL="0">
              <a:buNone/>
            </a:pPr>
            <a:r>
              <a:rPr lang="en-US" sz="1350" b="1" dirty="0">
                <a:solidFill>
                  <a:srgbClr val="173F2E"/>
                </a:solidFill>
                <a:latin typeface="Calibri" pitchFamily="34" charset="0"/>
                <a:ea typeface="Calibri" pitchFamily="34" charset="-122"/>
                <a:cs typeface="Calibri" pitchFamily="34" charset="-120"/>
              </a:rPr>
              <a:t>Database Trust Boundaries</a:t>
            </a:r>
            <a:endParaRPr lang="en-US" sz="1350" dirty="0"/>
          </a:p>
        </p:txBody>
      </p:sp>
      <p:sp>
        <p:nvSpPr>
          <p:cNvPr id="21" name="Text 19"/>
          <p:cNvSpPr txBox="1"/>
          <p:nvPr/>
        </p:nvSpPr>
        <p:spPr>
          <a:xfrm>
            <a:off x="6507328" y="5678424"/>
            <a:ext cx="4952848" cy="685800"/>
          </a:xfrm>
          <a:prstGeom prst="rect">
            <a:avLst/>
          </a:prstGeom>
          <a:noFill/>
          <a:ln/>
        </p:spPr>
        <p:txBody>
          <a:bodyPr wrap="square" lIns="0" tIns="0" rIns="0" bIns="0" rtlCol="0" anchor="ctr"/>
          <a:lstStyle/>
          <a:p>
            <a:pPr indent="0" marL="0">
              <a:lnSpc>
                <a:spcPct val="120000"/>
              </a:lnSpc>
              <a:buNone/>
            </a:pPr>
            <a:r>
              <a:rPr lang="en-US" sz="1150" dirty="0">
                <a:solidFill>
                  <a:srgbClr val="16221D"/>
                </a:solidFill>
                <a:latin typeface="Calibri" pitchFamily="34" charset="0"/>
                <a:ea typeface="Calibri" pitchFamily="34" charset="-122"/>
                <a:cs typeface="Calibri" pitchFamily="34" charset="-120"/>
              </a:rPr>
              <a:t>Authorization is never trusted from the frontend alone</a:t>
            </a:r>
            <a:endParaRPr lang="en-US" sz="1150" dirty="0"/>
          </a:p>
        </p:txBody>
      </p:sp>
      <p:sp>
        <p:nvSpPr>
          <p:cNvPr id="22" name="Text 20"/>
          <p:cNvSpPr txBox="1"/>
          <p:nvPr/>
        </p:nvSpPr>
        <p:spPr>
          <a:xfrm>
            <a:off x="502920" y="6537960"/>
            <a:ext cx="7315200" cy="256032"/>
          </a:xfrm>
          <a:prstGeom prst="rect">
            <a:avLst/>
          </a:prstGeom>
          <a:noFill/>
          <a:ln/>
        </p:spPr>
        <p:txBody>
          <a:bodyPr wrap="square" lIns="0" tIns="0" rIns="0" bIns="0" rtlCol="0" anchor="ctr"/>
          <a:lstStyle/>
          <a:p>
            <a:pPr indent="0" marL="0">
              <a:buNone/>
            </a:pPr>
            <a:r>
              <a:rPr lang="en-US" sz="900" dirty="0">
                <a:solidFill>
                  <a:srgbClr val="5F6F67"/>
                </a:solidFill>
                <a:latin typeface="Calibri" pitchFamily="34" charset="0"/>
                <a:ea typeface="Calibri" pitchFamily="34" charset="-122"/>
                <a:cs typeface="Calibri" pitchFamily="34" charset="-120"/>
              </a:rPr>
              <a:t>AIMS · AI-Powered Payment &amp; Finance Control</a:t>
            </a:r>
            <a:endParaRPr lang="en-US" sz="900" dirty="0"/>
          </a:p>
        </p:txBody>
      </p:sp>
      <p:sp>
        <p:nvSpPr>
          <p:cNvPr id="23" name="Text 21"/>
          <p:cNvSpPr txBox="1"/>
          <p:nvPr/>
        </p:nvSpPr>
        <p:spPr>
          <a:xfrm>
            <a:off x="11140135" y="6537960"/>
            <a:ext cx="548640" cy="256032"/>
          </a:xfrm>
          <a:prstGeom prst="rect">
            <a:avLst/>
          </a:prstGeom>
          <a:noFill/>
          <a:ln/>
        </p:spPr>
        <p:txBody>
          <a:bodyPr wrap="square" lIns="0" tIns="0" rIns="0" bIns="0" rtlCol="0" anchor="ctr"/>
          <a:lstStyle/>
          <a:p>
            <a:pPr algn="r" indent="0" marL="0">
              <a:buNone/>
            </a:pPr>
            <a:r>
              <a:rPr lang="en-US" sz="900" dirty="0">
                <a:solidFill>
                  <a:srgbClr val="5F6F67"/>
                </a:solidFill>
                <a:latin typeface="Calibri" pitchFamily="34" charset="0"/>
                <a:ea typeface="Calibri" pitchFamily="34" charset="-122"/>
                <a:cs typeface="Calibri" pitchFamily="34" charset="-120"/>
              </a:rPr>
              <a:t>A3</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AIMS — AImazing Intelligent Management System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AIMS — AI-Powered Payment &amp; Finance Control</dc:title>
  <dc:subject>AIMS Competition Deck</dc:subject>
  <dc:creator>AIMS</dc:creator>
  <cp:lastModifiedBy>AIMS</cp:lastModifiedBy>
  <cp:revision>1</cp:revision>
  <dcterms:created xsi:type="dcterms:W3CDTF">2026-09-15T13:35:24Z</dcterms:created>
  <dcterms:modified xsi:type="dcterms:W3CDTF">2026-09-15T13:35:24Z</dcterms:modified>
</cp:coreProperties>
</file>